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2"/>
    <p:sldId id="262" r:id="rId3"/>
    <p:sldId id="263" r:id="rId4"/>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930" y="3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8D38343C-9105-406C-AF4A-177ACFB029E8}"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noRot="1" noChangeAspect="1"/>
          </p:cNvSpPr>
          <p:nvPr>
            <p:ph type="sldImg"/>
          </p:nvPr>
        </p:nvSpPr>
        <p:spPr>
          <a:xfrm>
            <a:off x="685800" y="1143000"/>
            <a:ext cx="5486400" cy="308610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231"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F8AB95C-51E9-45CE-9904-88D6B1F17274}"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noRot="1" noChangeAspect="1"/>
          </p:cNvSpPr>
          <p:nvPr>
            <p:ph type="sldImg"/>
          </p:nvPr>
        </p:nvSpPr>
        <p:spPr>
          <a:xfrm>
            <a:off x="685800" y="1143000"/>
            <a:ext cx="5486400" cy="308610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246"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758A8C2-9BD3-4203-BDED-6EC3A9C47E2E}"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noRot="1" noChangeAspect="1"/>
          </p:cNvSpPr>
          <p:nvPr>
            <p:ph type="sldImg"/>
          </p:nvPr>
        </p:nvSpPr>
        <p:spPr>
          <a:xfrm>
            <a:off x="685800" y="1143000"/>
            <a:ext cx="5486400" cy="308610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249"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D76C95C-F792-484F-B481-0EEC5BAE1173}"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fontScale="95303"/>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0" descr="preencoded.png"/>
          <p:cNvPicPr/>
          <p:nvPr/>
        </p:nvPicPr>
        <p:blipFill>
          <a:blip r:embed="rId3"/>
          <a:stretch/>
        </p:blipFill>
        <p:spPr>
          <a:xfrm>
            <a:off x="0" y="0"/>
            <a:ext cx="9143640" cy="8022240"/>
          </a:xfrm>
          <a:prstGeom prst="rect">
            <a:avLst/>
          </a:prstGeom>
          <a:ln w="0">
            <a:noFill/>
          </a:ln>
        </p:spPr>
      </p:pic>
      <p:sp>
        <p:nvSpPr>
          <p:cNvPr id="15" name="Shape 0"/>
          <p:cNvSpPr/>
          <p:nvPr/>
        </p:nvSpPr>
        <p:spPr>
          <a:xfrm>
            <a:off x="0" y="0"/>
            <a:ext cx="9144000" cy="7934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 name="Text 1"/>
          <p:cNvSpPr/>
          <p:nvPr/>
        </p:nvSpPr>
        <p:spPr>
          <a:xfrm>
            <a:off x="2235960" y="721303"/>
            <a:ext cx="1104480" cy="2944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51120" anchor="t">
            <a:spAutoFit/>
          </a:bodyPr>
          <a:lstStyle/>
          <a:p>
            <a:pPr defTabSz="914400">
              <a:lnSpc>
                <a:spcPct val="100000"/>
              </a:lnSpc>
              <a:tabLst>
                <a:tab pos="0" algn="l"/>
              </a:tabLst>
            </a:pPr>
            <a:r>
              <a:rPr lang="en-US" sz="1600" b="1" strike="noStrike" spc="-1" dirty="0">
                <a:solidFill>
                  <a:srgbClr val="003366"/>
                </a:solidFill>
                <a:latin typeface="Times New Roman"/>
                <a:ea typeface="Times New Roman"/>
              </a:rPr>
              <a:t>ABSTRACT</a:t>
            </a:r>
            <a:endParaRPr lang="en-US" sz="1600" b="0" strike="noStrike" spc="-1" dirty="0">
              <a:solidFill>
                <a:srgbClr val="000000"/>
              </a:solidFill>
              <a:latin typeface="Arial"/>
            </a:endParaRPr>
          </a:p>
        </p:txBody>
      </p:sp>
      <p:sp>
        <p:nvSpPr>
          <p:cNvPr id="17" name="Text 2"/>
          <p:cNvSpPr/>
          <p:nvPr/>
        </p:nvSpPr>
        <p:spPr>
          <a:xfrm>
            <a:off x="2235960" y="1310400"/>
            <a:ext cx="4671720" cy="169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lang="en-US" sz="1050" b="0" strike="noStrike" spc="-1" dirty="0">
                <a:solidFill>
                  <a:srgbClr val="000000"/>
                </a:solidFill>
                <a:latin typeface="Times New Roman"/>
                <a:ea typeface="Times New Roman"/>
              </a:rPr>
              <a:t>The </a:t>
            </a:r>
            <a:r>
              <a:rPr lang="en-US" sz="1000" b="1" strike="noStrike" spc="-1" dirty="0">
                <a:solidFill>
                  <a:srgbClr val="000000"/>
                </a:solidFill>
                <a:latin typeface="Times New Roman"/>
                <a:ea typeface="Times New Roman"/>
              </a:rPr>
              <a:t>Emergency Resource Allocation System</a:t>
            </a:r>
            <a:r>
              <a:rPr lang="en-US" sz="1050" b="0" strike="noStrike" spc="-1" dirty="0">
                <a:solidFill>
                  <a:srgbClr val="000000"/>
                </a:solidFill>
                <a:latin typeface="Times New Roman"/>
                <a:ea typeface="Times New Roman"/>
              </a:rPr>
              <a:t> is a digital information and coordination platform designed to optimize the deployment of critical medical and disaster-response assets. Effective public safety depends on comprehensive disaster recognition and reliable response schemes. [1]</a:t>
            </a:r>
            <a:endParaRPr lang="en-US" sz="1050" b="0" strike="noStrike" spc="-1" dirty="0">
              <a:solidFill>
                <a:srgbClr val="000000"/>
              </a:solidFill>
              <a:latin typeface="Arial"/>
            </a:endParaRPr>
          </a:p>
          <a:p>
            <a:pPr algn="just" defTabSz="914400">
              <a:lnSpc>
                <a:spcPct val="132000"/>
              </a:lnSpc>
              <a:tabLst>
                <a:tab pos="0" algn="l"/>
              </a:tabLst>
            </a:pPr>
            <a:r>
              <a:rPr lang="en-US" sz="1050" b="0" strike="noStrike" spc="-1" dirty="0">
                <a:solidFill>
                  <a:srgbClr val="000000"/>
                </a:solidFill>
                <a:latin typeface="Times New Roman"/>
                <a:ea typeface="Times New Roman"/>
              </a:rPr>
              <a:t>The system integrates a geospatial database with real-time matching algorithms to manage ambulances, blood units, volunteers, and other emergency assets. By automating search, reservation, and tracking, the platform aims to reduce coordination delays, improve response speed, and provide transparent records for operational review. [1] [2]</a:t>
            </a:r>
            <a:endParaRPr lang="en-US" sz="1050" b="0" strike="noStrike" spc="-1" dirty="0">
              <a:solidFill>
                <a:srgbClr val="000000"/>
              </a:solidFill>
              <a:latin typeface="Arial"/>
            </a:endParaRPr>
          </a:p>
        </p:txBody>
      </p:sp>
      <p:sp>
        <p:nvSpPr>
          <p:cNvPr id="18" name="Text 3"/>
          <p:cNvSpPr/>
          <p:nvPr/>
        </p:nvSpPr>
        <p:spPr>
          <a:xfrm>
            <a:off x="2305800" y="3120163"/>
            <a:ext cx="4671720" cy="786960"/>
          </a:xfrm>
          <a:prstGeom prst="rect">
            <a:avLst/>
          </a:prstGeom>
          <a:noFill/>
          <a:ln w="0">
            <a:noFill/>
          </a:ln>
        </p:spPr>
        <p:style>
          <a:lnRef idx="0">
            <a:scrgbClr r="0" g="0" b="0"/>
          </a:lnRef>
          <a:fillRef idx="0">
            <a:scrgbClr r="0" g="0" b="0"/>
          </a:fillRef>
          <a:effectRef idx="0">
            <a:scrgbClr r="0" g="0" b="0"/>
          </a:effectRef>
          <a:fontRef idx="minor"/>
        </p:style>
        <p:txBody>
          <a:bodyPr lIns="0" tIns="212760" rIns="0" bIns="0" anchor="t">
            <a:spAutoFit/>
          </a:bodyPr>
          <a:lstStyle/>
          <a:p>
            <a:pPr defTabSz="914400">
              <a:lnSpc>
                <a:spcPct val="120000"/>
              </a:lnSpc>
              <a:tabLst>
                <a:tab pos="0" algn="l"/>
              </a:tabLst>
            </a:pPr>
            <a:r>
              <a:rPr lang="en-US" sz="1000" b="1" strike="noStrike" spc="-1" dirty="0">
                <a:solidFill>
                  <a:srgbClr val="003366"/>
                </a:solidFill>
                <a:latin typeface="Times New Roman"/>
                <a:ea typeface="Times New Roman"/>
              </a:rPr>
              <a:t>Key contribution:</a:t>
            </a:r>
            <a:r>
              <a:rPr lang="en-US" sz="1050" b="0" strike="noStrike" spc="-1" dirty="0">
                <a:solidFill>
                  <a:srgbClr val="000000"/>
                </a:solidFill>
                <a:latin typeface="Times New Roman"/>
                <a:ea typeface="Times New Roman"/>
              </a:rPr>
              <a:t> The project translates established allocation, dispatch, and coordination concepts into a practical requester-and-responder platform for local and regional emergency operations.</a:t>
            </a:r>
            <a:endParaRPr lang="en-US" sz="1050" b="0" strike="noStrike" spc="-1" dirty="0">
              <a:solidFill>
                <a:srgbClr val="000000"/>
              </a:solidFill>
              <a:latin typeface="Arial"/>
            </a:endParaRPr>
          </a:p>
        </p:txBody>
      </p:sp>
      <p:sp>
        <p:nvSpPr>
          <p:cNvPr id="19" name="Text 4"/>
          <p:cNvSpPr/>
          <p:nvPr/>
        </p:nvSpPr>
        <p:spPr>
          <a:xfrm>
            <a:off x="2235960" y="7508160"/>
            <a:ext cx="4671720" cy="183240"/>
          </a:xfrm>
          <a:prstGeom prst="rect">
            <a:avLst/>
          </a:prstGeom>
          <a:noFill/>
          <a:ln w="0">
            <a:noFill/>
          </a:ln>
        </p:spPr>
        <p:style>
          <a:lnRef idx="0">
            <a:scrgbClr r="0" g="0" b="0"/>
          </a:lnRef>
          <a:fillRef idx="0">
            <a:scrgbClr r="0" g="0" b="0"/>
          </a:fillRef>
          <a:effectRef idx="0">
            <a:scrgbClr r="0" g="0" b="0"/>
          </a:effectRef>
          <a:fontRef idx="minor"/>
        </p:style>
        <p:txBody>
          <a:bodyPr lIns="0" tIns="97200" rIns="0" bIns="-4680" anchor="t">
            <a:spAutoFit/>
          </a:bodyPr>
          <a:lstStyle/>
          <a:p>
            <a:pPr algn="r" defTabSz="914400">
              <a:lnSpc>
                <a:spcPct val="100000"/>
              </a:lnSpc>
              <a:tabLst>
                <a:tab pos="0" algn="l"/>
              </a:tabLst>
            </a:pPr>
            <a:r>
              <a:rPr lang="en-US" sz="600" b="0" strike="noStrike" spc="-1">
                <a:solidFill>
                  <a:srgbClr val="666666"/>
                </a:solidFill>
                <a:latin typeface="Arial"/>
                <a:ea typeface="Arial"/>
              </a:rPr>
              <a:t>Emergency Resource Allocation System | 2</a:t>
            </a:r>
            <a:endParaRPr lang="en-US" sz="6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Image 0" descr="preencoded.png"/>
          <p:cNvPicPr/>
          <p:nvPr/>
        </p:nvPicPr>
        <p:blipFill>
          <a:blip r:embed="rId3"/>
          <a:stretch/>
        </p:blipFill>
        <p:spPr>
          <a:xfrm>
            <a:off x="0" y="0"/>
            <a:ext cx="9143640" cy="8022240"/>
          </a:xfrm>
          <a:prstGeom prst="rect">
            <a:avLst/>
          </a:prstGeom>
          <a:ln w="0">
            <a:noFill/>
          </a:ln>
        </p:spPr>
      </p:pic>
      <p:sp>
        <p:nvSpPr>
          <p:cNvPr id="155" name="Shape 0"/>
          <p:cNvSpPr/>
          <p:nvPr/>
        </p:nvSpPr>
        <p:spPr>
          <a:xfrm>
            <a:off x="-360" y="0"/>
            <a:ext cx="9144000" cy="8022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6" name="Text 1"/>
          <p:cNvSpPr/>
          <p:nvPr/>
        </p:nvSpPr>
        <p:spPr>
          <a:xfrm>
            <a:off x="2235960" y="865440"/>
            <a:ext cx="2508120" cy="294480"/>
          </a:xfrm>
          <a:prstGeom prst="rect">
            <a:avLst/>
          </a:prstGeom>
          <a:noFill/>
          <a:ln w="0">
            <a:noFill/>
          </a:ln>
        </p:spPr>
        <p:style>
          <a:lnRef idx="0">
            <a:scrgbClr r="0" g="0" b="0"/>
          </a:lnRef>
          <a:fillRef idx="0">
            <a:scrgbClr r="0" g="0" b="0"/>
          </a:fillRef>
          <a:effectRef idx="0">
            <a:scrgbClr r="0" g="0" b="0"/>
          </a:effectRef>
          <a:fontRef idx="minor"/>
        </p:style>
        <p:txBody>
          <a:bodyPr lIns="0" tIns="0" rIns="0" bIns="51120" anchor="t">
            <a:spAutoFit/>
          </a:bodyPr>
          <a:lstStyle/>
          <a:p>
            <a:pPr defTabSz="914400">
              <a:lnSpc>
                <a:spcPct val="100000"/>
              </a:lnSpc>
              <a:tabLst>
                <a:tab pos="0" algn="l"/>
              </a:tabLst>
            </a:pPr>
            <a:r>
              <a:rPr lang="en-US" sz="1600" b="1" strike="noStrike" spc="-1" dirty="0">
                <a:solidFill>
                  <a:srgbClr val="003366"/>
                </a:solidFill>
                <a:latin typeface="Times New Roman"/>
                <a:ea typeface="Times New Roman"/>
              </a:rPr>
              <a:t>EXPECTED OUTCOME</a:t>
            </a:r>
            <a:endParaRPr lang="en-US" sz="1600" b="0" strike="noStrike" spc="-1" dirty="0">
              <a:solidFill>
                <a:srgbClr val="000000"/>
              </a:solidFill>
              <a:latin typeface="Arial"/>
            </a:endParaRPr>
          </a:p>
        </p:txBody>
      </p:sp>
      <p:sp>
        <p:nvSpPr>
          <p:cNvPr id="157" name="Text 2"/>
          <p:cNvSpPr/>
          <p:nvPr/>
        </p:nvSpPr>
        <p:spPr>
          <a:xfrm>
            <a:off x="2235960" y="1490760"/>
            <a:ext cx="4671720" cy="84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ct val="132000"/>
              </a:lnSpc>
              <a:tabLst>
                <a:tab pos="0" algn="l"/>
              </a:tabLst>
            </a:pPr>
            <a:r>
              <a:rPr lang="en-US" sz="1050" b="0" strike="noStrike" spc="-1" dirty="0">
                <a:solidFill>
                  <a:srgbClr val="000000"/>
                </a:solidFill>
                <a:latin typeface="Times New Roman"/>
                <a:ea typeface="Times New Roman"/>
              </a:rPr>
              <a:t>The system is expected to significantly enhance the effectiveness of disaster response by improving resource visibility and reducing response times. Research indicates that optimizing dispatch and patient allocation can lead to a substantial increase in the total supply rate and better social stability during unexpected disaster chains. </a:t>
            </a:r>
            <a:r>
              <a:rPr lang="en-US" sz="700" b="1" strike="noStrike" spc="-1" baseline="30000" dirty="0">
                <a:solidFill>
                  <a:srgbClr val="003366"/>
                </a:solidFill>
                <a:latin typeface="Arial"/>
                <a:ea typeface="Arial"/>
              </a:rPr>
              <a:t>[1] [2]</a:t>
            </a:r>
            <a:endParaRPr lang="en-US" sz="700" b="0" strike="noStrike" spc="-1" dirty="0">
              <a:solidFill>
                <a:srgbClr val="000000"/>
              </a:solidFill>
              <a:latin typeface="Arial"/>
            </a:endParaRPr>
          </a:p>
        </p:txBody>
      </p:sp>
      <p:sp>
        <p:nvSpPr>
          <p:cNvPr id="158" name="Text 3"/>
          <p:cNvSpPr/>
          <p:nvPr/>
        </p:nvSpPr>
        <p:spPr>
          <a:xfrm>
            <a:off x="3183240" y="2627280"/>
            <a:ext cx="2544480" cy="28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76000"/>
              </a:lnSpc>
              <a:tabLst>
                <a:tab pos="0" algn="l"/>
              </a:tabLst>
            </a:pPr>
            <a:r>
              <a:rPr lang="en-US" sz="1050" b="0" strike="noStrike" spc="-1" dirty="0">
                <a:solidFill>
                  <a:srgbClr val="000000"/>
                </a:solidFill>
                <a:latin typeface="Times New Roman"/>
                <a:ea typeface="Times New Roman"/>
              </a:rPr>
              <a:t>Enhanced Resource Visibility and Transparency</a:t>
            </a:r>
            <a:endParaRPr lang="en-US" sz="1050" b="0" strike="noStrike" spc="-1" dirty="0">
              <a:solidFill>
                <a:srgbClr val="000000"/>
              </a:solidFill>
              <a:latin typeface="Arial"/>
            </a:endParaRPr>
          </a:p>
        </p:txBody>
      </p:sp>
      <p:sp>
        <p:nvSpPr>
          <p:cNvPr id="159" name="Text 4"/>
          <p:cNvSpPr/>
          <p:nvPr/>
        </p:nvSpPr>
        <p:spPr>
          <a:xfrm>
            <a:off x="3182880" y="2886840"/>
            <a:ext cx="2297880" cy="28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76000"/>
              </a:lnSpc>
              <a:tabLst>
                <a:tab pos="0" algn="l"/>
              </a:tabLst>
            </a:pPr>
            <a:r>
              <a:rPr lang="en-US" sz="1050" b="0" strike="noStrike" spc="-1" dirty="0">
                <a:solidFill>
                  <a:srgbClr val="000000"/>
                </a:solidFill>
                <a:latin typeface="Times New Roman"/>
                <a:ea typeface="Times New Roman"/>
              </a:rPr>
              <a:t>Significant Reduction in Response Latency</a:t>
            </a:r>
            <a:endParaRPr lang="en-US" sz="1050" b="0" strike="noStrike" spc="-1" dirty="0">
              <a:solidFill>
                <a:srgbClr val="000000"/>
              </a:solidFill>
              <a:latin typeface="Arial"/>
            </a:endParaRPr>
          </a:p>
        </p:txBody>
      </p:sp>
      <p:sp>
        <p:nvSpPr>
          <p:cNvPr id="160" name="Text 5"/>
          <p:cNvSpPr/>
          <p:nvPr/>
        </p:nvSpPr>
        <p:spPr>
          <a:xfrm>
            <a:off x="3193680" y="3123360"/>
            <a:ext cx="2276280" cy="28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76000"/>
              </a:lnSpc>
              <a:tabLst>
                <a:tab pos="0" algn="l"/>
              </a:tabLst>
            </a:pPr>
            <a:r>
              <a:rPr lang="en-US" sz="1050" b="0" strike="noStrike" spc="-1" dirty="0">
                <a:solidFill>
                  <a:srgbClr val="000000"/>
                </a:solidFill>
                <a:latin typeface="Times New Roman"/>
                <a:ea typeface="Times New Roman"/>
              </a:rPr>
              <a:t>Optimized Dispatch and Patient Allocation</a:t>
            </a:r>
            <a:endParaRPr lang="en-US" sz="1050" b="0" strike="noStrike" spc="-1" dirty="0">
              <a:solidFill>
                <a:srgbClr val="000000"/>
              </a:solidFill>
              <a:latin typeface="Arial"/>
            </a:endParaRPr>
          </a:p>
        </p:txBody>
      </p:sp>
      <p:sp>
        <p:nvSpPr>
          <p:cNvPr id="161" name="Text 6"/>
          <p:cNvSpPr/>
          <p:nvPr/>
        </p:nvSpPr>
        <p:spPr>
          <a:xfrm>
            <a:off x="3193680" y="3378780"/>
            <a:ext cx="2640600" cy="28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76000"/>
              </a:lnSpc>
              <a:tabLst>
                <a:tab pos="0" algn="l"/>
              </a:tabLst>
            </a:pPr>
            <a:r>
              <a:rPr lang="en-US" sz="1050" b="0" strike="noStrike" spc="-1" dirty="0">
                <a:solidFill>
                  <a:srgbClr val="000000"/>
                </a:solidFill>
                <a:latin typeface="Times New Roman"/>
                <a:ea typeface="Times New Roman"/>
              </a:rPr>
              <a:t>Improved Social Stability During Disaster Chains</a:t>
            </a:r>
            <a:endParaRPr lang="en-US" sz="1050" b="0" strike="noStrike" spc="-1" dirty="0">
              <a:solidFill>
                <a:srgbClr val="000000"/>
              </a:solidFill>
              <a:latin typeface="Arial"/>
            </a:endParaRPr>
          </a:p>
        </p:txBody>
      </p:sp>
      <p:sp>
        <p:nvSpPr>
          <p:cNvPr id="162" name="Text 7"/>
          <p:cNvSpPr/>
          <p:nvPr/>
        </p:nvSpPr>
        <p:spPr>
          <a:xfrm>
            <a:off x="3193320" y="3619080"/>
            <a:ext cx="2585880" cy="28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76000"/>
              </a:lnSpc>
              <a:tabLst>
                <a:tab pos="0" algn="l"/>
              </a:tabLst>
            </a:pPr>
            <a:r>
              <a:rPr lang="en-US" sz="1050" b="0" strike="noStrike" spc="-1" dirty="0">
                <a:solidFill>
                  <a:srgbClr val="000000"/>
                </a:solidFill>
                <a:latin typeface="Times New Roman"/>
                <a:ea typeface="Times New Roman"/>
              </a:rPr>
              <a:t>Scalable Coordination for Mass-Casualty Events</a:t>
            </a:r>
            <a:endParaRPr lang="en-US" sz="1050" b="0" strike="noStrike" spc="-1" dirty="0">
              <a:solidFill>
                <a:srgbClr val="000000"/>
              </a:solidFill>
              <a:latin typeface="Arial"/>
            </a:endParaRPr>
          </a:p>
        </p:txBody>
      </p:sp>
      <p:sp>
        <p:nvSpPr>
          <p:cNvPr id="163" name="Text 8"/>
          <p:cNvSpPr/>
          <p:nvPr/>
        </p:nvSpPr>
        <p:spPr>
          <a:xfrm>
            <a:off x="2235960" y="7508160"/>
            <a:ext cx="4671720" cy="183240"/>
          </a:xfrm>
          <a:prstGeom prst="rect">
            <a:avLst/>
          </a:prstGeom>
          <a:noFill/>
          <a:ln w="0">
            <a:noFill/>
          </a:ln>
        </p:spPr>
        <p:style>
          <a:lnRef idx="0">
            <a:scrgbClr r="0" g="0" b="0"/>
          </a:lnRef>
          <a:fillRef idx="0">
            <a:scrgbClr r="0" g="0" b="0"/>
          </a:fillRef>
          <a:effectRef idx="0">
            <a:scrgbClr r="0" g="0" b="0"/>
          </a:effectRef>
          <a:fontRef idx="minor"/>
        </p:style>
        <p:txBody>
          <a:bodyPr lIns="0" tIns="97200" rIns="0" bIns="-4680" anchor="t">
            <a:spAutoFit/>
          </a:bodyPr>
          <a:lstStyle/>
          <a:p>
            <a:pPr algn="r" defTabSz="914400">
              <a:lnSpc>
                <a:spcPct val="100000"/>
              </a:lnSpc>
              <a:tabLst>
                <a:tab pos="0" algn="l"/>
              </a:tabLst>
            </a:pPr>
            <a:r>
              <a:rPr lang="en-US" sz="600" b="0" strike="noStrike" spc="-1">
                <a:solidFill>
                  <a:srgbClr val="666666"/>
                </a:solidFill>
                <a:latin typeface="Arial"/>
                <a:ea typeface="Arial"/>
              </a:rPr>
              <a:t>Emergency Resource Allocation System | 7</a:t>
            </a:r>
            <a:endParaRPr lang="en-US" sz="6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 name="Image 0" descr="preencoded.png"/>
          <p:cNvPicPr/>
          <p:nvPr/>
        </p:nvPicPr>
        <p:blipFill>
          <a:blip r:embed="rId3"/>
          <a:stretch/>
        </p:blipFill>
        <p:spPr>
          <a:xfrm>
            <a:off x="0" y="0"/>
            <a:ext cx="9143640" cy="8022240"/>
          </a:xfrm>
          <a:prstGeom prst="rect">
            <a:avLst/>
          </a:prstGeom>
          <a:ln w="0">
            <a:noFill/>
          </a:ln>
        </p:spPr>
      </p:pic>
      <p:sp>
        <p:nvSpPr>
          <p:cNvPr id="165" name="Shape 0"/>
          <p:cNvSpPr/>
          <p:nvPr/>
        </p:nvSpPr>
        <p:spPr>
          <a:xfrm>
            <a:off x="0" y="0"/>
            <a:ext cx="9144000" cy="8022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6" name="Text 1"/>
          <p:cNvSpPr/>
          <p:nvPr/>
        </p:nvSpPr>
        <p:spPr>
          <a:xfrm>
            <a:off x="2122820" y="919080"/>
            <a:ext cx="1983600" cy="294480"/>
          </a:xfrm>
          <a:prstGeom prst="rect">
            <a:avLst/>
          </a:prstGeom>
          <a:noFill/>
          <a:ln w="0">
            <a:noFill/>
          </a:ln>
        </p:spPr>
        <p:style>
          <a:lnRef idx="0">
            <a:scrgbClr r="0" g="0" b="0"/>
          </a:lnRef>
          <a:fillRef idx="0">
            <a:scrgbClr r="0" g="0" b="0"/>
          </a:fillRef>
          <a:effectRef idx="0">
            <a:scrgbClr r="0" g="0" b="0"/>
          </a:effectRef>
          <a:fontRef idx="minor"/>
        </p:style>
        <p:txBody>
          <a:bodyPr lIns="0" tIns="0" rIns="0" bIns="51120" anchor="t">
            <a:spAutoFit/>
          </a:bodyPr>
          <a:lstStyle/>
          <a:p>
            <a:pPr defTabSz="914400">
              <a:lnSpc>
                <a:spcPct val="100000"/>
              </a:lnSpc>
              <a:tabLst>
                <a:tab pos="0" algn="l"/>
              </a:tabLst>
            </a:pPr>
            <a:r>
              <a:rPr lang="en-US" sz="1600" b="1" strike="noStrike" spc="-1" dirty="0">
                <a:solidFill>
                  <a:srgbClr val="003366"/>
                </a:solidFill>
                <a:latin typeface="Times New Roman"/>
                <a:ea typeface="Times New Roman"/>
              </a:rPr>
              <a:t>SYSTEM DETAILS</a:t>
            </a:r>
            <a:endParaRPr lang="en-US" sz="1600" b="0" strike="noStrike" spc="-1" dirty="0">
              <a:solidFill>
                <a:srgbClr val="000000"/>
              </a:solidFill>
              <a:latin typeface="Arial"/>
            </a:endParaRPr>
          </a:p>
        </p:txBody>
      </p:sp>
      <p:sp>
        <p:nvSpPr>
          <p:cNvPr id="167" name="Text 2"/>
          <p:cNvSpPr/>
          <p:nvPr/>
        </p:nvSpPr>
        <p:spPr>
          <a:xfrm>
            <a:off x="2202220" y="1317780"/>
            <a:ext cx="467172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US" sz="900" b="1" strike="noStrike" spc="-1" dirty="0">
                <a:solidFill>
                  <a:srgbClr val="003366"/>
                </a:solidFill>
                <a:latin typeface="Arial"/>
                <a:ea typeface="Arial"/>
              </a:rPr>
              <a:t>CORE DATA MODEL</a:t>
            </a:r>
            <a:endParaRPr lang="en-US" sz="900" b="0" strike="noStrike" spc="-1" dirty="0">
              <a:solidFill>
                <a:srgbClr val="000000"/>
              </a:solidFill>
              <a:latin typeface="Arial"/>
            </a:endParaRPr>
          </a:p>
        </p:txBody>
      </p:sp>
      <p:sp>
        <p:nvSpPr>
          <p:cNvPr id="168" name="Shape 3"/>
          <p:cNvSpPr/>
          <p:nvPr/>
        </p:nvSpPr>
        <p:spPr>
          <a:xfrm>
            <a:off x="2219580" y="1544400"/>
            <a:ext cx="1167480" cy="310320"/>
          </a:xfrm>
          <a:prstGeom prst="rect">
            <a:avLst/>
          </a:prstGeom>
          <a:solidFill>
            <a:srgbClr val="F9F9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9" name="Shape 4"/>
          <p:cNvSpPr/>
          <p:nvPr/>
        </p:nvSpPr>
        <p:spPr>
          <a:xfrm>
            <a:off x="2235960" y="1875240"/>
            <a:ext cx="1167480" cy="14040"/>
          </a:xfrm>
          <a:prstGeom prst="rect">
            <a:avLst/>
          </a:prstGeom>
          <a:solidFill>
            <a:srgbClr val="003366"/>
          </a:solidFill>
          <a:ln w="0">
            <a:noFill/>
          </a:ln>
        </p:spPr>
        <p:style>
          <a:lnRef idx="0">
            <a:scrgbClr r="0" g="0" b="0"/>
          </a:lnRef>
          <a:fillRef idx="0">
            <a:scrgbClr r="0" g="0" b="0"/>
          </a:fillRef>
          <a:effectRef idx="0">
            <a:scrgbClr r="0" g="0" b="0"/>
          </a:effectRef>
          <a:fontRef idx="minor"/>
        </p:style>
        <p:txBody>
          <a:bodyPr lIns="90000" tIns="-30600" rIns="90000" bIns="-30600" anchor="t">
            <a:noAutofit/>
          </a:bodyPr>
          <a:lstStyle/>
          <a:p>
            <a:endParaRPr lang="en-US" sz="1800" b="0" strike="noStrike" spc="-1">
              <a:solidFill>
                <a:srgbClr val="FFFFFF"/>
              </a:solidFill>
              <a:latin typeface="Arial"/>
            </a:endParaRPr>
          </a:p>
        </p:txBody>
      </p:sp>
      <p:sp>
        <p:nvSpPr>
          <p:cNvPr id="170" name="Text 5"/>
          <p:cNvSpPr/>
          <p:nvPr/>
        </p:nvSpPr>
        <p:spPr>
          <a:xfrm>
            <a:off x="2535480" y="1612080"/>
            <a:ext cx="568440" cy="244080"/>
          </a:xfrm>
          <a:prstGeom prst="rect">
            <a:avLst/>
          </a:prstGeom>
          <a:noFill/>
          <a:ln w="0">
            <a:noFill/>
          </a:ln>
        </p:spPr>
        <p:style>
          <a:lnRef idx="0">
            <a:scrgbClr r="0" g="0" b="0"/>
          </a:lnRef>
          <a:fillRef idx="0">
            <a:scrgbClr r="0" g="0" b="0"/>
          </a:fillRef>
          <a:effectRef idx="0">
            <a:scrgbClr r="0" g="0" b="0"/>
          </a:effectRef>
          <a:fontRef idx="minor"/>
        </p:style>
        <p:txBody>
          <a:bodyPr wrap="none" lIns="102240" tIns="61560" rIns="102240" bIns="61560" anchor="ctr">
            <a:spAutoFit/>
          </a:bodyPr>
          <a:lstStyle/>
          <a:p>
            <a:pPr defTabSz="914400">
              <a:lnSpc>
                <a:spcPct val="100000"/>
              </a:lnSpc>
              <a:tabLst>
                <a:tab pos="0" algn="l"/>
              </a:tabLst>
            </a:pPr>
            <a:r>
              <a:rPr lang="en-US" sz="800" b="1" strike="noStrike" spc="-1" dirty="0">
                <a:solidFill>
                  <a:srgbClr val="000000"/>
                </a:solidFill>
                <a:latin typeface="Arial"/>
                <a:ea typeface="Arial"/>
              </a:rPr>
              <a:t>ENTITY</a:t>
            </a:r>
            <a:endParaRPr lang="en-US" sz="800" b="0" strike="noStrike" spc="-1" dirty="0">
              <a:solidFill>
                <a:srgbClr val="000000"/>
              </a:solidFill>
              <a:latin typeface="Arial"/>
            </a:endParaRPr>
          </a:p>
        </p:txBody>
      </p:sp>
      <p:sp>
        <p:nvSpPr>
          <p:cNvPr id="171" name="Shape 6"/>
          <p:cNvSpPr/>
          <p:nvPr/>
        </p:nvSpPr>
        <p:spPr>
          <a:xfrm>
            <a:off x="3404160" y="1578600"/>
            <a:ext cx="1634760" cy="310320"/>
          </a:xfrm>
          <a:prstGeom prst="rect">
            <a:avLst/>
          </a:prstGeom>
          <a:solidFill>
            <a:srgbClr val="F9F9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2" name="Shape 7"/>
          <p:cNvSpPr/>
          <p:nvPr/>
        </p:nvSpPr>
        <p:spPr>
          <a:xfrm>
            <a:off x="3404160" y="1875240"/>
            <a:ext cx="1634760" cy="14040"/>
          </a:xfrm>
          <a:prstGeom prst="rect">
            <a:avLst/>
          </a:prstGeom>
          <a:solidFill>
            <a:srgbClr val="003366"/>
          </a:solidFill>
          <a:ln w="0">
            <a:noFill/>
          </a:ln>
        </p:spPr>
        <p:style>
          <a:lnRef idx="0">
            <a:scrgbClr r="0" g="0" b="0"/>
          </a:lnRef>
          <a:fillRef idx="0">
            <a:scrgbClr r="0" g="0" b="0"/>
          </a:fillRef>
          <a:effectRef idx="0">
            <a:scrgbClr r="0" g="0" b="0"/>
          </a:effectRef>
          <a:fontRef idx="minor"/>
        </p:style>
        <p:txBody>
          <a:bodyPr lIns="90000" tIns="-30600" rIns="90000" bIns="-30600" anchor="t">
            <a:noAutofit/>
          </a:bodyPr>
          <a:lstStyle/>
          <a:p>
            <a:endParaRPr lang="en-US" sz="1800" b="0" strike="noStrike" spc="-1">
              <a:solidFill>
                <a:srgbClr val="FFFFFF"/>
              </a:solidFill>
              <a:latin typeface="Arial"/>
            </a:endParaRPr>
          </a:p>
        </p:txBody>
      </p:sp>
      <p:sp>
        <p:nvSpPr>
          <p:cNvPr id="173" name="Text 8"/>
          <p:cNvSpPr/>
          <p:nvPr/>
        </p:nvSpPr>
        <p:spPr>
          <a:xfrm>
            <a:off x="3404160" y="1612080"/>
            <a:ext cx="1634760" cy="244080"/>
          </a:xfrm>
          <a:prstGeom prst="rect">
            <a:avLst/>
          </a:prstGeom>
          <a:noFill/>
          <a:ln w="0">
            <a:noFill/>
          </a:ln>
        </p:spPr>
        <p:style>
          <a:lnRef idx="0">
            <a:scrgbClr r="0" g="0" b="0"/>
          </a:lnRef>
          <a:fillRef idx="0">
            <a:scrgbClr r="0" g="0" b="0"/>
          </a:fillRef>
          <a:effectRef idx="0">
            <a:scrgbClr r="0" g="0" b="0"/>
          </a:effectRef>
          <a:fontRef idx="minor"/>
        </p:style>
        <p:txBody>
          <a:bodyPr lIns="102240" tIns="61560" rIns="102240" bIns="61560" anchor="ctr">
            <a:spAutoFit/>
          </a:bodyPr>
          <a:lstStyle/>
          <a:p>
            <a:pPr defTabSz="914400">
              <a:lnSpc>
                <a:spcPct val="100000"/>
              </a:lnSpc>
              <a:tabLst>
                <a:tab pos="0" algn="l"/>
              </a:tabLst>
            </a:pPr>
            <a:r>
              <a:rPr lang="en-US" sz="800" b="1" strike="noStrike" spc="-1">
                <a:solidFill>
                  <a:srgbClr val="000000"/>
                </a:solidFill>
                <a:latin typeface="Arial"/>
                <a:ea typeface="Arial"/>
              </a:rPr>
              <a:t>INFORMATION</a:t>
            </a:r>
            <a:endParaRPr lang="en-US" sz="800" b="0" strike="noStrike" spc="-1">
              <a:solidFill>
                <a:srgbClr val="000000"/>
              </a:solidFill>
              <a:latin typeface="Arial"/>
            </a:endParaRPr>
          </a:p>
        </p:txBody>
      </p:sp>
      <p:sp>
        <p:nvSpPr>
          <p:cNvPr id="174" name="Shape 9"/>
          <p:cNvSpPr/>
          <p:nvPr/>
        </p:nvSpPr>
        <p:spPr>
          <a:xfrm>
            <a:off x="5039280" y="1578600"/>
            <a:ext cx="1868400" cy="310320"/>
          </a:xfrm>
          <a:prstGeom prst="rect">
            <a:avLst/>
          </a:prstGeom>
          <a:solidFill>
            <a:srgbClr val="F9F9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5" name="Shape 10"/>
          <p:cNvSpPr/>
          <p:nvPr/>
        </p:nvSpPr>
        <p:spPr>
          <a:xfrm>
            <a:off x="5039280" y="1875240"/>
            <a:ext cx="1868400" cy="14040"/>
          </a:xfrm>
          <a:prstGeom prst="rect">
            <a:avLst/>
          </a:prstGeom>
          <a:solidFill>
            <a:srgbClr val="003366"/>
          </a:solidFill>
          <a:ln w="0">
            <a:noFill/>
          </a:ln>
        </p:spPr>
        <p:style>
          <a:lnRef idx="0">
            <a:scrgbClr r="0" g="0" b="0"/>
          </a:lnRef>
          <a:fillRef idx="0">
            <a:scrgbClr r="0" g="0" b="0"/>
          </a:fillRef>
          <a:effectRef idx="0">
            <a:scrgbClr r="0" g="0" b="0"/>
          </a:effectRef>
          <a:fontRef idx="minor"/>
        </p:style>
        <p:txBody>
          <a:bodyPr lIns="90000" tIns="-30600" rIns="90000" bIns="-30600" anchor="t">
            <a:noAutofit/>
          </a:bodyPr>
          <a:lstStyle/>
          <a:p>
            <a:endParaRPr lang="en-US" sz="1800" b="0" strike="noStrike" spc="-1">
              <a:solidFill>
                <a:srgbClr val="FFFFFF"/>
              </a:solidFill>
              <a:latin typeface="Arial"/>
            </a:endParaRPr>
          </a:p>
        </p:txBody>
      </p:sp>
      <p:sp>
        <p:nvSpPr>
          <p:cNvPr id="176" name="Text 11"/>
          <p:cNvSpPr/>
          <p:nvPr/>
        </p:nvSpPr>
        <p:spPr>
          <a:xfrm>
            <a:off x="5039280" y="1612080"/>
            <a:ext cx="1868400" cy="244080"/>
          </a:xfrm>
          <a:prstGeom prst="rect">
            <a:avLst/>
          </a:prstGeom>
          <a:noFill/>
          <a:ln w="0">
            <a:noFill/>
          </a:ln>
        </p:spPr>
        <p:style>
          <a:lnRef idx="0">
            <a:scrgbClr r="0" g="0" b="0"/>
          </a:lnRef>
          <a:fillRef idx="0">
            <a:scrgbClr r="0" g="0" b="0"/>
          </a:fillRef>
          <a:effectRef idx="0">
            <a:scrgbClr r="0" g="0" b="0"/>
          </a:effectRef>
          <a:fontRef idx="minor"/>
        </p:style>
        <p:txBody>
          <a:bodyPr lIns="102240" tIns="61560" rIns="102240" bIns="61560" anchor="ctr">
            <a:spAutoFit/>
          </a:bodyPr>
          <a:lstStyle/>
          <a:p>
            <a:pPr defTabSz="914400">
              <a:lnSpc>
                <a:spcPct val="100000"/>
              </a:lnSpc>
              <a:tabLst>
                <a:tab pos="0" algn="l"/>
              </a:tabLst>
            </a:pPr>
            <a:r>
              <a:rPr lang="en-US" sz="800" b="1" strike="noStrike" spc="-1">
                <a:solidFill>
                  <a:srgbClr val="000000"/>
                </a:solidFill>
                <a:latin typeface="Arial"/>
                <a:ea typeface="Arial"/>
              </a:rPr>
              <a:t>PURPOSE</a:t>
            </a:r>
            <a:endParaRPr lang="en-US" sz="800" b="0" strike="noStrike" spc="-1">
              <a:solidFill>
                <a:srgbClr val="000000"/>
              </a:solidFill>
              <a:latin typeface="Arial"/>
            </a:endParaRPr>
          </a:p>
        </p:txBody>
      </p:sp>
      <p:sp>
        <p:nvSpPr>
          <p:cNvPr id="177" name="Text 12"/>
          <p:cNvSpPr/>
          <p:nvPr/>
        </p:nvSpPr>
        <p:spPr>
          <a:xfrm>
            <a:off x="2335566" y="1937880"/>
            <a:ext cx="441360" cy="135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12000"/>
              </a:lnSpc>
              <a:tabLst>
                <a:tab pos="0" algn="l"/>
              </a:tabLst>
            </a:pPr>
            <a:r>
              <a:rPr lang="en-US" sz="800" b="1" strike="noStrike" spc="-1" dirty="0">
                <a:solidFill>
                  <a:srgbClr val="000000"/>
                </a:solidFill>
                <a:latin typeface="Times New Roman"/>
                <a:ea typeface="Times New Roman"/>
              </a:rPr>
              <a:t>Resources</a:t>
            </a:r>
            <a:endParaRPr lang="en-US" sz="800" b="0" strike="noStrike" spc="-1" dirty="0">
              <a:solidFill>
                <a:srgbClr val="000000"/>
              </a:solidFill>
              <a:latin typeface="Arial"/>
            </a:endParaRPr>
          </a:p>
        </p:txBody>
      </p:sp>
      <p:sp>
        <p:nvSpPr>
          <p:cNvPr id="178" name="Text 13"/>
          <p:cNvSpPr/>
          <p:nvPr/>
        </p:nvSpPr>
        <p:spPr>
          <a:xfrm>
            <a:off x="3404160" y="1882800"/>
            <a:ext cx="1634760" cy="493920"/>
          </a:xfrm>
          <a:prstGeom prst="rect">
            <a:avLst/>
          </a:prstGeom>
          <a:noFill/>
          <a:ln w="0">
            <a:noFill/>
          </a:ln>
        </p:spPr>
        <p:style>
          <a:lnRef idx="0">
            <a:scrgbClr r="0" g="0" b="0"/>
          </a:lnRef>
          <a:fillRef idx="0">
            <a:scrgbClr r="0" g="0" b="0"/>
          </a:fillRef>
          <a:effectRef idx="0">
            <a:scrgbClr r="0" g="0" b="0"/>
          </a:effectRef>
          <a:fontRef idx="minor"/>
        </p:style>
        <p:txBody>
          <a:bodyPr lIns="102240" tIns="102240" rIns="102240" bIns="102240" anchor="ctr">
            <a:spAutoFit/>
          </a:bodyPr>
          <a:lstStyle/>
          <a:p>
            <a:pPr defTabSz="914400">
              <a:lnSpc>
                <a:spcPct val="112000"/>
              </a:lnSpc>
              <a:tabLst>
                <a:tab pos="0" algn="l"/>
              </a:tabLst>
            </a:pPr>
            <a:r>
              <a:rPr lang="en-US" sz="850" b="0" strike="noStrike" spc="-1" dirty="0">
                <a:solidFill>
                  <a:srgbClr val="000000"/>
                </a:solidFill>
                <a:latin typeface="Times New Roman"/>
                <a:ea typeface="Times New Roman"/>
              </a:rPr>
              <a:t>ID, Type, Capabilities, Base Location</a:t>
            </a:r>
            <a:endParaRPr lang="en-US" sz="850" b="0" strike="noStrike" spc="-1" dirty="0">
              <a:solidFill>
                <a:srgbClr val="000000"/>
              </a:solidFill>
              <a:latin typeface="Arial"/>
            </a:endParaRPr>
          </a:p>
        </p:txBody>
      </p:sp>
      <p:sp>
        <p:nvSpPr>
          <p:cNvPr id="179" name="Text 14"/>
          <p:cNvSpPr/>
          <p:nvPr/>
        </p:nvSpPr>
        <p:spPr>
          <a:xfrm>
            <a:off x="5039280" y="1882800"/>
            <a:ext cx="1868400" cy="493920"/>
          </a:xfrm>
          <a:prstGeom prst="rect">
            <a:avLst/>
          </a:prstGeom>
          <a:noFill/>
          <a:ln w="0">
            <a:noFill/>
          </a:ln>
        </p:spPr>
        <p:style>
          <a:lnRef idx="0">
            <a:scrgbClr r="0" g="0" b="0"/>
          </a:lnRef>
          <a:fillRef idx="0">
            <a:scrgbClr r="0" g="0" b="0"/>
          </a:fillRef>
          <a:effectRef idx="0">
            <a:scrgbClr r="0" g="0" b="0"/>
          </a:effectRef>
          <a:fontRef idx="minor"/>
        </p:style>
        <p:txBody>
          <a:bodyPr lIns="102240" tIns="102240" rIns="102240" bIns="102240" anchor="ctr">
            <a:spAutoFit/>
          </a:bodyPr>
          <a:lstStyle/>
          <a:p>
            <a:pPr defTabSz="914400">
              <a:lnSpc>
                <a:spcPct val="112000"/>
              </a:lnSpc>
              <a:tabLst>
                <a:tab pos="0" algn="l"/>
              </a:tabLst>
            </a:pPr>
            <a:r>
              <a:rPr lang="en-US" sz="850" b="0" strike="noStrike" spc="-1">
                <a:solidFill>
                  <a:srgbClr val="000000"/>
                </a:solidFill>
                <a:latin typeface="Times New Roman"/>
                <a:ea typeface="Times New Roman"/>
              </a:rPr>
              <a:t>Master data for asset management and capability mapping.</a:t>
            </a:r>
            <a:endParaRPr lang="en-US" sz="850" b="0" strike="noStrike" spc="-1">
              <a:solidFill>
                <a:srgbClr val="000000"/>
              </a:solidFill>
              <a:latin typeface="Arial"/>
            </a:endParaRPr>
          </a:p>
        </p:txBody>
      </p:sp>
      <p:sp>
        <p:nvSpPr>
          <p:cNvPr id="180" name="Text 15"/>
          <p:cNvSpPr/>
          <p:nvPr/>
        </p:nvSpPr>
        <p:spPr>
          <a:xfrm>
            <a:off x="2337480" y="2565720"/>
            <a:ext cx="272520" cy="135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12000"/>
              </a:lnSpc>
              <a:tabLst>
                <a:tab pos="0" algn="l"/>
              </a:tabLst>
            </a:pPr>
            <a:r>
              <a:rPr lang="en-US" sz="800" b="1" strike="noStrike" spc="-1" dirty="0">
                <a:solidFill>
                  <a:srgbClr val="000000"/>
                </a:solidFill>
                <a:latin typeface="Times New Roman"/>
                <a:ea typeface="Times New Roman"/>
              </a:rPr>
              <a:t>Status</a:t>
            </a:r>
            <a:endParaRPr lang="en-US" sz="800" b="0" strike="noStrike" spc="-1" dirty="0">
              <a:solidFill>
                <a:srgbClr val="000000"/>
              </a:solidFill>
              <a:latin typeface="Arial"/>
            </a:endParaRPr>
          </a:p>
        </p:txBody>
      </p:sp>
      <p:sp>
        <p:nvSpPr>
          <p:cNvPr id="181" name="Text 16"/>
          <p:cNvSpPr/>
          <p:nvPr/>
        </p:nvSpPr>
        <p:spPr>
          <a:xfrm>
            <a:off x="3404160" y="2384280"/>
            <a:ext cx="1634760" cy="493920"/>
          </a:xfrm>
          <a:prstGeom prst="rect">
            <a:avLst/>
          </a:prstGeom>
          <a:noFill/>
          <a:ln w="0">
            <a:noFill/>
          </a:ln>
        </p:spPr>
        <p:style>
          <a:lnRef idx="0">
            <a:scrgbClr r="0" g="0" b="0"/>
          </a:lnRef>
          <a:fillRef idx="0">
            <a:scrgbClr r="0" g="0" b="0"/>
          </a:fillRef>
          <a:effectRef idx="0">
            <a:scrgbClr r="0" g="0" b="0"/>
          </a:effectRef>
          <a:fontRef idx="minor"/>
        </p:style>
        <p:txBody>
          <a:bodyPr lIns="102240" tIns="102240" rIns="102240" bIns="102240" anchor="ctr">
            <a:spAutoFit/>
          </a:bodyPr>
          <a:lstStyle/>
          <a:p>
            <a:pPr defTabSz="914400">
              <a:lnSpc>
                <a:spcPct val="112000"/>
              </a:lnSpc>
              <a:tabLst>
                <a:tab pos="0" algn="l"/>
              </a:tabLst>
            </a:pPr>
            <a:r>
              <a:rPr lang="en-US" sz="850" b="0" strike="noStrike" spc="-1" dirty="0">
                <a:solidFill>
                  <a:srgbClr val="000000"/>
                </a:solidFill>
                <a:latin typeface="Times New Roman"/>
                <a:ea typeface="Times New Roman"/>
              </a:rPr>
              <a:t>Lat/Long, Availability, Timestamp</a:t>
            </a:r>
            <a:endParaRPr lang="en-US" sz="850" b="0" strike="noStrike" spc="-1" dirty="0">
              <a:solidFill>
                <a:srgbClr val="000000"/>
              </a:solidFill>
              <a:latin typeface="Arial"/>
            </a:endParaRPr>
          </a:p>
        </p:txBody>
      </p:sp>
      <p:sp>
        <p:nvSpPr>
          <p:cNvPr id="182" name="Text 17"/>
          <p:cNvSpPr/>
          <p:nvPr/>
        </p:nvSpPr>
        <p:spPr>
          <a:xfrm>
            <a:off x="5124960" y="2481120"/>
            <a:ext cx="1586880" cy="29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2000"/>
              </a:lnSpc>
              <a:tabLst>
                <a:tab pos="0" algn="l"/>
              </a:tabLst>
            </a:pPr>
            <a:r>
              <a:rPr lang="en-US" sz="850" b="0" strike="noStrike" spc="-1">
                <a:solidFill>
                  <a:srgbClr val="000000"/>
                </a:solidFill>
                <a:latin typeface="Times New Roman"/>
                <a:ea typeface="Times New Roman"/>
              </a:rPr>
              <a:t>Live operational tracking and GPS telemetry for dispatch.</a:t>
            </a:r>
            <a:endParaRPr lang="en-US" sz="850" b="0" strike="noStrike" spc="-1">
              <a:solidFill>
                <a:srgbClr val="000000"/>
              </a:solidFill>
              <a:latin typeface="Arial"/>
            </a:endParaRPr>
          </a:p>
        </p:txBody>
      </p:sp>
      <p:sp>
        <p:nvSpPr>
          <p:cNvPr id="183" name="Text 18"/>
          <p:cNvSpPr/>
          <p:nvPr/>
        </p:nvSpPr>
        <p:spPr>
          <a:xfrm>
            <a:off x="6210000" y="2637360"/>
            <a:ext cx="54360" cy="101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12000"/>
              </a:lnSpc>
              <a:tabLst>
                <a:tab pos="0" algn="l"/>
              </a:tabLst>
            </a:pPr>
            <a:r>
              <a:rPr lang="en-US" sz="600" b="1" strike="noStrike" spc="-1" baseline="30000">
                <a:solidFill>
                  <a:srgbClr val="003366"/>
                </a:solidFill>
                <a:latin typeface="Arial"/>
                <a:ea typeface="Arial"/>
              </a:rPr>
              <a:t>[4]</a:t>
            </a:r>
            <a:endParaRPr lang="en-US" sz="600" b="0" strike="noStrike" spc="-1">
              <a:solidFill>
                <a:srgbClr val="000000"/>
              </a:solidFill>
              <a:latin typeface="Arial"/>
            </a:endParaRPr>
          </a:p>
        </p:txBody>
      </p:sp>
      <p:sp>
        <p:nvSpPr>
          <p:cNvPr id="184" name="Text 19"/>
          <p:cNvSpPr/>
          <p:nvPr/>
        </p:nvSpPr>
        <p:spPr>
          <a:xfrm>
            <a:off x="2344680" y="3073680"/>
            <a:ext cx="391320" cy="135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12000"/>
              </a:lnSpc>
              <a:tabLst>
                <a:tab pos="0" algn="l"/>
              </a:tabLst>
            </a:pPr>
            <a:r>
              <a:rPr lang="en-US" sz="800" b="1" strike="noStrike" spc="-1">
                <a:solidFill>
                  <a:srgbClr val="000000"/>
                </a:solidFill>
                <a:latin typeface="Times New Roman"/>
                <a:ea typeface="Times New Roman"/>
              </a:rPr>
              <a:t>Requests</a:t>
            </a:r>
            <a:endParaRPr lang="en-US" sz="800" b="0" strike="noStrike" spc="-1">
              <a:solidFill>
                <a:srgbClr val="000000"/>
              </a:solidFill>
              <a:latin typeface="Arial"/>
            </a:endParaRPr>
          </a:p>
        </p:txBody>
      </p:sp>
      <p:sp>
        <p:nvSpPr>
          <p:cNvPr id="185" name="Text 20"/>
          <p:cNvSpPr/>
          <p:nvPr/>
        </p:nvSpPr>
        <p:spPr>
          <a:xfrm>
            <a:off x="3404160" y="2892240"/>
            <a:ext cx="1634760" cy="493920"/>
          </a:xfrm>
          <a:prstGeom prst="rect">
            <a:avLst/>
          </a:prstGeom>
          <a:noFill/>
          <a:ln w="0">
            <a:noFill/>
          </a:ln>
        </p:spPr>
        <p:style>
          <a:lnRef idx="0">
            <a:scrgbClr r="0" g="0" b="0"/>
          </a:lnRef>
          <a:fillRef idx="0">
            <a:scrgbClr r="0" g="0" b="0"/>
          </a:fillRef>
          <a:effectRef idx="0">
            <a:scrgbClr r="0" g="0" b="0"/>
          </a:effectRef>
          <a:fontRef idx="minor"/>
        </p:style>
        <p:txBody>
          <a:bodyPr lIns="102240" tIns="102240" rIns="102240" bIns="102240" anchor="ctr">
            <a:spAutoFit/>
          </a:bodyPr>
          <a:lstStyle/>
          <a:p>
            <a:pPr defTabSz="914400">
              <a:lnSpc>
                <a:spcPct val="112000"/>
              </a:lnSpc>
              <a:tabLst>
                <a:tab pos="0" algn="l"/>
              </a:tabLst>
            </a:pPr>
            <a:r>
              <a:rPr lang="en-US" sz="850" b="0" strike="noStrike" spc="-1">
                <a:solidFill>
                  <a:srgbClr val="000000"/>
                </a:solidFill>
                <a:latin typeface="Times New Roman"/>
                <a:ea typeface="Times New Roman"/>
              </a:rPr>
              <a:t>Requester, Type, Location, Lifecycle</a:t>
            </a:r>
            <a:endParaRPr lang="en-US" sz="850" b="0" strike="noStrike" spc="-1">
              <a:solidFill>
                <a:srgbClr val="000000"/>
              </a:solidFill>
              <a:latin typeface="Arial"/>
            </a:endParaRPr>
          </a:p>
        </p:txBody>
      </p:sp>
      <p:sp>
        <p:nvSpPr>
          <p:cNvPr id="186" name="Text 21"/>
          <p:cNvSpPr/>
          <p:nvPr/>
        </p:nvSpPr>
        <p:spPr>
          <a:xfrm>
            <a:off x="5124960" y="2989080"/>
            <a:ext cx="1565280" cy="29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2000"/>
              </a:lnSpc>
              <a:tabLst>
                <a:tab pos="0" algn="l"/>
              </a:tabLst>
            </a:pPr>
            <a:r>
              <a:rPr lang="en-US" sz="850" b="0" strike="noStrike" spc="-1">
                <a:solidFill>
                  <a:srgbClr val="000000"/>
                </a:solidFill>
                <a:latin typeface="Times New Roman"/>
                <a:ea typeface="Times New Roman"/>
              </a:rPr>
              <a:t>Record of emergency demand and event history for review.</a:t>
            </a:r>
            <a:endParaRPr lang="en-US" sz="850" b="0" strike="noStrike" spc="-1">
              <a:solidFill>
                <a:srgbClr val="000000"/>
              </a:solidFill>
              <a:latin typeface="Arial"/>
            </a:endParaRPr>
          </a:p>
        </p:txBody>
      </p:sp>
      <p:sp>
        <p:nvSpPr>
          <p:cNvPr id="187" name="Text 22"/>
          <p:cNvSpPr/>
          <p:nvPr/>
        </p:nvSpPr>
        <p:spPr>
          <a:xfrm>
            <a:off x="6294600" y="3145680"/>
            <a:ext cx="54360" cy="101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12000"/>
              </a:lnSpc>
              <a:tabLst>
                <a:tab pos="0" algn="l"/>
              </a:tabLst>
            </a:pPr>
            <a:r>
              <a:rPr lang="en-US" sz="600" b="1" strike="noStrike" spc="-1" baseline="30000">
                <a:solidFill>
                  <a:srgbClr val="003366"/>
                </a:solidFill>
                <a:latin typeface="Arial"/>
                <a:ea typeface="Arial"/>
              </a:rPr>
              <a:t>[2]</a:t>
            </a:r>
            <a:endParaRPr lang="en-US" sz="600" b="0" strike="noStrike" spc="-1">
              <a:solidFill>
                <a:srgbClr val="000000"/>
              </a:solidFill>
              <a:latin typeface="Arial"/>
            </a:endParaRPr>
          </a:p>
        </p:txBody>
      </p:sp>
      <p:sp>
        <p:nvSpPr>
          <p:cNvPr id="188" name="Text 23"/>
          <p:cNvSpPr/>
          <p:nvPr/>
        </p:nvSpPr>
        <p:spPr>
          <a:xfrm>
            <a:off x="2199020" y="3408480"/>
            <a:ext cx="467172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US" sz="900" b="1" strike="noStrike" spc="-1" dirty="0">
                <a:solidFill>
                  <a:srgbClr val="003366"/>
                </a:solidFill>
                <a:latin typeface="Arial"/>
                <a:ea typeface="Arial"/>
              </a:rPr>
              <a:t>RELIABILITY AND GOVERNANCE</a:t>
            </a:r>
            <a:endParaRPr lang="en-US" sz="900" b="0" strike="noStrike" spc="-1" dirty="0">
              <a:solidFill>
                <a:srgbClr val="000000"/>
              </a:solidFill>
              <a:latin typeface="Arial"/>
            </a:endParaRPr>
          </a:p>
        </p:txBody>
      </p:sp>
      <p:sp>
        <p:nvSpPr>
          <p:cNvPr id="189" name="Text 24"/>
          <p:cNvSpPr/>
          <p:nvPr/>
        </p:nvSpPr>
        <p:spPr>
          <a:xfrm>
            <a:off x="3071520" y="3671460"/>
            <a:ext cx="531360" cy="128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700" b="1" strike="noStrike" spc="-1" dirty="0">
                <a:solidFill>
                  <a:srgbClr val="003366"/>
                </a:solidFill>
                <a:latin typeface="Arial"/>
                <a:ea typeface="Arial"/>
              </a:rPr>
              <a:t>TIMELINESS</a:t>
            </a:r>
            <a:endParaRPr lang="en-US" sz="700" b="0" strike="noStrike" spc="-1" dirty="0">
              <a:solidFill>
                <a:srgbClr val="000000"/>
              </a:solidFill>
              <a:latin typeface="Arial"/>
            </a:endParaRPr>
          </a:p>
        </p:txBody>
      </p:sp>
      <p:sp>
        <p:nvSpPr>
          <p:cNvPr id="190" name="Text 25"/>
          <p:cNvSpPr/>
          <p:nvPr/>
        </p:nvSpPr>
        <p:spPr>
          <a:xfrm>
            <a:off x="2283840" y="3790718"/>
            <a:ext cx="2110320" cy="143181"/>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Minimizing the gap between supply and demand</a:t>
            </a:r>
            <a:endParaRPr lang="en-US" sz="850" b="0" strike="noStrike" spc="-1" dirty="0">
              <a:solidFill>
                <a:srgbClr val="000000"/>
              </a:solidFill>
              <a:latin typeface="Arial"/>
            </a:endParaRPr>
          </a:p>
        </p:txBody>
      </p:sp>
      <p:sp>
        <p:nvSpPr>
          <p:cNvPr id="191" name="Text 26"/>
          <p:cNvSpPr/>
          <p:nvPr/>
        </p:nvSpPr>
        <p:spPr>
          <a:xfrm>
            <a:off x="2274840" y="3907710"/>
            <a:ext cx="170352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through mathematical optimization and</a:t>
            </a:r>
            <a:endParaRPr lang="en-US" sz="850" b="0" strike="noStrike" spc="-1" dirty="0">
              <a:solidFill>
                <a:srgbClr val="000000"/>
              </a:solidFill>
              <a:latin typeface="Arial"/>
            </a:endParaRPr>
          </a:p>
        </p:txBody>
      </p:sp>
      <p:sp>
        <p:nvSpPr>
          <p:cNvPr id="192" name="Text 27"/>
          <p:cNvSpPr/>
          <p:nvPr/>
        </p:nvSpPr>
        <p:spPr>
          <a:xfrm>
            <a:off x="2283840" y="3999060"/>
            <a:ext cx="88344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proximity matching.</a:t>
            </a:r>
            <a:endParaRPr lang="en-US" sz="850" b="0" strike="noStrike" spc="-1" dirty="0">
              <a:solidFill>
                <a:srgbClr val="000000"/>
              </a:solidFill>
              <a:latin typeface="Arial"/>
            </a:endParaRPr>
          </a:p>
        </p:txBody>
      </p:sp>
      <p:sp>
        <p:nvSpPr>
          <p:cNvPr id="194" name="Text 29"/>
          <p:cNvSpPr/>
          <p:nvPr/>
        </p:nvSpPr>
        <p:spPr>
          <a:xfrm>
            <a:off x="5433340" y="3675240"/>
            <a:ext cx="531360" cy="128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700" b="1" strike="noStrike" spc="-1" dirty="0">
                <a:solidFill>
                  <a:srgbClr val="003366"/>
                </a:solidFill>
                <a:latin typeface="Arial"/>
                <a:ea typeface="Arial"/>
              </a:rPr>
              <a:t>RESILIENCE</a:t>
            </a:r>
            <a:endParaRPr lang="en-US" sz="700" b="0" strike="noStrike" spc="-1" dirty="0">
              <a:solidFill>
                <a:srgbClr val="000000"/>
              </a:solidFill>
              <a:latin typeface="Arial"/>
            </a:endParaRPr>
          </a:p>
        </p:txBody>
      </p:sp>
      <p:sp>
        <p:nvSpPr>
          <p:cNvPr id="195" name="Text 30"/>
          <p:cNvSpPr/>
          <p:nvPr/>
        </p:nvSpPr>
        <p:spPr>
          <a:xfrm>
            <a:off x="4688280" y="3801060"/>
            <a:ext cx="187272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Using scalable cloud frameworks to handle</a:t>
            </a:r>
            <a:endParaRPr lang="en-US" sz="850" b="0" strike="noStrike" spc="-1" dirty="0">
              <a:solidFill>
                <a:srgbClr val="000000"/>
              </a:solidFill>
              <a:latin typeface="Arial"/>
            </a:endParaRPr>
          </a:p>
        </p:txBody>
      </p:sp>
      <p:sp>
        <p:nvSpPr>
          <p:cNvPr id="196" name="Text 31"/>
          <p:cNvSpPr/>
          <p:nvPr/>
        </p:nvSpPr>
        <p:spPr>
          <a:xfrm>
            <a:off x="4679360" y="3907710"/>
            <a:ext cx="200196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sudden demand disruptions and mass-casualty</a:t>
            </a:r>
            <a:endParaRPr lang="en-US" sz="850" b="0" strike="noStrike" spc="-1" dirty="0">
              <a:solidFill>
                <a:srgbClr val="000000"/>
              </a:solidFill>
              <a:latin typeface="Arial"/>
            </a:endParaRPr>
          </a:p>
        </p:txBody>
      </p:sp>
      <p:sp>
        <p:nvSpPr>
          <p:cNvPr id="197" name="Text 32"/>
          <p:cNvSpPr/>
          <p:nvPr/>
        </p:nvSpPr>
        <p:spPr>
          <a:xfrm>
            <a:off x="4671440" y="3992800"/>
            <a:ext cx="29844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spikes.</a:t>
            </a:r>
            <a:endParaRPr lang="en-US" sz="850" b="0" strike="noStrike" spc="-1" dirty="0">
              <a:solidFill>
                <a:srgbClr val="000000"/>
              </a:solidFill>
              <a:latin typeface="Arial"/>
            </a:endParaRPr>
          </a:p>
        </p:txBody>
      </p:sp>
      <p:sp>
        <p:nvSpPr>
          <p:cNvPr id="199" name="Text 34"/>
          <p:cNvSpPr/>
          <p:nvPr/>
        </p:nvSpPr>
        <p:spPr>
          <a:xfrm>
            <a:off x="2970000" y="4234500"/>
            <a:ext cx="505440" cy="128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700" b="1" strike="noStrike" spc="-1" dirty="0">
                <a:solidFill>
                  <a:srgbClr val="003366"/>
                </a:solidFill>
                <a:latin typeface="Arial"/>
                <a:ea typeface="Arial"/>
              </a:rPr>
              <a:t>ACCURACY</a:t>
            </a:r>
            <a:endParaRPr lang="en-US" sz="700" b="0" strike="noStrike" spc="-1" dirty="0">
              <a:solidFill>
                <a:srgbClr val="000000"/>
              </a:solidFill>
              <a:latin typeface="Arial"/>
            </a:endParaRPr>
          </a:p>
        </p:txBody>
      </p:sp>
      <p:sp>
        <p:nvSpPr>
          <p:cNvPr id="200" name="Text 35"/>
          <p:cNvSpPr/>
          <p:nvPr/>
        </p:nvSpPr>
        <p:spPr>
          <a:xfrm>
            <a:off x="2269440" y="4365360"/>
            <a:ext cx="199152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Ensuring timely, accurate information reaches</a:t>
            </a:r>
            <a:endParaRPr lang="en-US" sz="850" b="0" strike="noStrike" spc="-1" dirty="0">
              <a:solidFill>
                <a:srgbClr val="000000"/>
              </a:solidFill>
              <a:latin typeface="Arial"/>
            </a:endParaRPr>
          </a:p>
        </p:txBody>
      </p:sp>
      <p:sp>
        <p:nvSpPr>
          <p:cNvPr id="201" name="Text 36"/>
          <p:cNvSpPr/>
          <p:nvPr/>
        </p:nvSpPr>
        <p:spPr>
          <a:xfrm>
            <a:off x="2259800" y="4494331"/>
            <a:ext cx="170964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first responders and receiving facilities.</a:t>
            </a:r>
            <a:endParaRPr lang="en-US" sz="850" b="0" strike="noStrike" spc="-1" dirty="0">
              <a:solidFill>
                <a:srgbClr val="000000"/>
              </a:solidFill>
              <a:latin typeface="Arial"/>
            </a:endParaRPr>
          </a:p>
        </p:txBody>
      </p:sp>
      <p:sp>
        <p:nvSpPr>
          <p:cNvPr id="203" name="Text 38"/>
          <p:cNvSpPr/>
          <p:nvPr/>
        </p:nvSpPr>
        <p:spPr>
          <a:xfrm>
            <a:off x="5220720" y="4234500"/>
            <a:ext cx="686880" cy="128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700" b="1" strike="noStrike" spc="-1" dirty="0">
                <a:solidFill>
                  <a:srgbClr val="003366"/>
                </a:solidFill>
                <a:latin typeface="Arial"/>
                <a:ea typeface="Arial"/>
              </a:rPr>
              <a:t>COORDINATION</a:t>
            </a:r>
            <a:endParaRPr lang="en-US" sz="700" b="0" strike="noStrike" spc="-1" dirty="0">
              <a:solidFill>
                <a:srgbClr val="000000"/>
              </a:solidFill>
              <a:latin typeface="Arial"/>
            </a:endParaRPr>
          </a:p>
        </p:txBody>
      </p:sp>
      <p:sp>
        <p:nvSpPr>
          <p:cNvPr id="204" name="Text 39"/>
          <p:cNvSpPr/>
          <p:nvPr/>
        </p:nvSpPr>
        <p:spPr>
          <a:xfrm>
            <a:off x="4688280" y="4378230"/>
            <a:ext cx="203580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Aligning key roles and responsibilities through</a:t>
            </a:r>
            <a:endParaRPr lang="en-US" sz="850" b="0" strike="noStrike" spc="-1" dirty="0">
              <a:solidFill>
                <a:srgbClr val="000000"/>
              </a:solidFill>
              <a:latin typeface="Arial"/>
            </a:endParaRPr>
          </a:p>
        </p:txBody>
      </p:sp>
      <p:sp>
        <p:nvSpPr>
          <p:cNvPr id="205" name="Text 40"/>
          <p:cNvSpPr/>
          <p:nvPr/>
        </p:nvSpPr>
        <p:spPr>
          <a:xfrm>
            <a:off x="4679360" y="4525350"/>
            <a:ext cx="1907640" cy="155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20000"/>
              </a:lnSpc>
              <a:tabLst>
                <a:tab pos="0" algn="l"/>
              </a:tabLst>
            </a:pPr>
            <a:r>
              <a:rPr lang="en-US" sz="850" b="0" strike="noStrike" spc="-1" dirty="0">
                <a:solidFill>
                  <a:srgbClr val="000000"/>
                </a:solidFill>
                <a:latin typeface="Times New Roman"/>
                <a:ea typeface="Times New Roman"/>
              </a:rPr>
              <a:t>flexible, standardized response frameworks.</a:t>
            </a:r>
            <a:endParaRPr lang="en-US" sz="850" b="0" strike="noStrike" spc="-1" dirty="0">
              <a:solidFill>
                <a:srgbClr val="000000"/>
              </a:solidFill>
              <a:latin typeface="Arial"/>
            </a:endParaRPr>
          </a:p>
        </p:txBody>
      </p:sp>
      <p:sp>
        <p:nvSpPr>
          <p:cNvPr id="207" name="Text 42"/>
          <p:cNvSpPr/>
          <p:nvPr/>
        </p:nvSpPr>
        <p:spPr>
          <a:xfrm>
            <a:off x="2235960" y="7508160"/>
            <a:ext cx="4671720" cy="183240"/>
          </a:xfrm>
          <a:prstGeom prst="rect">
            <a:avLst/>
          </a:prstGeom>
          <a:noFill/>
          <a:ln w="0">
            <a:noFill/>
          </a:ln>
        </p:spPr>
        <p:style>
          <a:lnRef idx="0">
            <a:scrgbClr r="0" g="0" b="0"/>
          </a:lnRef>
          <a:fillRef idx="0">
            <a:scrgbClr r="0" g="0" b="0"/>
          </a:fillRef>
          <a:effectRef idx="0">
            <a:scrgbClr r="0" g="0" b="0"/>
          </a:effectRef>
          <a:fontRef idx="minor"/>
        </p:style>
        <p:txBody>
          <a:bodyPr lIns="0" tIns="97200" rIns="0" bIns="-4680" anchor="t">
            <a:spAutoFit/>
          </a:bodyPr>
          <a:lstStyle/>
          <a:p>
            <a:pPr algn="r" defTabSz="914400">
              <a:lnSpc>
                <a:spcPct val="100000"/>
              </a:lnSpc>
              <a:tabLst>
                <a:tab pos="0" algn="l"/>
              </a:tabLst>
            </a:pPr>
            <a:r>
              <a:rPr lang="en-US" sz="600" b="0" strike="noStrike" spc="-1">
                <a:solidFill>
                  <a:srgbClr val="666666"/>
                </a:solidFill>
                <a:latin typeface="Arial"/>
                <a:ea typeface="Arial"/>
              </a:rPr>
              <a:t>Emergency Resource Allocation System | 8</a:t>
            </a:r>
            <a:endParaRPr lang="en-US" sz="6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TotalTime>
  <Words>355</Words>
  <Application>Microsoft Office PowerPoint</Application>
  <PresentationFormat>On-screen Show (16:9)</PresentationFormat>
  <Paragraphs>48</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Symbol</vt:lpstr>
      <vt:lpstr>Times New Roman</vt:lpstr>
      <vt:lpstr>Wingdings</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lastModifiedBy>Sanjay Ravi</cp:lastModifiedBy>
  <cp:revision>9</cp:revision>
  <dcterms:created xsi:type="dcterms:W3CDTF">2026-08-30T14:45:38Z</dcterms:created>
  <dcterms:modified xsi:type="dcterms:W3CDTF">2026-09-10T09:44:03Z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