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D38343C-9105-406C-AF4A-177ACFB029E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0ACB287-E94A-44F2-9502-1268F25CDF0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F8AB95C-51E9-45CE-9904-88D6B1F1727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202217-6098-4910-A8E2-09A51954DA0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9064B4-3BD4-4F7D-B854-FA93EE8976E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0"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C8A879A-2BC9-4418-99BA-4C18F41B146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3"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40D4D5F-0C74-41EC-9350-1FFEB138417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6"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758A8C2-9BD3-4203-BDED-6EC3A9C47E2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9"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D76C95C-F792-484F-B481-0EEC5BAE117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2"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5DA2711-360B-464E-B439-67BCAB0A927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5"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AE3339-8583-441A-8AFF-AB8C18704D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 name="Image 0" descr="preencoded.png"/>
          <p:cNvPicPr/>
          <p:nvPr/>
        </p:nvPicPr>
        <p:blipFill>
          <a:blip r:embed="rId1"/>
          <a:stretch/>
        </p:blipFill>
        <p:spPr>
          <a:xfrm>
            <a:off x="0" y="0"/>
            <a:ext cx="9143640" cy="8022240"/>
          </a:xfrm>
          <a:prstGeom prst="rect">
            <a:avLst/>
          </a:prstGeom>
          <a:ln w="0">
            <a:noFill/>
          </a:ln>
        </p:spPr>
      </p:pic>
      <p:sp>
        <p:nvSpPr>
          <p:cNvPr id="9"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 name="Text 1"/>
          <p:cNvSpPr/>
          <p:nvPr/>
        </p:nvSpPr>
        <p:spPr>
          <a:xfrm>
            <a:off x="2235960" y="1571760"/>
            <a:ext cx="4671720" cy="614880"/>
          </a:xfrm>
          <a:prstGeom prst="rect">
            <a:avLst/>
          </a:prstGeom>
          <a:noFill/>
          <a:ln w="0">
            <a:noFill/>
          </a:ln>
        </p:spPr>
        <p:style>
          <a:lnRef idx="0"/>
          <a:fillRef idx="0"/>
          <a:effectRef idx="0"/>
          <a:fontRef idx="minor"/>
        </p:style>
        <p:txBody>
          <a:bodyPr lIns="0" rIns="0" tIns="0" bIns="0" anchor="t">
            <a:spAutoFit/>
          </a:bodyPr>
          <a:p>
            <a:r>
              <a:rPr b="1" lang="en-US" sz="2100" spc="-1" strike="noStrike">
                <a:solidFill>
                  <a:srgbClr val="000000"/>
                </a:solidFill>
                <a:latin typeface="Times New Roman"/>
                <a:ea typeface="Times New Roman"/>
              </a:rPr>
              <a:t>EMERGENCY RESOURCE</a:t>
            </a:r>
            <a:endParaRPr b="0" lang="en-US" sz="2100" spc="-1" strike="noStrike">
              <a:solidFill>
                <a:srgbClr val="000000"/>
              </a:solidFill>
              <a:latin typeface="Arial"/>
            </a:endParaRPr>
          </a:p>
          <a:p>
            <a:pPr algn="ctr" defTabSz="914400">
              <a:lnSpc>
                <a:spcPct val="92000"/>
              </a:lnSpc>
              <a:tabLst>
                <a:tab algn="l" pos="0"/>
              </a:tabLst>
            </a:pPr>
            <a:r>
              <a:rPr b="1" lang="en-US" sz="2100" spc="-1" strike="noStrike">
                <a:solidFill>
                  <a:srgbClr val="000000"/>
                </a:solidFill>
                <a:latin typeface="Times New Roman"/>
                <a:ea typeface="Times New Roman"/>
              </a:rPr>
              <a:t>ALLOCATION SYSTEM</a:t>
            </a:r>
            <a:endParaRPr b="0" lang="en-US" sz="2100" spc="-1" strike="noStrike">
              <a:solidFill>
                <a:srgbClr val="000000"/>
              </a:solidFill>
              <a:latin typeface="Arial"/>
            </a:endParaRPr>
          </a:p>
        </p:txBody>
      </p:sp>
      <p:sp>
        <p:nvSpPr>
          <p:cNvPr id="11" name="Text 2"/>
          <p:cNvSpPr/>
          <p:nvPr/>
        </p:nvSpPr>
        <p:spPr>
          <a:xfrm>
            <a:off x="2405520" y="2797560"/>
            <a:ext cx="4332240" cy="204840"/>
          </a:xfrm>
          <a:prstGeom prst="rect">
            <a:avLst/>
          </a:prstGeom>
          <a:noFill/>
          <a:ln w="0">
            <a:noFill/>
          </a:ln>
        </p:spPr>
        <p:style>
          <a:lnRef idx="0"/>
          <a:fillRef idx="0"/>
          <a:effectRef idx="0"/>
          <a:fontRef idx="minor"/>
        </p:style>
        <p:txBody>
          <a:bodyPr wrap="none" lIns="0" rIns="0" tIns="0" bIns="0" anchor="t">
            <a:spAutoFit/>
          </a:bodyPr>
          <a:p>
            <a:pPr algn="ctr" defTabSz="914400">
              <a:lnSpc>
                <a:spcPct val="112000"/>
              </a:lnSpc>
              <a:tabLst>
                <a:tab algn="l" pos="0"/>
              </a:tabLst>
            </a:pPr>
            <a:r>
              <a:rPr b="0" i="1" lang="en-US" sz="1200" spc="-1" strike="noStrike">
                <a:solidFill>
                  <a:srgbClr val="003366"/>
                </a:solidFill>
                <a:latin typeface="Times New Roman"/>
                <a:ea typeface="Times New Roman"/>
              </a:rPr>
              <a:t>Optimized Coordination, Proximity Matching, and Real-Time Dispatch</a:t>
            </a:r>
            <a:endParaRPr b="0" lang="en-US" sz="1200" spc="-1" strike="noStrike">
              <a:solidFill>
                <a:srgbClr val="000000"/>
              </a:solidFill>
              <a:latin typeface="Arial"/>
            </a:endParaRPr>
          </a:p>
        </p:txBody>
      </p:sp>
      <p:sp>
        <p:nvSpPr>
          <p:cNvPr id="12" name="Text 3"/>
          <p:cNvSpPr/>
          <p:nvPr/>
        </p:nvSpPr>
        <p:spPr>
          <a:xfrm>
            <a:off x="2235960" y="4241880"/>
            <a:ext cx="4671720" cy="862560"/>
          </a:xfrm>
          <a:prstGeom prst="rect">
            <a:avLst/>
          </a:prstGeom>
          <a:noFill/>
          <a:ln w="0">
            <a:noFill/>
          </a:ln>
        </p:spPr>
        <p:style>
          <a:lnRef idx="0"/>
          <a:fillRef idx="0"/>
          <a:effectRef idx="0"/>
          <a:fontRef idx="minor"/>
        </p:style>
        <p:txBody>
          <a:bodyPr lIns="0" rIns="0" tIns="0" bIns="0" anchor="t">
            <a:spAutoFit/>
          </a:bodyPr>
          <a:p>
            <a:r>
              <a:rPr b="1" lang="en-US" sz="1000" spc="-1" strike="noStrike">
                <a:solidFill>
                  <a:srgbClr val="000000"/>
                </a:solidFill>
                <a:latin typeface="Times New Roman"/>
                <a:ea typeface="Times New Roman"/>
              </a:rPr>
              <a:t>Project Group</a:t>
            </a:r>
            <a:endParaRPr b="0" lang="en-US" sz="1000" spc="-1" strike="noStrike">
              <a:solidFill>
                <a:srgbClr val="000000"/>
              </a:solidFill>
              <a:latin typeface="Arial"/>
            </a:endParaRPr>
          </a:p>
          <a:p>
            <a:r>
              <a:rPr b="0" lang="en-US" sz="1050" spc="-1" strike="noStrike">
                <a:solidFill>
                  <a:srgbClr val="000000"/>
                </a:solidFill>
                <a:latin typeface="Times New Roman"/>
                <a:ea typeface="Times New Roman"/>
              </a:rPr>
              <a:t>Sabari Prasanth</a:t>
            </a:r>
            <a:endParaRPr b="0" lang="en-US" sz="1050" spc="-1" strike="noStrike">
              <a:solidFill>
                <a:srgbClr val="000000"/>
              </a:solidFill>
              <a:latin typeface="Arial"/>
            </a:endParaRPr>
          </a:p>
          <a:p>
            <a:r>
              <a:rPr b="0" lang="en-US" sz="1050" spc="-1" strike="noStrike">
                <a:solidFill>
                  <a:srgbClr val="000000"/>
                </a:solidFill>
                <a:latin typeface="Times New Roman"/>
                <a:ea typeface="Times New Roman"/>
              </a:rPr>
              <a:t>Sanosh</a:t>
            </a:r>
            <a:endParaRPr b="0" lang="en-US" sz="1050" spc="-1" strike="noStrike">
              <a:solidFill>
                <a:srgbClr val="000000"/>
              </a:solidFill>
              <a:latin typeface="Arial"/>
            </a:endParaRPr>
          </a:p>
          <a:p>
            <a:r>
              <a:rPr b="0" lang="en-US" sz="1050" spc="-1" strike="noStrike">
                <a:solidFill>
                  <a:srgbClr val="000000"/>
                </a:solidFill>
                <a:latin typeface="Times New Roman"/>
                <a:ea typeface="Times New Roman"/>
              </a:rPr>
              <a:t>Sayanth Jayakumar</a:t>
            </a:r>
            <a:endParaRPr b="0" lang="en-US" sz="1050" spc="-1" strike="noStrike">
              <a:solidFill>
                <a:srgbClr val="000000"/>
              </a:solidFill>
              <a:latin typeface="Arial"/>
            </a:endParaRPr>
          </a:p>
          <a:p>
            <a:pPr algn="ctr" defTabSz="914400">
              <a:lnSpc>
                <a:spcPct val="144000"/>
              </a:lnSpc>
              <a:tabLst>
                <a:tab algn="l" pos="0"/>
              </a:tabLst>
            </a:pPr>
            <a:r>
              <a:rPr b="0" lang="en-US" sz="1050" spc="-1" strike="noStrike">
                <a:solidFill>
                  <a:srgbClr val="000000"/>
                </a:solidFill>
                <a:latin typeface="Times New Roman"/>
                <a:ea typeface="Times New Roman"/>
              </a:rPr>
              <a:t>Sanjay Ravi</a:t>
            </a:r>
            <a:endParaRPr b="0" lang="en-US" sz="1050" spc="-1" strike="noStrike">
              <a:solidFill>
                <a:srgbClr val="000000"/>
              </a:solidFill>
              <a:latin typeface="Arial"/>
            </a:endParaRPr>
          </a:p>
        </p:txBody>
      </p:sp>
      <p:sp>
        <p:nvSpPr>
          <p:cNvPr id="13" name="Text 4"/>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1</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 name="Image 0" descr="preencoded.png"/>
          <p:cNvPicPr/>
          <p:nvPr/>
        </p:nvPicPr>
        <p:blipFill>
          <a:blip r:embed="rId1"/>
          <a:stretch/>
        </p:blipFill>
        <p:spPr>
          <a:xfrm>
            <a:off x="0" y="0"/>
            <a:ext cx="9143640" cy="8022240"/>
          </a:xfrm>
          <a:prstGeom prst="rect">
            <a:avLst/>
          </a:prstGeom>
          <a:ln w="0">
            <a:noFill/>
          </a:ln>
        </p:spPr>
      </p:pic>
      <p:sp>
        <p:nvSpPr>
          <p:cNvPr id="15"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 name="Text 1"/>
          <p:cNvSpPr/>
          <p:nvPr/>
        </p:nvSpPr>
        <p:spPr>
          <a:xfrm>
            <a:off x="2305800" y="689040"/>
            <a:ext cx="1104480" cy="294480"/>
          </a:xfrm>
          <a:prstGeom prst="rect">
            <a:avLst/>
          </a:prstGeom>
          <a:noFill/>
          <a:ln w="0">
            <a:noFill/>
          </a:ln>
        </p:spPr>
        <p:style>
          <a:lnRef idx="0"/>
          <a:fillRef idx="0"/>
          <a:effectRef idx="0"/>
          <a:fontRef idx="minor"/>
        </p:style>
        <p:txBody>
          <a:bodyPr wrap="none"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ABSTRACT</a:t>
            </a:r>
            <a:endParaRPr b="0" lang="en-US" sz="1600" spc="-1" strike="noStrike">
              <a:solidFill>
                <a:srgbClr val="000000"/>
              </a:solidFill>
              <a:latin typeface="Arial"/>
            </a:endParaRPr>
          </a:p>
        </p:txBody>
      </p:sp>
      <p:sp>
        <p:nvSpPr>
          <p:cNvPr id="17" name="Text 2"/>
          <p:cNvSpPr/>
          <p:nvPr/>
        </p:nvSpPr>
        <p:spPr>
          <a:xfrm>
            <a:off x="2235960" y="1310400"/>
            <a:ext cx="4671720" cy="1694520"/>
          </a:xfrm>
          <a:prstGeom prst="rect">
            <a:avLst/>
          </a:prstGeom>
          <a:noFill/>
          <a:ln w="0">
            <a:noFill/>
          </a:ln>
        </p:spPr>
        <p:style>
          <a:lnRef idx="0"/>
          <a:fillRef idx="0"/>
          <a:effectRef idx="0"/>
          <a:fontRef idx="minor"/>
        </p:style>
        <p:txBody>
          <a:bodyPr lIns="0" rIns="0" tIns="0" bIns="0" anchor="t">
            <a:spAutoFit/>
          </a:bodyPr>
          <a:p>
            <a:r>
              <a:rPr b="0" lang="en-US" sz="1050" spc="-1" strike="noStrike">
                <a:solidFill>
                  <a:srgbClr val="000000"/>
                </a:solidFill>
                <a:latin typeface="Times New Roman"/>
                <a:ea typeface="Times New Roman"/>
              </a:rPr>
              <a:t>The </a:t>
            </a:r>
            <a:r>
              <a:rPr b="1" lang="en-US" sz="1000" spc="-1" strike="noStrike">
                <a:solidFill>
                  <a:srgbClr val="000000"/>
                </a:solidFill>
                <a:latin typeface="Times New Roman"/>
                <a:ea typeface="Times New Roman"/>
              </a:rPr>
              <a:t>Emergency Resource Allocation System</a:t>
            </a:r>
            <a:r>
              <a:rPr b="0" lang="en-US" sz="1050" spc="-1" strike="noStrike">
                <a:solidFill>
                  <a:srgbClr val="000000"/>
                </a:solidFill>
                <a:latin typeface="Times New Roman"/>
                <a:ea typeface="Times New Roman"/>
              </a:rPr>
              <a:t> is a digital information and coordination platform designed to optimize the deployment of critical medical and disaster-response assets. Effective public safety depends on comprehensive disaster recognition and reliable response schemes. [1]</a:t>
            </a:r>
            <a:endParaRPr b="0" lang="en-US" sz="1050" spc="-1" strike="noStrike">
              <a:solidFill>
                <a:srgbClr val="000000"/>
              </a:solidFill>
              <a:latin typeface="Arial"/>
            </a:endParaRPr>
          </a:p>
          <a:p>
            <a:pPr algn="just" defTabSz="914400">
              <a:lnSpc>
                <a:spcPct val="132000"/>
              </a:lnSpc>
              <a:tabLst>
                <a:tab algn="l" pos="0"/>
              </a:tabLst>
            </a:pPr>
            <a:r>
              <a:rPr b="0" lang="en-US" sz="1050" spc="-1" strike="noStrike">
                <a:solidFill>
                  <a:srgbClr val="000000"/>
                </a:solidFill>
                <a:latin typeface="Times New Roman"/>
                <a:ea typeface="Times New Roman"/>
              </a:rPr>
              <a:t>The system integrates a geospatial database with real-time matching algorithms to manage ambulances, blood units, volunteers, and other emergency assets. By automating search, reservation, and tracking, the platform aims to reduce coordination delays, improve response speed, and provide transparent records for operational review. [1] [2]</a:t>
            </a:r>
            <a:endParaRPr b="0" lang="en-US" sz="1050" spc="-1" strike="noStrike">
              <a:solidFill>
                <a:srgbClr val="000000"/>
              </a:solidFill>
              <a:latin typeface="Arial"/>
            </a:endParaRPr>
          </a:p>
        </p:txBody>
      </p:sp>
      <p:sp>
        <p:nvSpPr>
          <p:cNvPr id="18" name="Text 3"/>
          <p:cNvSpPr/>
          <p:nvPr/>
        </p:nvSpPr>
        <p:spPr>
          <a:xfrm>
            <a:off x="2235960" y="4096440"/>
            <a:ext cx="4671720" cy="786960"/>
          </a:xfrm>
          <a:prstGeom prst="rect">
            <a:avLst/>
          </a:prstGeom>
          <a:noFill/>
          <a:ln w="0">
            <a:noFill/>
          </a:ln>
        </p:spPr>
        <p:style>
          <a:lnRef idx="0"/>
          <a:fillRef idx="0"/>
          <a:effectRef idx="0"/>
          <a:fontRef idx="minor"/>
        </p:style>
        <p:txBody>
          <a:bodyPr lIns="0" rIns="0" tIns="212760" bIns="0" anchor="t">
            <a:spAutoFit/>
          </a:bodyPr>
          <a:p>
            <a:pPr defTabSz="914400">
              <a:lnSpc>
                <a:spcPct val="120000"/>
              </a:lnSpc>
              <a:tabLst>
                <a:tab algn="l" pos="0"/>
              </a:tabLst>
            </a:pPr>
            <a:r>
              <a:rPr b="1" lang="en-US" sz="1000" spc="-1" strike="noStrike">
                <a:solidFill>
                  <a:srgbClr val="003366"/>
                </a:solidFill>
                <a:latin typeface="Times New Roman"/>
                <a:ea typeface="Times New Roman"/>
              </a:rPr>
              <a:t>Key contribution:</a:t>
            </a:r>
            <a:r>
              <a:rPr b="0" lang="en-US" sz="1050" spc="-1" strike="noStrike">
                <a:solidFill>
                  <a:srgbClr val="000000"/>
                </a:solidFill>
                <a:latin typeface="Times New Roman"/>
                <a:ea typeface="Times New Roman"/>
              </a:rPr>
              <a:t> The project translates established allocation, dispatch, and coordination concepts into a practical requester-and-responder platform for local and regional emergency operations.</a:t>
            </a:r>
            <a:endParaRPr b="0" lang="en-US" sz="1050" spc="-1" strike="noStrike">
              <a:solidFill>
                <a:srgbClr val="000000"/>
              </a:solidFill>
              <a:latin typeface="Arial"/>
            </a:endParaRPr>
          </a:p>
        </p:txBody>
      </p:sp>
      <p:sp>
        <p:nvSpPr>
          <p:cNvPr id="19" name="Text 4"/>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2</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Image 0" descr="preencoded.png"/>
          <p:cNvPicPr/>
          <p:nvPr/>
        </p:nvPicPr>
        <p:blipFill>
          <a:blip r:embed="rId1"/>
          <a:stretch/>
        </p:blipFill>
        <p:spPr>
          <a:xfrm>
            <a:off x="0" y="0"/>
            <a:ext cx="9143640" cy="8022240"/>
          </a:xfrm>
          <a:prstGeom prst="rect">
            <a:avLst/>
          </a:prstGeom>
          <a:ln w="0">
            <a:noFill/>
          </a:ln>
        </p:spPr>
      </p:pic>
      <p:sp>
        <p:nvSpPr>
          <p:cNvPr id="21"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 name="Text 1"/>
          <p:cNvSpPr/>
          <p:nvPr/>
        </p:nvSpPr>
        <p:spPr>
          <a:xfrm>
            <a:off x="2200320" y="689040"/>
            <a:ext cx="1447920" cy="29448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OBJECTIVES</a:t>
            </a:r>
            <a:endParaRPr b="0" lang="en-US" sz="1600" spc="-1" strike="noStrike">
              <a:solidFill>
                <a:srgbClr val="000000"/>
              </a:solidFill>
              <a:latin typeface="Arial"/>
            </a:endParaRPr>
          </a:p>
        </p:txBody>
      </p:sp>
      <p:sp>
        <p:nvSpPr>
          <p:cNvPr id="23" name="Text 2"/>
          <p:cNvSpPr/>
          <p:nvPr/>
        </p:nvSpPr>
        <p:spPr>
          <a:xfrm>
            <a:off x="2200320" y="126756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1.</a:t>
            </a:r>
            <a:r>
              <a:rPr b="0" lang="en-US" sz="900" spc="-1" strike="noStrike">
                <a:solidFill>
                  <a:srgbClr val="000000"/>
                </a:solidFill>
                <a:latin typeface="Times New Roman"/>
                <a:ea typeface="Times New Roman"/>
              </a:rPr>
              <a:t> Provide a digital interface for coordinating emergency resources. </a:t>
            </a:r>
            <a:r>
              <a:rPr b="0" lang="en-US" sz="600" spc="-1" strike="noStrike" baseline="30000">
                <a:solidFill>
                  <a:srgbClr val="003366"/>
                </a:solidFill>
                <a:latin typeface="Arial"/>
                <a:ea typeface="Arial"/>
              </a:rPr>
              <a:t>[3]</a:t>
            </a:r>
            <a:endParaRPr b="0" lang="en-US" sz="600" spc="-1" strike="noStrike">
              <a:solidFill>
                <a:srgbClr val="000000"/>
              </a:solidFill>
              <a:latin typeface="Arial"/>
            </a:endParaRPr>
          </a:p>
        </p:txBody>
      </p:sp>
      <p:sp>
        <p:nvSpPr>
          <p:cNvPr id="24" name="Text 3"/>
          <p:cNvSpPr/>
          <p:nvPr/>
        </p:nvSpPr>
        <p:spPr>
          <a:xfrm>
            <a:off x="4696920" y="1267560"/>
            <a:ext cx="2246400" cy="47880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2.</a:t>
            </a:r>
            <a:r>
              <a:rPr b="0" lang="en-US" sz="900" spc="-1" strike="noStrike">
                <a:solidFill>
                  <a:srgbClr val="000000"/>
                </a:solidFill>
                <a:latin typeface="Times New Roman"/>
                <a:ea typeface="Times New Roman"/>
              </a:rPr>
              <a:t> Enable requesters to identify and request ambulances, blood units, volunteers, and other assets.</a:t>
            </a:r>
            <a:endParaRPr b="0" lang="en-US" sz="900" spc="-1" strike="noStrike">
              <a:solidFill>
                <a:srgbClr val="000000"/>
              </a:solidFill>
              <a:latin typeface="Arial"/>
            </a:endParaRPr>
          </a:p>
        </p:txBody>
      </p:sp>
      <p:sp>
        <p:nvSpPr>
          <p:cNvPr id="25" name="Text 4"/>
          <p:cNvSpPr/>
          <p:nvPr/>
        </p:nvSpPr>
        <p:spPr>
          <a:xfrm>
            <a:off x="2200320" y="196740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3.</a:t>
            </a:r>
            <a:r>
              <a:rPr b="0" lang="en-US" sz="900" spc="-1" strike="noStrike">
                <a:solidFill>
                  <a:srgbClr val="000000"/>
                </a:solidFill>
                <a:latin typeface="Times New Roman"/>
                <a:ea typeface="Times New Roman"/>
              </a:rPr>
              <a:t> Use proximity-based matching to identify suitable nearby responders. </a:t>
            </a:r>
            <a:r>
              <a:rPr b="0" lang="en-US" sz="600" spc="-1" strike="noStrike" baseline="30000">
                <a:solidFill>
                  <a:srgbClr val="003366"/>
                </a:solidFill>
                <a:latin typeface="Arial"/>
                <a:ea typeface="Arial"/>
              </a:rPr>
              <a:t>[1]</a:t>
            </a:r>
            <a:endParaRPr b="0" lang="en-US" sz="600" spc="-1" strike="noStrike">
              <a:solidFill>
                <a:srgbClr val="000000"/>
              </a:solidFill>
              <a:latin typeface="Arial"/>
            </a:endParaRPr>
          </a:p>
        </p:txBody>
      </p:sp>
      <p:sp>
        <p:nvSpPr>
          <p:cNvPr id="26" name="Text 5"/>
          <p:cNvSpPr/>
          <p:nvPr/>
        </p:nvSpPr>
        <p:spPr>
          <a:xfrm>
            <a:off x="4696920" y="196740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4.</a:t>
            </a:r>
            <a:r>
              <a:rPr b="0" lang="en-US" sz="900" spc="-1" strike="noStrike">
                <a:solidFill>
                  <a:srgbClr val="000000"/>
                </a:solidFill>
                <a:latin typeface="Times New Roman"/>
                <a:ea typeface="Times New Roman"/>
              </a:rPr>
              <a:t> Deliver live status updates and GPS tracking for dispatched assets. </a:t>
            </a:r>
            <a:r>
              <a:rPr b="0" lang="en-US" sz="600" spc="-1" strike="noStrike" baseline="30000">
                <a:solidFill>
                  <a:srgbClr val="003366"/>
                </a:solidFill>
                <a:latin typeface="Arial"/>
                <a:ea typeface="Arial"/>
              </a:rPr>
              <a:t>[4]</a:t>
            </a:r>
            <a:endParaRPr b="0" lang="en-US" sz="600" spc="-1" strike="noStrike">
              <a:solidFill>
                <a:srgbClr val="000000"/>
              </a:solidFill>
              <a:latin typeface="Arial"/>
            </a:endParaRPr>
          </a:p>
        </p:txBody>
      </p:sp>
      <p:sp>
        <p:nvSpPr>
          <p:cNvPr id="27" name="Text 6"/>
          <p:cNvSpPr/>
          <p:nvPr/>
        </p:nvSpPr>
        <p:spPr>
          <a:xfrm>
            <a:off x="2200320" y="249084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5.</a:t>
            </a:r>
            <a:r>
              <a:rPr b="0" lang="en-US" sz="900" spc="-1" strike="noStrike">
                <a:solidFill>
                  <a:srgbClr val="000000"/>
                </a:solidFill>
                <a:latin typeface="Times New Roman"/>
                <a:ea typeface="Times New Roman"/>
              </a:rPr>
              <a:t> Support responder acceptance and field-status updates. </a:t>
            </a:r>
            <a:r>
              <a:rPr b="0" lang="en-US" sz="600" spc="-1" strike="noStrike" baseline="30000">
                <a:solidFill>
                  <a:srgbClr val="003366"/>
                </a:solidFill>
                <a:latin typeface="Arial"/>
                <a:ea typeface="Arial"/>
              </a:rPr>
              <a:t>[4]</a:t>
            </a:r>
            <a:endParaRPr b="0" lang="en-US" sz="600" spc="-1" strike="noStrike">
              <a:solidFill>
                <a:srgbClr val="000000"/>
              </a:solidFill>
              <a:latin typeface="Arial"/>
            </a:endParaRPr>
          </a:p>
        </p:txBody>
      </p:sp>
      <p:sp>
        <p:nvSpPr>
          <p:cNvPr id="28" name="Text 7"/>
          <p:cNvSpPr/>
          <p:nvPr/>
        </p:nvSpPr>
        <p:spPr>
          <a:xfrm>
            <a:off x="4696920" y="249084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6.</a:t>
            </a:r>
            <a:r>
              <a:rPr b="0" lang="en-US" sz="900" spc="-1" strike="noStrike">
                <a:solidFill>
                  <a:srgbClr val="000000"/>
                </a:solidFill>
                <a:latin typeface="Times New Roman"/>
                <a:ea typeface="Times New Roman"/>
              </a:rPr>
              <a:t> Prevent double-booking through transactional reservation controls.</a:t>
            </a:r>
            <a:endParaRPr b="0" lang="en-US" sz="900" spc="-1" strike="noStrike">
              <a:solidFill>
                <a:srgbClr val="000000"/>
              </a:solidFill>
              <a:latin typeface="Arial"/>
            </a:endParaRPr>
          </a:p>
        </p:txBody>
      </p:sp>
      <p:sp>
        <p:nvSpPr>
          <p:cNvPr id="29" name="Text 8"/>
          <p:cNvSpPr/>
          <p:nvPr/>
        </p:nvSpPr>
        <p:spPr>
          <a:xfrm>
            <a:off x="2200320" y="301464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7.</a:t>
            </a:r>
            <a:r>
              <a:rPr b="0" lang="en-US" sz="900" spc="-1" strike="noStrike">
                <a:solidFill>
                  <a:srgbClr val="000000"/>
                </a:solidFill>
                <a:latin typeface="Times New Roman"/>
                <a:ea typeface="Times New Roman"/>
              </a:rPr>
              <a:t> Maintain records of requests, matches, and operational transitions. </a:t>
            </a:r>
            <a:r>
              <a:rPr b="0"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30" name="Text 9"/>
          <p:cNvSpPr/>
          <p:nvPr/>
        </p:nvSpPr>
        <p:spPr>
          <a:xfrm>
            <a:off x="4696920" y="301464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8.</a:t>
            </a:r>
            <a:r>
              <a:rPr b="0" lang="en-US" sz="900" spc="-1" strike="noStrike">
                <a:solidFill>
                  <a:srgbClr val="000000"/>
                </a:solidFill>
                <a:latin typeface="Times New Roman"/>
                <a:ea typeface="Times New Roman"/>
              </a:rPr>
              <a:t> Scale to simultaneous requests during disaster surges. </a:t>
            </a:r>
            <a:r>
              <a:rPr b="0"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31" name="Text 10"/>
          <p:cNvSpPr/>
          <p:nvPr/>
        </p:nvSpPr>
        <p:spPr>
          <a:xfrm>
            <a:off x="2200320" y="353808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9.</a:t>
            </a:r>
            <a:r>
              <a:rPr b="0" lang="en-US" sz="900" spc="-1" strike="noStrike">
                <a:solidFill>
                  <a:srgbClr val="000000"/>
                </a:solidFill>
                <a:latin typeface="Times New Roman"/>
                <a:ea typeface="Times New Roman"/>
              </a:rPr>
              <a:t> Reduce manual coordination errors and information gaps. </a:t>
            </a:r>
            <a:r>
              <a:rPr b="0" lang="en-US" sz="600" spc="-1" strike="noStrike" baseline="30000">
                <a:solidFill>
                  <a:srgbClr val="003366"/>
                </a:solidFill>
                <a:latin typeface="Arial"/>
                <a:ea typeface="Arial"/>
              </a:rPr>
              <a:t>[5]</a:t>
            </a:r>
            <a:endParaRPr b="0" lang="en-US" sz="600" spc="-1" strike="noStrike">
              <a:solidFill>
                <a:srgbClr val="000000"/>
              </a:solidFill>
              <a:latin typeface="Arial"/>
            </a:endParaRPr>
          </a:p>
        </p:txBody>
      </p:sp>
      <p:sp>
        <p:nvSpPr>
          <p:cNvPr id="32" name="Text 11"/>
          <p:cNvSpPr/>
          <p:nvPr/>
        </p:nvSpPr>
        <p:spPr>
          <a:xfrm>
            <a:off x="4696920" y="3538080"/>
            <a:ext cx="2246400" cy="319320"/>
          </a:xfrm>
          <a:prstGeom prst="rect">
            <a:avLst/>
          </a:prstGeom>
          <a:noFill/>
          <a:ln w="0">
            <a:noFill/>
          </a:ln>
        </p:spPr>
        <p:style>
          <a:lnRef idx="0"/>
          <a:fillRef idx="0"/>
          <a:effectRef idx="0"/>
          <a:fontRef idx="minor"/>
        </p:style>
        <p:txBody>
          <a:bodyPr lIns="0" rIns="0" tIns="0" bIns="0" anchor="t">
            <a:spAutoFit/>
          </a:bodyPr>
          <a:p>
            <a:pPr defTabSz="914400">
              <a:lnSpc>
                <a:spcPct val="116000"/>
              </a:lnSpc>
              <a:tabLst>
                <a:tab algn="l" pos="0"/>
              </a:tabLst>
            </a:pPr>
            <a:r>
              <a:rPr b="1" lang="en-US" sz="850" spc="-1" strike="noStrike">
                <a:solidFill>
                  <a:srgbClr val="003366"/>
                </a:solidFill>
                <a:latin typeface="Arial"/>
                <a:ea typeface="Arial"/>
              </a:rPr>
              <a:t>10.</a:t>
            </a:r>
            <a:r>
              <a:rPr b="0" lang="en-US" sz="900" spc="-1" strike="noStrike">
                <a:solidFill>
                  <a:srgbClr val="000000"/>
                </a:solidFill>
                <a:latin typeface="Times New Roman"/>
                <a:ea typeface="Times New Roman"/>
              </a:rPr>
              <a:t> Provide data for performance analysis and after-action review. </a:t>
            </a:r>
            <a:r>
              <a:rPr b="0" lang="en-US" sz="600" spc="-1" strike="noStrike" baseline="30000">
                <a:solidFill>
                  <a:srgbClr val="003366"/>
                </a:solidFill>
                <a:latin typeface="Arial"/>
                <a:ea typeface="Arial"/>
              </a:rPr>
              <a:t>[6]</a:t>
            </a:r>
            <a:endParaRPr b="0" lang="en-US" sz="600" spc="-1" strike="noStrike">
              <a:solidFill>
                <a:srgbClr val="000000"/>
              </a:solidFill>
              <a:latin typeface="Arial"/>
            </a:endParaRPr>
          </a:p>
        </p:txBody>
      </p:sp>
      <p:sp>
        <p:nvSpPr>
          <p:cNvPr id="33" name="Text 12"/>
          <p:cNvSpPr/>
          <p:nvPr/>
        </p:nvSpPr>
        <p:spPr>
          <a:xfrm>
            <a:off x="2200320" y="7508160"/>
            <a:ext cx="474300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3</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Image 0" descr="preencoded.png"/>
          <p:cNvPicPr/>
          <p:nvPr/>
        </p:nvPicPr>
        <p:blipFill>
          <a:blip r:embed="rId1"/>
          <a:stretch/>
        </p:blipFill>
        <p:spPr>
          <a:xfrm>
            <a:off x="0" y="0"/>
            <a:ext cx="9143640" cy="8794800"/>
          </a:xfrm>
          <a:prstGeom prst="rect">
            <a:avLst/>
          </a:prstGeom>
          <a:ln w="0">
            <a:noFill/>
          </a:ln>
        </p:spPr>
      </p:pic>
      <p:sp>
        <p:nvSpPr>
          <p:cNvPr id="35" name="Shape 0"/>
          <p:cNvSpPr/>
          <p:nvPr/>
        </p:nvSpPr>
        <p:spPr>
          <a:xfrm>
            <a:off x="1735920" y="0"/>
            <a:ext cx="5671800" cy="879480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 name="Text 1"/>
          <p:cNvSpPr/>
          <p:nvPr/>
        </p:nvSpPr>
        <p:spPr>
          <a:xfrm>
            <a:off x="2235960" y="689040"/>
            <a:ext cx="1892160" cy="29448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METHODOLOGY</a:t>
            </a:r>
            <a:endParaRPr b="0" lang="en-US" sz="1600" spc="-1" strike="noStrike">
              <a:solidFill>
                <a:srgbClr val="000000"/>
              </a:solidFill>
              <a:latin typeface="Arial"/>
            </a:endParaRPr>
          </a:p>
        </p:txBody>
      </p:sp>
      <p:sp>
        <p:nvSpPr>
          <p:cNvPr id="37" name="Text 2"/>
          <p:cNvSpPr/>
          <p:nvPr/>
        </p:nvSpPr>
        <p:spPr>
          <a:xfrm>
            <a:off x="2235960" y="1224720"/>
            <a:ext cx="4671720" cy="694440"/>
          </a:xfrm>
          <a:prstGeom prst="rect">
            <a:avLst/>
          </a:prstGeom>
          <a:noFill/>
          <a:ln w="0">
            <a:noFill/>
          </a:ln>
        </p:spPr>
        <p:style>
          <a:lnRef idx="0"/>
          <a:fillRef idx="0"/>
          <a:effectRef idx="0"/>
          <a:fontRef idx="minor"/>
        </p:style>
        <p:txBody>
          <a:bodyPr lIns="0" rIns="0" tIns="0" bIns="0" anchor="t">
            <a:spAutoFit/>
          </a:bodyPr>
          <a:p>
            <a:pPr algn="just" defTabSz="914400">
              <a:lnSpc>
                <a:spcPct val="120000"/>
              </a:lnSpc>
              <a:tabLst>
                <a:tab algn="l" pos="0"/>
              </a:tabLst>
            </a:pPr>
            <a:r>
              <a:rPr b="0" lang="en-US" sz="950" spc="-1" strike="noStrike">
                <a:solidFill>
                  <a:srgbClr val="000000"/>
                </a:solidFill>
                <a:latin typeface="Times New Roman"/>
                <a:ea typeface="Times New Roman"/>
              </a:rPr>
              <a:t>The proposed system employs a multiobjective, multiperiod allocation model integrated with path planning and geospatial analysis. [1] The methodology focuses on enhancing digital information and coordination through a detailed user-centered design and a robust technical architecture. [3]</a:t>
            </a:r>
            <a:endParaRPr b="0" lang="en-US" sz="950" spc="-1" strike="noStrike">
              <a:solidFill>
                <a:srgbClr val="000000"/>
              </a:solidFill>
              <a:latin typeface="Arial"/>
            </a:endParaRPr>
          </a:p>
        </p:txBody>
      </p:sp>
      <p:sp>
        <p:nvSpPr>
          <p:cNvPr id="38" name="Text 3"/>
          <p:cNvSpPr/>
          <p:nvPr/>
        </p:nvSpPr>
        <p:spPr>
          <a:xfrm>
            <a:off x="2235960" y="2210400"/>
            <a:ext cx="4671720" cy="16812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1100" spc="-1" strike="noStrike">
                <a:solidFill>
                  <a:srgbClr val="003366"/>
                </a:solidFill>
                <a:latin typeface="Times New Roman"/>
                <a:ea typeface="Times New Roman"/>
              </a:rPr>
              <a:t>SYSTEM ARCHITECTURE</a:t>
            </a:r>
            <a:endParaRPr b="0" lang="en-US" sz="1100" spc="-1" strike="noStrike">
              <a:solidFill>
                <a:srgbClr val="000000"/>
              </a:solidFill>
              <a:latin typeface="Arial"/>
            </a:endParaRPr>
          </a:p>
        </p:txBody>
      </p:sp>
      <p:sp>
        <p:nvSpPr>
          <p:cNvPr id="39" name="Shape 4"/>
          <p:cNvSpPr/>
          <p:nvPr/>
        </p:nvSpPr>
        <p:spPr>
          <a:xfrm>
            <a:off x="2964600" y="2499840"/>
            <a:ext cx="3214440" cy="37836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 name="Text 5"/>
          <p:cNvSpPr/>
          <p:nvPr/>
        </p:nvSpPr>
        <p:spPr>
          <a:xfrm>
            <a:off x="2964600" y="2499840"/>
            <a:ext cx="3214440" cy="275400"/>
          </a:xfrm>
          <a:prstGeom prst="rect">
            <a:avLst/>
          </a:prstGeom>
          <a:noFill/>
          <a:ln w="0">
            <a:noFill/>
          </a:ln>
        </p:spPr>
        <p:style>
          <a:lnRef idx="0"/>
          <a:fillRef idx="0"/>
          <a:effectRef idx="0"/>
          <a:fontRef idx="minor"/>
        </p:style>
        <p:txBody>
          <a:bodyPr lIns="127440" rIns="127440" tIns="69120" bIns="69120" anchor="t">
            <a:spAutoFit/>
          </a:bodyPr>
          <a:p>
            <a:pPr algn="ctr" defTabSz="914400">
              <a:lnSpc>
                <a:spcPct val="100000"/>
              </a:lnSpc>
              <a:tabLst>
                <a:tab algn="l" pos="0"/>
              </a:tabLst>
            </a:pPr>
            <a:r>
              <a:rPr b="1" lang="en-US" sz="900" spc="-1" strike="noStrike">
                <a:solidFill>
                  <a:srgbClr val="000000"/>
                </a:solidFill>
                <a:latin typeface="Times New Roman"/>
                <a:ea typeface="Times New Roman"/>
              </a:rPr>
              <a:t>User Interface (Web / Mobile)</a:t>
            </a:r>
            <a:endParaRPr b="0" lang="en-US" sz="900" spc="-1" strike="noStrike">
              <a:solidFill>
                <a:srgbClr val="000000"/>
              </a:solidFill>
              <a:latin typeface="Arial"/>
            </a:endParaRPr>
          </a:p>
        </p:txBody>
      </p:sp>
      <p:sp>
        <p:nvSpPr>
          <p:cNvPr id="41" name="Text 6"/>
          <p:cNvSpPr/>
          <p:nvPr/>
        </p:nvSpPr>
        <p:spPr>
          <a:xfrm>
            <a:off x="4533120" y="2935800"/>
            <a:ext cx="77400" cy="1832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1" lang="en-US" sz="1200" spc="-1" strike="noStrike">
                <a:solidFill>
                  <a:srgbClr val="003366"/>
                </a:solidFill>
                <a:latin typeface="Times New Roman"/>
                <a:ea typeface="Times New Roman"/>
              </a:rPr>
              <a:t>↓</a:t>
            </a:r>
            <a:endParaRPr b="0" lang="en-US" sz="1200" spc="-1" strike="noStrike">
              <a:solidFill>
                <a:srgbClr val="000000"/>
              </a:solidFill>
              <a:latin typeface="Arial"/>
            </a:endParaRPr>
          </a:p>
        </p:txBody>
      </p:sp>
      <p:sp>
        <p:nvSpPr>
          <p:cNvPr id="42" name="Shape 7"/>
          <p:cNvSpPr/>
          <p:nvPr/>
        </p:nvSpPr>
        <p:spPr>
          <a:xfrm>
            <a:off x="2964600" y="3203640"/>
            <a:ext cx="3214440" cy="37836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Text 8"/>
          <p:cNvSpPr/>
          <p:nvPr/>
        </p:nvSpPr>
        <p:spPr>
          <a:xfrm>
            <a:off x="2964600" y="3203640"/>
            <a:ext cx="3214440" cy="275400"/>
          </a:xfrm>
          <a:prstGeom prst="rect">
            <a:avLst/>
          </a:prstGeom>
          <a:noFill/>
          <a:ln w="0">
            <a:noFill/>
          </a:ln>
        </p:spPr>
        <p:style>
          <a:lnRef idx="0"/>
          <a:fillRef idx="0"/>
          <a:effectRef idx="0"/>
          <a:fontRef idx="minor"/>
        </p:style>
        <p:txBody>
          <a:bodyPr lIns="127440" rIns="127440" tIns="69120" bIns="69120" anchor="t">
            <a:spAutoFit/>
          </a:bodyPr>
          <a:p>
            <a:pPr algn="ctr" defTabSz="914400">
              <a:lnSpc>
                <a:spcPct val="100000"/>
              </a:lnSpc>
              <a:tabLst>
                <a:tab algn="l" pos="0"/>
              </a:tabLst>
            </a:pPr>
            <a:r>
              <a:rPr b="1" lang="en-US" sz="900" spc="-1" strike="noStrike">
                <a:solidFill>
                  <a:srgbClr val="000000"/>
                </a:solidFill>
                <a:latin typeface="Times New Roman"/>
                <a:ea typeface="Times New Roman"/>
              </a:rPr>
              <a:t>Analytical Framework (Optimization &amp; Matching)</a:t>
            </a:r>
            <a:endParaRPr b="0" lang="en-US" sz="900" spc="-1" strike="noStrike">
              <a:solidFill>
                <a:srgbClr val="000000"/>
              </a:solidFill>
              <a:latin typeface="Arial"/>
            </a:endParaRPr>
          </a:p>
        </p:txBody>
      </p:sp>
      <p:sp>
        <p:nvSpPr>
          <p:cNvPr id="44" name="Text 9"/>
          <p:cNvSpPr/>
          <p:nvPr/>
        </p:nvSpPr>
        <p:spPr>
          <a:xfrm>
            <a:off x="4533120" y="3639240"/>
            <a:ext cx="77400" cy="18324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1" lang="en-US" sz="1200" spc="-1" strike="noStrike">
                <a:solidFill>
                  <a:srgbClr val="003366"/>
                </a:solidFill>
                <a:latin typeface="Times New Roman"/>
                <a:ea typeface="Times New Roman"/>
              </a:rPr>
              <a:t>↓</a:t>
            </a:r>
            <a:endParaRPr b="0" lang="en-US" sz="1200" spc="-1" strike="noStrike">
              <a:solidFill>
                <a:srgbClr val="000000"/>
              </a:solidFill>
              <a:latin typeface="Arial"/>
            </a:endParaRPr>
          </a:p>
        </p:txBody>
      </p:sp>
      <p:sp>
        <p:nvSpPr>
          <p:cNvPr id="45" name="Shape 10"/>
          <p:cNvSpPr/>
          <p:nvPr/>
        </p:nvSpPr>
        <p:spPr>
          <a:xfrm>
            <a:off x="2964600" y="3907080"/>
            <a:ext cx="3214440" cy="37836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 name="Text 11"/>
          <p:cNvSpPr/>
          <p:nvPr/>
        </p:nvSpPr>
        <p:spPr>
          <a:xfrm>
            <a:off x="2964600" y="3907080"/>
            <a:ext cx="3214440" cy="275400"/>
          </a:xfrm>
          <a:prstGeom prst="rect">
            <a:avLst/>
          </a:prstGeom>
          <a:noFill/>
          <a:ln w="0">
            <a:noFill/>
          </a:ln>
        </p:spPr>
        <p:style>
          <a:lnRef idx="0"/>
          <a:fillRef idx="0"/>
          <a:effectRef idx="0"/>
          <a:fontRef idx="minor"/>
        </p:style>
        <p:txBody>
          <a:bodyPr lIns="127440" rIns="127440" tIns="69120" bIns="69120" anchor="t">
            <a:spAutoFit/>
          </a:bodyPr>
          <a:p>
            <a:pPr algn="ctr" defTabSz="914400">
              <a:lnSpc>
                <a:spcPct val="100000"/>
              </a:lnSpc>
              <a:tabLst>
                <a:tab algn="l" pos="0"/>
              </a:tabLst>
            </a:pPr>
            <a:r>
              <a:rPr b="1" lang="en-US" sz="900" spc="-1" strike="noStrike">
                <a:solidFill>
                  <a:srgbClr val="000000"/>
                </a:solidFill>
                <a:latin typeface="Times New Roman"/>
                <a:ea typeface="Times New Roman"/>
              </a:rPr>
              <a:t>Data Layer (PostGIS Geospatial DB)</a:t>
            </a:r>
            <a:endParaRPr b="0" lang="en-US" sz="900" spc="-1" strike="noStrike">
              <a:solidFill>
                <a:srgbClr val="000000"/>
              </a:solidFill>
              <a:latin typeface="Arial"/>
            </a:endParaRPr>
          </a:p>
        </p:txBody>
      </p:sp>
      <p:sp>
        <p:nvSpPr>
          <p:cNvPr id="47" name="Text 12"/>
          <p:cNvSpPr/>
          <p:nvPr/>
        </p:nvSpPr>
        <p:spPr>
          <a:xfrm>
            <a:off x="2235960" y="4557240"/>
            <a:ext cx="4671720" cy="16812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1100" spc="-1" strike="noStrike">
                <a:solidFill>
                  <a:srgbClr val="003366"/>
                </a:solidFill>
                <a:latin typeface="Times New Roman"/>
                <a:ea typeface="Times New Roman"/>
              </a:rPr>
              <a:t>OPERATIONAL WORKFLOW</a:t>
            </a:r>
            <a:endParaRPr b="0" lang="en-US" sz="1100" spc="-1" strike="noStrike">
              <a:solidFill>
                <a:srgbClr val="000000"/>
              </a:solidFill>
              <a:latin typeface="Arial"/>
            </a:endParaRPr>
          </a:p>
        </p:txBody>
      </p:sp>
      <p:sp>
        <p:nvSpPr>
          <p:cNvPr id="48" name="Text 13"/>
          <p:cNvSpPr/>
          <p:nvPr/>
        </p:nvSpPr>
        <p:spPr>
          <a:xfrm>
            <a:off x="2552040" y="486072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1.</a:t>
            </a:r>
            <a:endParaRPr b="0" lang="en-US" sz="850" spc="-1" strike="noStrike">
              <a:solidFill>
                <a:srgbClr val="000000"/>
              </a:solidFill>
              <a:latin typeface="Arial"/>
            </a:endParaRPr>
          </a:p>
        </p:txBody>
      </p:sp>
      <p:sp>
        <p:nvSpPr>
          <p:cNvPr id="49" name="Text 14"/>
          <p:cNvSpPr/>
          <p:nvPr/>
        </p:nvSpPr>
        <p:spPr>
          <a:xfrm>
            <a:off x="2750400" y="4860720"/>
            <a:ext cx="87444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Demand Analysis:</a:t>
            </a:r>
            <a:endParaRPr b="0" lang="en-US" sz="850" spc="-1" strike="noStrike">
              <a:solidFill>
                <a:srgbClr val="000000"/>
              </a:solidFill>
              <a:latin typeface="Arial"/>
            </a:endParaRPr>
          </a:p>
        </p:txBody>
      </p:sp>
      <p:sp>
        <p:nvSpPr>
          <p:cNvPr id="50" name="Text 15"/>
          <p:cNvSpPr/>
          <p:nvPr/>
        </p:nvSpPr>
        <p:spPr>
          <a:xfrm>
            <a:off x="3625200" y="4860720"/>
            <a:ext cx="318708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Identify demographic and geographic patterns of emergency incidents.</a:t>
            </a:r>
            <a:endParaRPr b="0" lang="en-US" sz="900" spc="-1" strike="noStrike">
              <a:solidFill>
                <a:srgbClr val="000000"/>
              </a:solidFill>
              <a:latin typeface="Arial"/>
            </a:endParaRPr>
          </a:p>
        </p:txBody>
      </p:sp>
      <p:sp>
        <p:nvSpPr>
          <p:cNvPr id="51" name="Text 16"/>
          <p:cNvSpPr/>
          <p:nvPr/>
        </p:nvSpPr>
        <p:spPr>
          <a:xfrm>
            <a:off x="6835320" y="486072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52" name="Text 17"/>
          <p:cNvSpPr/>
          <p:nvPr/>
        </p:nvSpPr>
        <p:spPr>
          <a:xfrm>
            <a:off x="2552040" y="533520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2.</a:t>
            </a:r>
            <a:endParaRPr b="0" lang="en-US" sz="850" spc="-1" strike="noStrike">
              <a:solidFill>
                <a:srgbClr val="000000"/>
              </a:solidFill>
              <a:latin typeface="Arial"/>
            </a:endParaRPr>
          </a:p>
        </p:txBody>
      </p:sp>
      <p:sp>
        <p:nvSpPr>
          <p:cNvPr id="53" name="Text 18"/>
          <p:cNvSpPr/>
          <p:nvPr/>
        </p:nvSpPr>
        <p:spPr>
          <a:xfrm>
            <a:off x="2750400" y="5335200"/>
            <a:ext cx="88452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Database Design:</a:t>
            </a:r>
            <a:endParaRPr b="0" lang="en-US" sz="850" spc="-1" strike="noStrike">
              <a:solidFill>
                <a:srgbClr val="000000"/>
              </a:solidFill>
              <a:latin typeface="Arial"/>
            </a:endParaRPr>
          </a:p>
        </p:txBody>
      </p:sp>
      <p:sp>
        <p:nvSpPr>
          <p:cNvPr id="54" name="Text 19"/>
          <p:cNvSpPr/>
          <p:nvPr/>
        </p:nvSpPr>
        <p:spPr>
          <a:xfrm>
            <a:off x="3635280" y="5335200"/>
            <a:ext cx="3272400" cy="17604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Create tables for resource status, requests, and immutable audit logs.</a:t>
            </a:r>
            <a:endParaRPr b="0" lang="en-US" sz="900" spc="-1" strike="noStrike">
              <a:solidFill>
                <a:srgbClr val="000000"/>
              </a:solidFill>
              <a:latin typeface="Arial"/>
            </a:endParaRPr>
          </a:p>
        </p:txBody>
      </p:sp>
      <p:sp>
        <p:nvSpPr>
          <p:cNvPr id="55" name="Text 20"/>
          <p:cNvSpPr/>
          <p:nvPr/>
        </p:nvSpPr>
        <p:spPr>
          <a:xfrm>
            <a:off x="2552040" y="580932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3.</a:t>
            </a:r>
            <a:endParaRPr b="0" lang="en-US" sz="850" spc="-1" strike="noStrike">
              <a:solidFill>
                <a:srgbClr val="000000"/>
              </a:solidFill>
              <a:latin typeface="Arial"/>
            </a:endParaRPr>
          </a:p>
        </p:txBody>
      </p:sp>
      <p:sp>
        <p:nvSpPr>
          <p:cNvPr id="56" name="Text 21"/>
          <p:cNvSpPr/>
          <p:nvPr/>
        </p:nvSpPr>
        <p:spPr>
          <a:xfrm>
            <a:off x="2750400" y="5809320"/>
            <a:ext cx="88128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Proximity Search:</a:t>
            </a:r>
            <a:endParaRPr b="0" lang="en-US" sz="850" spc="-1" strike="noStrike">
              <a:solidFill>
                <a:srgbClr val="000000"/>
              </a:solidFill>
              <a:latin typeface="Arial"/>
            </a:endParaRPr>
          </a:p>
        </p:txBody>
      </p:sp>
      <p:sp>
        <p:nvSpPr>
          <p:cNvPr id="57" name="Text 22"/>
          <p:cNvSpPr/>
          <p:nvPr/>
        </p:nvSpPr>
        <p:spPr>
          <a:xfrm>
            <a:off x="3632040" y="5809320"/>
            <a:ext cx="318024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Query available resources using spatial indices and distance formulas.</a:t>
            </a:r>
            <a:endParaRPr b="0" lang="en-US" sz="900" spc="-1" strike="noStrike">
              <a:solidFill>
                <a:srgbClr val="000000"/>
              </a:solidFill>
              <a:latin typeface="Arial"/>
            </a:endParaRPr>
          </a:p>
        </p:txBody>
      </p:sp>
      <p:sp>
        <p:nvSpPr>
          <p:cNvPr id="58" name="Text 23"/>
          <p:cNvSpPr/>
          <p:nvPr/>
        </p:nvSpPr>
        <p:spPr>
          <a:xfrm>
            <a:off x="6835320" y="580932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[1]</a:t>
            </a:r>
            <a:endParaRPr b="0" lang="en-US" sz="600" spc="-1" strike="noStrike">
              <a:solidFill>
                <a:srgbClr val="000000"/>
              </a:solidFill>
              <a:latin typeface="Arial"/>
            </a:endParaRPr>
          </a:p>
        </p:txBody>
      </p:sp>
      <p:sp>
        <p:nvSpPr>
          <p:cNvPr id="59" name="Text 24"/>
          <p:cNvSpPr/>
          <p:nvPr/>
        </p:nvSpPr>
        <p:spPr>
          <a:xfrm>
            <a:off x="2552040" y="628380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4.</a:t>
            </a:r>
            <a:endParaRPr b="0" lang="en-US" sz="850" spc="-1" strike="noStrike">
              <a:solidFill>
                <a:srgbClr val="000000"/>
              </a:solidFill>
              <a:latin typeface="Arial"/>
            </a:endParaRPr>
          </a:p>
        </p:txBody>
      </p:sp>
      <p:sp>
        <p:nvSpPr>
          <p:cNvPr id="60" name="Text 25"/>
          <p:cNvSpPr/>
          <p:nvPr/>
        </p:nvSpPr>
        <p:spPr>
          <a:xfrm>
            <a:off x="2750400" y="6283800"/>
            <a:ext cx="88704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Optimal Dispatch:</a:t>
            </a:r>
            <a:endParaRPr b="0" lang="en-US" sz="850" spc="-1" strike="noStrike">
              <a:solidFill>
                <a:srgbClr val="000000"/>
              </a:solidFill>
              <a:latin typeface="Arial"/>
            </a:endParaRPr>
          </a:p>
        </p:txBody>
      </p:sp>
      <p:sp>
        <p:nvSpPr>
          <p:cNvPr id="61" name="Text 26"/>
          <p:cNvSpPr/>
          <p:nvPr/>
        </p:nvSpPr>
        <p:spPr>
          <a:xfrm>
            <a:off x="3637800" y="6283800"/>
            <a:ext cx="317448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Select the best candidate while considering response time and fairness.</a:t>
            </a:r>
            <a:endParaRPr b="0" lang="en-US" sz="900" spc="-1" strike="noStrike">
              <a:solidFill>
                <a:srgbClr val="000000"/>
              </a:solidFill>
              <a:latin typeface="Arial"/>
            </a:endParaRPr>
          </a:p>
        </p:txBody>
      </p:sp>
      <p:sp>
        <p:nvSpPr>
          <p:cNvPr id="62" name="Text 27"/>
          <p:cNvSpPr/>
          <p:nvPr/>
        </p:nvSpPr>
        <p:spPr>
          <a:xfrm>
            <a:off x="6835320" y="628380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[1]</a:t>
            </a:r>
            <a:endParaRPr b="0" lang="en-US" sz="600" spc="-1" strike="noStrike">
              <a:solidFill>
                <a:srgbClr val="000000"/>
              </a:solidFill>
              <a:latin typeface="Arial"/>
            </a:endParaRPr>
          </a:p>
        </p:txBody>
      </p:sp>
      <p:sp>
        <p:nvSpPr>
          <p:cNvPr id="63" name="Text 28"/>
          <p:cNvSpPr/>
          <p:nvPr/>
        </p:nvSpPr>
        <p:spPr>
          <a:xfrm>
            <a:off x="2552040" y="675792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5.</a:t>
            </a:r>
            <a:endParaRPr b="0" lang="en-US" sz="850" spc="-1" strike="noStrike">
              <a:solidFill>
                <a:srgbClr val="000000"/>
              </a:solidFill>
              <a:latin typeface="Arial"/>
            </a:endParaRPr>
          </a:p>
        </p:txBody>
      </p:sp>
      <p:sp>
        <p:nvSpPr>
          <p:cNvPr id="64" name="Text 29"/>
          <p:cNvSpPr/>
          <p:nvPr/>
        </p:nvSpPr>
        <p:spPr>
          <a:xfrm>
            <a:off x="2750400" y="6757920"/>
            <a:ext cx="1054080" cy="3315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Real-Time Propagation:</a:t>
            </a:r>
            <a:endParaRPr b="0" lang="en-US" sz="850" spc="-1" strike="noStrike">
              <a:solidFill>
                <a:srgbClr val="000000"/>
              </a:solidFill>
              <a:latin typeface="Arial"/>
            </a:endParaRPr>
          </a:p>
        </p:txBody>
      </p:sp>
      <p:sp>
        <p:nvSpPr>
          <p:cNvPr id="65" name="Text 30"/>
          <p:cNvSpPr/>
          <p:nvPr/>
        </p:nvSpPr>
        <p:spPr>
          <a:xfrm>
            <a:off x="3804840" y="6757920"/>
            <a:ext cx="300744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Push updates via WebSockets to ensure multi-directional communication.</a:t>
            </a:r>
            <a:endParaRPr b="0" lang="en-US" sz="900" spc="-1" strike="noStrike">
              <a:solidFill>
                <a:srgbClr val="000000"/>
              </a:solidFill>
              <a:latin typeface="Arial"/>
            </a:endParaRPr>
          </a:p>
        </p:txBody>
      </p:sp>
      <p:sp>
        <p:nvSpPr>
          <p:cNvPr id="66" name="Text 31"/>
          <p:cNvSpPr/>
          <p:nvPr/>
        </p:nvSpPr>
        <p:spPr>
          <a:xfrm>
            <a:off x="6835320" y="675792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[5]</a:t>
            </a:r>
            <a:endParaRPr b="0" lang="en-US" sz="600" spc="-1" strike="noStrike">
              <a:solidFill>
                <a:srgbClr val="000000"/>
              </a:solidFill>
              <a:latin typeface="Arial"/>
            </a:endParaRPr>
          </a:p>
        </p:txBody>
      </p:sp>
      <p:sp>
        <p:nvSpPr>
          <p:cNvPr id="67" name="Text 32"/>
          <p:cNvSpPr/>
          <p:nvPr/>
        </p:nvSpPr>
        <p:spPr>
          <a:xfrm>
            <a:off x="2552040" y="723240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6.</a:t>
            </a:r>
            <a:endParaRPr b="0" lang="en-US" sz="850" spc="-1" strike="noStrike">
              <a:solidFill>
                <a:srgbClr val="000000"/>
              </a:solidFill>
              <a:latin typeface="Arial"/>
            </a:endParaRPr>
          </a:p>
        </p:txBody>
      </p:sp>
      <p:sp>
        <p:nvSpPr>
          <p:cNvPr id="68" name="Text 33"/>
          <p:cNvSpPr/>
          <p:nvPr/>
        </p:nvSpPr>
        <p:spPr>
          <a:xfrm>
            <a:off x="2750400" y="7232400"/>
            <a:ext cx="118980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Reallocation &amp; Failover:</a:t>
            </a:r>
            <a:endParaRPr b="0" lang="en-US" sz="850" spc="-1" strike="noStrike">
              <a:solidFill>
                <a:srgbClr val="000000"/>
              </a:solidFill>
              <a:latin typeface="Arial"/>
            </a:endParaRPr>
          </a:p>
        </p:txBody>
      </p:sp>
      <p:sp>
        <p:nvSpPr>
          <p:cNvPr id="69" name="Text 34"/>
          <p:cNvSpPr/>
          <p:nvPr/>
        </p:nvSpPr>
        <p:spPr>
          <a:xfrm>
            <a:off x="3940560" y="7232400"/>
            <a:ext cx="287172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Automatically re-match requests if a responder fails to respond.</a:t>
            </a:r>
            <a:endParaRPr b="0" lang="en-US" sz="900" spc="-1" strike="noStrike">
              <a:solidFill>
                <a:srgbClr val="000000"/>
              </a:solidFill>
              <a:latin typeface="Arial"/>
            </a:endParaRPr>
          </a:p>
        </p:txBody>
      </p:sp>
      <p:sp>
        <p:nvSpPr>
          <p:cNvPr id="70" name="Text 35"/>
          <p:cNvSpPr/>
          <p:nvPr/>
        </p:nvSpPr>
        <p:spPr>
          <a:xfrm>
            <a:off x="6835320" y="723240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71" name="Text 36"/>
          <p:cNvSpPr/>
          <p:nvPr/>
        </p:nvSpPr>
        <p:spPr>
          <a:xfrm>
            <a:off x="2552040" y="7706520"/>
            <a:ext cx="81720" cy="165960"/>
          </a:xfrm>
          <a:prstGeom prst="rect">
            <a:avLst/>
          </a:prstGeom>
          <a:noFill/>
          <a:ln w="0">
            <a:noFill/>
          </a:ln>
        </p:spPr>
        <p:style>
          <a:lnRef idx="0"/>
          <a:fillRef idx="0"/>
          <a:effectRef idx="0"/>
          <a:fontRef idx="minor"/>
        </p:style>
        <p:txBody>
          <a:bodyPr wrap="none" lIns="0" rIns="0" tIns="0" bIns="0" anchor="t">
            <a:spAutoFit/>
          </a:bodyPr>
          <a:p>
            <a:pPr defTabSz="914400">
              <a:lnSpc>
                <a:spcPct val="128000"/>
              </a:lnSpc>
              <a:tabLst>
                <a:tab algn="l" pos="0"/>
              </a:tabLst>
            </a:pPr>
            <a:r>
              <a:rPr b="1" lang="en-US" sz="850" spc="-1" strike="noStrike">
                <a:solidFill>
                  <a:srgbClr val="003366"/>
                </a:solidFill>
                <a:latin typeface="Times New Roman"/>
                <a:ea typeface="Times New Roman"/>
              </a:rPr>
              <a:t>7.</a:t>
            </a:r>
            <a:endParaRPr b="0" lang="en-US" sz="850" spc="-1" strike="noStrike">
              <a:solidFill>
                <a:srgbClr val="000000"/>
              </a:solidFill>
              <a:latin typeface="Arial"/>
            </a:endParaRPr>
          </a:p>
        </p:txBody>
      </p:sp>
      <p:sp>
        <p:nvSpPr>
          <p:cNvPr id="72" name="Text 37"/>
          <p:cNvSpPr/>
          <p:nvPr/>
        </p:nvSpPr>
        <p:spPr>
          <a:xfrm>
            <a:off x="2750400" y="7706520"/>
            <a:ext cx="1043280" cy="16596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1" lang="en-US" sz="850" spc="-1" strike="noStrike">
                <a:solidFill>
                  <a:srgbClr val="000000"/>
                </a:solidFill>
                <a:latin typeface="Times New Roman"/>
                <a:ea typeface="Times New Roman"/>
              </a:rPr>
              <a:t>Performance Review:</a:t>
            </a:r>
            <a:endParaRPr b="0" lang="en-US" sz="850" spc="-1" strike="noStrike">
              <a:solidFill>
                <a:srgbClr val="000000"/>
              </a:solidFill>
              <a:latin typeface="Arial"/>
            </a:endParaRPr>
          </a:p>
        </p:txBody>
      </p:sp>
      <p:sp>
        <p:nvSpPr>
          <p:cNvPr id="73" name="Text 38"/>
          <p:cNvSpPr/>
          <p:nvPr/>
        </p:nvSpPr>
        <p:spPr>
          <a:xfrm>
            <a:off x="3794040" y="7706520"/>
            <a:ext cx="3018240" cy="351720"/>
          </a:xfrm>
          <a:prstGeom prst="rect">
            <a:avLst/>
          </a:prstGeom>
          <a:noFill/>
          <a:ln w="0">
            <a:noFill/>
          </a:ln>
        </p:spPr>
        <p:style>
          <a:lnRef idx="0"/>
          <a:fillRef idx="0"/>
          <a:effectRef idx="0"/>
          <a:fontRef idx="minor"/>
        </p:style>
        <p:txBody>
          <a:bodyPr lIns="0" rIns="0" tIns="0" bIns="0" anchor="t">
            <a:spAutoFit/>
          </a:bodyPr>
          <a:p>
            <a:pPr defTabSz="914400">
              <a:lnSpc>
                <a:spcPct val="128000"/>
              </a:lnSpc>
              <a:tabLst>
                <a:tab algn="l" pos="0"/>
              </a:tabLst>
            </a:pPr>
            <a:r>
              <a:rPr b="0" lang="en-US" sz="900" spc="-1" strike="noStrike">
                <a:solidFill>
                  <a:srgbClr val="000000"/>
                </a:solidFill>
                <a:latin typeface="Times New Roman"/>
                <a:ea typeface="Times New Roman"/>
              </a:rPr>
              <a:t>Analyze response times and coverage gaps for future optimization.</a:t>
            </a:r>
            <a:endParaRPr b="0" lang="en-US" sz="900" spc="-1" strike="noStrike">
              <a:solidFill>
                <a:srgbClr val="000000"/>
              </a:solidFill>
              <a:latin typeface="Arial"/>
            </a:endParaRPr>
          </a:p>
        </p:txBody>
      </p:sp>
      <p:sp>
        <p:nvSpPr>
          <p:cNvPr id="74" name="Text 39"/>
          <p:cNvSpPr/>
          <p:nvPr/>
        </p:nvSpPr>
        <p:spPr>
          <a:xfrm>
            <a:off x="6835320" y="7706520"/>
            <a:ext cx="49680" cy="91800"/>
          </a:xfrm>
          <a:prstGeom prst="rect">
            <a:avLst/>
          </a:prstGeom>
          <a:noFill/>
          <a:ln w="0">
            <a:noFill/>
          </a:ln>
        </p:spPr>
        <p:style>
          <a:lnRef idx="0"/>
          <a:fillRef idx="0"/>
          <a:effectRef idx="0"/>
          <a:fontRef idx="minor"/>
        </p:style>
        <p:txBody>
          <a:bodyPr wrap="none" lIns="0" rIns="0" tIns="0" bIns="0" anchor="t">
            <a:spAutoFit/>
          </a:bodyPr>
          <a:p>
            <a:pPr defTabSz="914400">
              <a:lnSpc>
                <a:spcPct val="100000"/>
              </a:lnSpc>
              <a:tabLst>
                <a:tab algn="l" pos="0"/>
              </a:tabLst>
            </a:pPr>
            <a:r>
              <a:rPr b="0"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75" name="Text 40"/>
          <p:cNvSpPr/>
          <p:nvPr/>
        </p:nvSpPr>
        <p:spPr>
          <a:xfrm>
            <a:off x="2235960" y="823788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4</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Image 0" descr="preencoded.png"/>
          <p:cNvPicPr/>
          <p:nvPr/>
        </p:nvPicPr>
        <p:blipFill>
          <a:blip r:embed="rId1"/>
          <a:stretch/>
        </p:blipFill>
        <p:spPr>
          <a:xfrm>
            <a:off x="0" y="0"/>
            <a:ext cx="9143640" cy="8022240"/>
          </a:xfrm>
          <a:prstGeom prst="rect">
            <a:avLst/>
          </a:prstGeom>
          <a:ln w="0">
            <a:noFill/>
          </a:ln>
        </p:spPr>
      </p:pic>
      <p:sp>
        <p:nvSpPr>
          <p:cNvPr id="77"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Text 1"/>
          <p:cNvSpPr/>
          <p:nvPr/>
        </p:nvSpPr>
        <p:spPr>
          <a:xfrm>
            <a:off x="2200320" y="535680"/>
            <a:ext cx="4743000" cy="26424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400" spc="-1" strike="noStrike">
                <a:solidFill>
                  <a:srgbClr val="003366"/>
                </a:solidFill>
                <a:latin typeface="Times New Roman"/>
                <a:ea typeface="Times New Roman"/>
              </a:rPr>
              <a:t>LITERATURE REVIEW: TECHNOLOGY SUMMARY</a:t>
            </a:r>
            <a:endParaRPr b="0" lang="en-US" sz="1400" spc="-1" strike="noStrike">
              <a:solidFill>
                <a:srgbClr val="000000"/>
              </a:solidFill>
              <a:latin typeface="Arial"/>
            </a:endParaRPr>
          </a:p>
        </p:txBody>
      </p:sp>
      <p:sp>
        <p:nvSpPr>
          <p:cNvPr id="79" name="Text 2"/>
          <p:cNvSpPr/>
          <p:nvPr/>
        </p:nvSpPr>
        <p:spPr>
          <a:xfrm>
            <a:off x="2200320" y="1307160"/>
            <a:ext cx="4743000" cy="520920"/>
          </a:xfrm>
          <a:prstGeom prst="rect">
            <a:avLst/>
          </a:prstGeom>
          <a:noFill/>
          <a:ln w="0">
            <a:noFill/>
          </a:ln>
        </p:spPr>
        <p:style>
          <a:lnRef idx="0"/>
          <a:fillRef idx="0"/>
          <a:effectRef idx="0"/>
          <a:fontRef idx="minor"/>
        </p:style>
        <p:txBody>
          <a:bodyPr lIns="0" rIns="0" tIns="0" bIns="0" anchor="t">
            <a:spAutoFit/>
          </a:bodyPr>
          <a:p>
            <a:pPr algn="just" defTabSz="914400">
              <a:lnSpc>
                <a:spcPct val="120000"/>
              </a:lnSpc>
              <a:tabLst>
                <a:tab algn="l" pos="0"/>
              </a:tabLst>
            </a:pPr>
            <a:r>
              <a:rPr b="0" lang="en-US" sz="950" spc="-1" strike="noStrike">
                <a:solidFill>
                  <a:srgbClr val="000000"/>
                </a:solidFill>
                <a:latin typeface="Times New Roman"/>
                <a:ea typeface="Times New Roman"/>
              </a:rPr>
              <a:t>The following table summarizes the core technologies and methodologies identified in the primary scholarly and institutional references. These methods provide the technical foundation for optimized emergency resource allocation and coordination.</a:t>
            </a:r>
            <a:endParaRPr b="0" lang="en-US" sz="950" spc="-1" strike="noStrike">
              <a:solidFill>
                <a:srgbClr val="000000"/>
              </a:solidFill>
              <a:latin typeface="Arial"/>
            </a:endParaRPr>
          </a:p>
        </p:txBody>
      </p:sp>
      <p:sp>
        <p:nvSpPr>
          <p:cNvPr id="80" name="Shape 3"/>
          <p:cNvSpPr/>
          <p:nvPr/>
        </p:nvSpPr>
        <p:spPr>
          <a:xfrm>
            <a:off x="2203920" y="2103840"/>
            <a:ext cx="1041480" cy="299520"/>
          </a:xfrm>
          <a:prstGeom prst="rect">
            <a:avLst/>
          </a:prstGeom>
          <a:solidFill>
            <a:srgbClr val="f8f9fa"/>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Text 4"/>
          <p:cNvSpPr/>
          <p:nvPr/>
        </p:nvSpPr>
        <p:spPr>
          <a:xfrm>
            <a:off x="2325960" y="2139120"/>
            <a:ext cx="797040" cy="229680"/>
          </a:xfrm>
          <a:prstGeom prst="rect">
            <a:avLst/>
          </a:prstGeom>
          <a:noFill/>
          <a:ln w="0">
            <a:noFill/>
          </a:ln>
        </p:spPr>
        <p:style>
          <a:lnRef idx="0"/>
          <a:fillRef idx="0"/>
          <a:effectRef idx="0"/>
          <a:fontRef idx="minor"/>
        </p:style>
        <p:txBody>
          <a:bodyPr wrap="none" lIns="102240" rIns="102240" tIns="57960" bIns="57960" anchor="ctr">
            <a:spAutoFit/>
          </a:bodyPr>
          <a:p>
            <a:pPr defTabSz="914400">
              <a:lnSpc>
                <a:spcPct val="100000"/>
              </a:lnSpc>
              <a:tabLst>
                <a:tab algn="l" pos="0"/>
              </a:tabLst>
            </a:pPr>
            <a:r>
              <a:rPr b="1" lang="en-US" sz="750" spc="-1" strike="noStrike">
                <a:solidFill>
                  <a:srgbClr val="003366"/>
                </a:solidFill>
                <a:latin typeface="Arial"/>
                <a:ea typeface="Arial"/>
              </a:rPr>
              <a:t>REFERENCE</a:t>
            </a:r>
            <a:endParaRPr b="0" lang="en-US" sz="750" spc="-1" strike="noStrike">
              <a:solidFill>
                <a:srgbClr val="000000"/>
              </a:solidFill>
              <a:latin typeface="Arial"/>
            </a:endParaRPr>
          </a:p>
        </p:txBody>
      </p:sp>
      <p:sp>
        <p:nvSpPr>
          <p:cNvPr id="82" name="Shape 5"/>
          <p:cNvSpPr/>
          <p:nvPr/>
        </p:nvSpPr>
        <p:spPr>
          <a:xfrm>
            <a:off x="3245760" y="2103840"/>
            <a:ext cx="1799280" cy="299520"/>
          </a:xfrm>
          <a:prstGeom prst="rect">
            <a:avLst/>
          </a:prstGeom>
          <a:solidFill>
            <a:srgbClr val="f8f9fa"/>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 name="Text 6"/>
          <p:cNvSpPr/>
          <p:nvPr/>
        </p:nvSpPr>
        <p:spPr>
          <a:xfrm>
            <a:off x="3245760" y="2139120"/>
            <a:ext cx="1799280" cy="229680"/>
          </a:xfrm>
          <a:prstGeom prst="rect">
            <a:avLst/>
          </a:prstGeom>
          <a:noFill/>
          <a:ln w="0">
            <a:noFill/>
          </a:ln>
        </p:spPr>
        <p:style>
          <a:lnRef idx="0"/>
          <a:fillRef idx="0"/>
          <a:effectRef idx="0"/>
          <a:fontRef idx="minor"/>
        </p:style>
        <p:txBody>
          <a:bodyPr lIns="102240" rIns="102240" tIns="57960" bIns="57960" anchor="ctr">
            <a:spAutoFit/>
          </a:bodyPr>
          <a:p>
            <a:pPr defTabSz="914400">
              <a:lnSpc>
                <a:spcPct val="100000"/>
              </a:lnSpc>
              <a:tabLst>
                <a:tab algn="l" pos="0"/>
              </a:tabLst>
            </a:pPr>
            <a:r>
              <a:rPr b="1" lang="en-US" sz="750" spc="-1" strike="noStrike">
                <a:solidFill>
                  <a:srgbClr val="003366"/>
                </a:solidFill>
                <a:latin typeface="Arial"/>
                <a:ea typeface="Arial"/>
              </a:rPr>
              <a:t>TECHNOLOGY / METHOD</a:t>
            </a:r>
            <a:endParaRPr b="0" lang="en-US" sz="750" spc="-1" strike="noStrike">
              <a:solidFill>
                <a:srgbClr val="000000"/>
              </a:solidFill>
              <a:latin typeface="Arial"/>
            </a:endParaRPr>
          </a:p>
        </p:txBody>
      </p:sp>
      <p:sp>
        <p:nvSpPr>
          <p:cNvPr id="84" name="Shape 7"/>
          <p:cNvSpPr/>
          <p:nvPr/>
        </p:nvSpPr>
        <p:spPr>
          <a:xfrm>
            <a:off x="5045760" y="2103840"/>
            <a:ext cx="1894320" cy="299520"/>
          </a:xfrm>
          <a:prstGeom prst="rect">
            <a:avLst/>
          </a:prstGeom>
          <a:solidFill>
            <a:srgbClr val="f8f9fa"/>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 name="Text 8"/>
          <p:cNvSpPr/>
          <p:nvPr/>
        </p:nvSpPr>
        <p:spPr>
          <a:xfrm>
            <a:off x="5045760" y="2139120"/>
            <a:ext cx="1894320" cy="229680"/>
          </a:xfrm>
          <a:prstGeom prst="rect">
            <a:avLst/>
          </a:prstGeom>
          <a:noFill/>
          <a:ln w="0">
            <a:noFill/>
          </a:ln>
        </p:spPr>
        <p:style>
          <a:lnRef idx="0"/>
          <a:fillRef idx="0"/>
          <a:effectRef idx="0"/>
          <a:fontRef idx="minor"/>
        </p:style>
        <p:txBody>
          <a:bodyPr lIns="102240" rIns="102240" tIns="57960" bIns="57960" anchor="ctr">
            <a:spAutoFit/>
          </a:bodyPr>
          <a:p>
            <a:pPr defTabSz="914400">
              <a:lnSpc>
                <a:spcPct val="100000"/>
              </a:lnSpc>
              <a:tabLst>
                <a:tab algn="l" pos="0"/>
              </a:tabLst>
            </a:pPr>
            <a:r>
              <a:rPr b="1" lang="en-US" sz="750" spc="-1" strike="noStrike">
                <a:solidFill>
                  <a:srgbClr val="003366"/>
                </a:solidFill>
                <a:latin typeface="Arial"/>
                <a:ea typeface="Arial"/>
              </a:rPr>
              <a:t>RELEVANCE TO SYSTEM</a:t>
            </a:r>
            <a:endParaRPr b="0" lang="en-US" sz="750" spc="-1" strike="noStrike">
              <a:solidFill>
                <a:srgbClr val="000000"/>
              </a:solidFill>
              <a:latin typeface="Arial"/>
            </a:endParaRPr>
          </a:p>
        </p:txBody>
      </p:sp>
      <p:sp>
        <p:nvSpPr>
          <p:cNvPr id="86" name="Text 9"/>
          <p:cNvSpPr/>
          <p:nvPr/>
        </p:nvSpPr>
        <p:spPr>
          <a:xfrm>
            <a:off x="2203920" y="2396880"/>
            <a:ext cx="1041480" cy="46044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1" lang="en-US" sz="750" spc="-1" strike="noStrike">
                <a:solidFill>
                  <a:srgbClr val="003366"/>
                </a:solidFill>
                <a:latin typeface="Times New Roman"/>
                <a:ea typeface="Times New Roman"/>
              </a:rPr>
              <a:t>Wang et al. (2022) [1]</a:t>
            </a:r>
            <a:endParaRPr b="0" lang="en-US" sz="750" spc="-1" strike="noStrike">
              <a:solidFill>
                <a:srgbClr val="000000"/>
              </a:solidFill>
              <a:latin typeface="Arial"/>
            </a:endParaRPr>
          </a:p>
        </p:txBody>
      </p:sp>
      <p:sp>
        <p:nvSpPr>
          <p:cNvPr id="87" name="Text 10"/>
          <p:cNvSpPr/>
          <p:nvPr/>
        </p:nvSpPr>
        <p:spPr>
          <a:xfrm>
            <a:off x="3625200" y="2486160"/>
            <a:ext cx="1040400" cy="1195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700" spc="-1" strike="noStrike">
                <a:solidFill>
                  <a:srgbClr val="000000"/>
                </a:solidFill>
                <a:latin typeface="Arial"/>
                <a:ea typeface="Arial"/>
              </a:rPr>
              <a:t>MOCGA &amp; IMPROVED A*</a:t>
            </a:r>
            <a:endParaRPr b="0" lang="en-US" sz="700" spc="-1" strike="noStrike">
              <a:solidFill>
                <a:srgbClr val="000000"/>
              </a:solidFill>
              <a:latin typeface="Arial"/>
            </a:endParaRPr>
          </a:p>
        </p:txBody>
      </p:sp>
      <p:sp>
        <p:nvSpPr>
          <p:cNvPr id="88" name="Text 11"/>
          <p:cNvSpPr/>
          <p:nvPr/>
        </p:nvSpPr>
        <p:spPr>
          <a:xfrm>
            <a:off x="3335040" y="2669040"/>
            <a:ext cx="1555920" cy="40860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00" spc="-1" strike="noStrike">
                <a:solidFill>
                  <a:srgbClr val="000000"/>
                </a:solidFill>
                <a:latin typeface="Times New Roman"/>
                <a:ea typeface="Times New Roman"/>
              </a:rPr>
              <a:t>Multiobjective Cellular Genetic Algorithms for parallel optimization and pathfinding on raster maps.</a:t>
            </a:r>
            <a:endParaRPr b="0" lang="en-US" sz="800" spc="-1" strike="noStrike">
              <a:solidFill>
                <a:srgbClr val="000000"/>
              </a:solidFill>
              <a:latin typeface="Arial"/>
            </a:endParaRPr>
          </a:p>
        </p:txBody>
      </p:sp>
      <p:sp>
        <p:nvSpPr>
          <p:cNvPr id="89" name="Text 12"/>
          <p:cNvSpPr/>
          <p:nvPr/>
        </p:nvSpPr>
        <p:spPr>
          <a:xfrm>
            <a:off x="5045760" y="2396880"/>
            <a:ext cx="1894320" cy="74844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0" lang="en-US" sz="800" spc="-1" strike="noStrike">
                <a:solidFill>
                  <a:srgbClr val="000000"/>
                </a:solidFill>
                <a:latin typeface="Times New Roman"/>
                <a:ea typeface="Times New Roman"/>
              </a:rPr>
              <a:t>Optimizes conflicting goals (time vs. cost) while intelligently avoiding risk areas in disaster-induced road disruptions.</a:t>
            </a:r>
            <a:endParaRPr b="0" lang="en-US" sz="800" spc="-1" strike="noStrike">
              <a:solidFill>
                <a:srgbClr val="000000"/>
              </a:solidFill>
              <a:latin typeface="Arial"/>
            </a:endParaRPr>
          </a:p>
        </p:txBody>
      </p:sp>
      <p:sp>
        <p:nvSpPr>
          <p:cNvPr id="90" name="Text 13"/>
          <p:cNvSpPr/>
          <p:nvPr/>
        </p:nvSpPr>
        <p:spPr>
          <a:xfrm>
            <a:off x="2203920" y="3193920"/>
            <a:ext cx="1041480" cy="256680"/>
          </a:xfrm>
          <a:prstGeom prst="rect">
            <a:avLst/>
          </a:prstGeom>
          <a:noFill/>
          <a:ln w="0">
            <a:noFill/>
          </a:ln>
        </p:spPr>
        <p:style>
          <a:lnRef idx="0"/>
          <a:fillRef idx="0"/>
          <a:effectRef idx="0"/>
          <a:fontRef idx="minor"/>
        </p:style>
        <p:txBody>
          <a:bodyPr lIns="102240" rIns="102240" tIns="64440" bIns="64440" anchor="t">
            <a:spAutoFit/>
          </a:bodyPr>
          <a:p>
            <a:pPr defTabSz="914400">
              <a:lnSpc>
                <a:spcPct val="112000"/>
              </a:lnSpc>
              <a:tabLst>
                <a:tab algn="l" pos="0"/>
              </a:tabLst>
            </a:pPr>
            <a:r>
              <a:rPr b="1" lang="en-US" sz="750" spc="-1" strike="noStrike">
                <a:solidFill>
                  <a:srgbClr val="003366"/>
                </a:solidFill>
                <a:latin typeface="Times New Roman"/>
                <a:ea typeface="Times New Roman"/>
              </a:rPr>
              <a:t>Liu et al. (2023) [2]</a:t>
            </a:r>
            <a:endParaRPr b="0" lang="en-US" sz="750" spc="-1" strike="noStrike">
              <a:solidFill>
                <a:srgbClr val="000000"/>
              </a:solidFill>
              <a:latin typeface="Arial"/>
            </a:endParaRPr>
          </a:p>
        </p:txBody>
      </p:sp>
      <p:sp>
        <p:nvSpPr>
          <p:cNvPr id="91" name="Text 14"/>
          <p:cNvSpPr/>
          <p:nvPr/>
        </p:nvSpPr>
        <p:spPr>
          <a:xfrm>
            <a:off x="3503880" y="3283200"/>
            <a:ext cx="1282680" cy="1195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700" spc="-1" strike="noStrike">
                <a:solidFill>
                  <a:srgbClr val="000000"/>
                </a:solidFill>
                <a:latin typeface="Arial"/>
                <a:ea typeface="Arial"/>
              </a:rPr>
              <a:t>OPTIMIZATION &amp; SIMULATION</a:t>
            </a:r>
            <a:endParaRPr b="0" lang="en-US" sz="700" spc="-1" strike="noStrike">
              <a:solidFill>
                <a:srgbClr val="000000"/>
              </a:solidFill>
              <a:latin typeface="Arial"/>
            </a:endParaRPr>
          </a:p>
        </p:txBody>
      </p:sp>
      <p:sp>
        <p:nvSpPr>
          <p:cNvPr id="92" name="Text 15"/>
          <p:cNvSpPr/>
          <p:nvPr/>
        </p:nvSpPr>
        <p:spPr>
          <a:xfrm>
            <a:off x="3335040" y="3466080"/>
            <a:ext cx="1517040" cy="54468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00" spc="-1" strike="noStrike">
                <a:solidFill>
                  <a:srgbClr val="000000"/>
                </a:solidFill>
                <a:latin typeface="Times New Roman"/>
                <a:ea typeface="Times New Roman"/>
              </a:rPr>
              <a:t>Mathematical programming and simulation-based optimization to identify coverage gaps and demand surges.</a:t>
            </a:r>
            <a:endParaRPr b="0" lang="en-US" sz="800" spc="-1" strike="noStrike">
              <a:solidFill>
                <a:srgbClr val="000000"/>
              </a:solidFill>
              <a:latin typeface="Arial"/>
            </a:endParaRPr>
          </a:p>
        </p:txBody>
      </p:sp>
      <p:sp>
        <p:nvSpPr>
          <p:cNvPr id="93" name="Text 16"/>
          <p:cNvSpPr/>
          <p:nvPr/>
        </p:nvSpPr>
        <p:spPr>
          <a:xfrm>
            <a:off x="5045760" y="3193920"/>
            <a:ext cx="1894320" cy="61236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0" lang="en-US" sz="800" spc="-1" strike="noStrike">
                <a:solidFill>
                  <a:srgbClr val="000000"/>
                </a:solidFill>
                <a:latin typeface="Times New Roman"/>
                <a:ea typeface="Times New Roman"/>
              </a:rPr>
              <a:t>Validates automated re-matching and reallocation logic to meet strict response-time standards during demand spikes.</a:t>
            </a:r>
            <a:endParaRPr b="0" lang="en-US" sz="800" spc="-1" strike="noStrike">
              <a:solidFill>
                <a:srgbClr val="000000"/>
              </a:solidFill>
              <a:latin typeface="Arial"/>
            </a:endParaRPr>
          </a:p>
        </p:txBody>
      </p:sp>
      <p:sp>
        <p:nvSpPr>
          <p:cNvPr id="94" name="Text 17"/>
          <p:cNvSpPr/>
          <p:nvPr/>
        </p:nvSpPr>
        <p:spPr>
          <a:xfrm>
            <a:off x="2203920" y="4141080"/>
            <a:ext cx="1041480" cy="46044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1" lang="en-US" sz="750" spc="-1" strike="noStrike">
                <a:solidFill>
                  <a:srgbClr val="003366"/>
                </a:solidFill>
                <a:latin typeface="Times New Roman"/>
                <a:ea typeface="Times New Roman"/>
              </a:rPr>
              <a:t>UN OCHA (2024) [3]</a:t>
            </a:r>
            <a:endParaRPr b="0" lang="en-US" sz="750" spc="-1" strike="noStrike">
              <a:solidFill>
                <a:srgbClr val="000000"/>
              </a:solidFill>
              <a:latin typeface="Arial"/>
            </a:endParaRPr>
          </a:p>
        </p:txBody>
      </p:sp>
      <p:sp>
        <p:nvSpPr>
          <p:cNvPr id="95" name="Text 18"/>
          <p:cNvSpPr/>
          <p:nvPr/>
        </p:nvSpPr>
        <p:spPr>
          <a:xfrm>
            <a:off x="3526200" y="4230360"/>
            <a:ext cx="1238400" cy="1195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700" spc="-1" strike="noStrike">
                <a:solidFill>
                  <a:srgbClr val="000000"/>
                </a:solidFill>
                <a:latin typeface="Arial"/>
                <a:ea typeface="Arial"/>
              </a:rPr>
              <a:t>INFORMATION MGMT TOOLS</a:t>
            </a:r>
            <a:endParaRPr b="0" lang="en-US" sz="700" spc="-1" strike="noStrike">
              <a:solidFill>
                <a:srgbClr val="000000"/>
              </a:solidFill>
              <a:latin typeface="Arial"/>
            </a:endParaRPr>
          </a:p>
        </p:txBody>
      </p:sp>
      <p:sp>
        <p:nvSpPr>
          <p:cNvPr id="96" name="Text 19"/>
          <p:cNvSpPr/>
          <p:nvPr/>
        </p:nvSpPr>
        <p:spPr>
          <a:xfrm>
            <a:off x="3335040" y="4413240"/>
            <a:ext cx="1561680" cy="54468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00" spc="-1" strike="noStrike">
                <a:solidFill>
                  <a:srgbClr val="000000"/>
                </a:solidFill>
                <a:latin typeface="Times New Roman"/>
                <a:ea typeface="Times New Roman"/>
              </a:rPr>
              <a:t>Standardized digital tools and specialized expert pools for rapid international coordination and needs assessment.</a:t>
            </a:r>
            <a:endParaRPr b="0" lang="en-US" sz="800" spc="-1" strike="noStrike">
              <a:solidFill>
                <a:srgbClr val="000000"/>
              </a:solidFill>
              <a:latin typeface="Arial"/>
            </a:endParaRPr>
          </a:p>
        </p:txBody>
      </p:sp>
      <p:sp>
        <p:nvSpPr>
          <p:cNvPr id="97" name="Text 20"/>
          <p:cNvSpPr/>
          <p:nvPr/>
        </p:nvSpPr>
        <p:spPr>
          <a:xfrm>
            <a:off x="5045760" y="4141080"/>
            <a:ext cx="1894320" cy="61236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0" lang="en-US" sz="800" spc="-1" strike="noStrike">
                <a:solidFill>
                  <a:srgbClr val="000000"/>
                </a:solidFill>
                <a:latin typeface="Times New Roman"/>
                <a:ea typeface="Times New Roman"/>
              </a:rPr>
              <a:t>Establishes the institutional standard for structured information flow and interoperability in post-disaster settings.</a:t>
            </a:r>
            <a:endParaRPr b="0" lang="en-US" sz="800" spc="-1" strike="noStrike">
              <a:solidFill>
                <a:srgbClr val="000000"/>
              </a:solidFill>
              <a:latin typeface="Arial"/>
            </a:endParaRPr>
          </a:p>
        </p:txBody>
      </p:sp>
      <p:sp>
        <p:nvSpPr>
          <p:cNvPr id="98" name="Text 21"/>
          <p:cNvSpPr/>
          <p:nvPr/>
        </p:nvSpPr>
        <p:spPr>
          <a:xfrm>
            <a:off x="2203920" y="5088240"/>
            <a:ext cx="1041480" cy="46044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1" lang="en-US" sz="750" spc="-1" strike="noStrike">
                <a:solidFill>
                  <a:srgbClr val="003366"/>
                </a:solidFill>
                <a:latin typeface="Times New Roman"/>
                <a:ea typeface="Times New Roman"/>
              </a:rPr>
              <a:t>PAHO/WHO (2024) [4]</a:t>
            </a:r>
            <a:endParaRPr b="0" lang="en-US" sz="750" spc="-1" strike="noStrike">
              <a:solidFill>
                <a:srgbClr val="000000"/>
              </a:solidFill>
              <a:latin typeface="Arial"/>
            </a:endParaRPr>
          </a:p>
        </p:txBody>
      </p:sp>
      <p:sp>
        <p:nvSpPr>
          <p:cNvPr id="99" name="Text 22"/>
          <p:cNvSpPr/>
          <p:nvPr/>
        </p:nvSpPr>
        <p:spPr>
          <a:xfrm>
            <a:off x="3650400" y="5177520"/>
            <a:ext cx="990000" cy="1195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700" spc="-1" strike="noStrike">
                <a:solidFill>
                  <a:srgbClr val="000000"/>
                </a:solidFill>
                <a:latin typeface="Arial"/>
                <a:ea typeface="Arial"/>
              </a:rPr>
              <a:t>SISMED911 PLATFORM</a:t>
            </a:r>
            <a:endParaRPr b="0" lang="en-US" sz="700" spc="-1" strike="noStrike">
              <a:solidFill>
                <a:srgbClr val="000000"/>
              </a:solidFill>
              <a:latin typeface="Arial"/>
            </a:endParaRPr>
          </a:p>
        </p:txBody>
      </p:sp>
      <p:sp>
        <p:nvSpPr>
          <p:cNvPr id="100" name="Text 23"/>
          <p:cNvSpPr/>
          <p:nvPr/>
        </p:nvSpPr>
        <p:spPr>
          <a:xfrm>
            <a:off x="3335040" y="5360400"/>
            <a:ext cx="1389240" cy="54468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00" spc="-1" strike="noStrike">
                <a:solidFill>
                  <a:srgbClr val="000000"/>
                </a:solidFill>
                <a:latin typeface="Times New Roman"/>
                <a:ea typeface="Times New Roman"/>
              </a:rPr>
              <a:t>Technological hub for call prioritization, real-time resource dispatch, and CICOM (EMT Coordination) integration.</a:t>
            </a:r>
            <a:endParaRPr b="0" lang="en-US" sz="800" spc="-1" strike="noStrike">
              <a:solidFill>
                <a:srgbClr val="000000"/>
              </a:solidFill>
              <a:latin typeface="Arial"/>
            </a:endParaRPr>
          </a:p>
        </p:txBody>
      </p:sp>
      <p:sp>
        <p:nvSpPr>
          <p:cNvPr id="101" name="Text 24"/>
          <p:cNvSpPr/>
          <p:nvPr/>
        </p:nvSpPr>
        <p:spPr>
          <a:xfrm>
            <a:off x="5045760" y="5088240"/>
            <a:ext cx="1894320" cy="612360"/>
          </a:xfrm>
          <a:prstGeom prst="rect">
            <a:avLst/>
          </a:prstGeom>
          <a:noFill/>
          <a:ln w="0">
            <a:noFill/>
          </a:ln>
        </p:spPr>
        <p:style>
          <a:lnRef idx="0"/>
          <a:fillRef idx="0"/>
          <a:effectRef idx="0"/>
          <a:fontRef idx="minor"/>
        </p:style>
        <p:txBody>
          <a:bodyPr lIns="102240" rIns="102240" tIns="102240" bIns="102240" anchor="t">
            <a:spAutoFit/>
          </a:bodyPr>
          <a:p>
            <a:pPr defTabSz="914400">
              <a:lnSpc>
                <a:spcPct val="112000"/>
              </a:lnSpc>
              <a:tabLst>
                <a:tab algn="l" pos="0"/>
              </a:tabLst>
            </a:pPr>
            <a:r>
              <a:rPr b="0" lang="en-US" sz="800" spc="-1" strike="noStrike">
                <a:solidFill>
                  <a:srgbClr val="000000"/>
                </a:solidFill>
                <a:latin typeface="Times New Roman"/>
                <a:ea typeface="Times New Roman"/>
              </a:rPr>
              <a:t>Informs the technical design for GPS telemetry, real-time status propagation, and standardized responder tracking.</a:t>
            </a:r>
            <a:endParaRPr b="0" lang="en-US" sz="800" spc="-1" strike="noStrike">
              <a:solidFill>
                <a:srgbClr val="000000"/>
              </a:solidFill>
              <a:latin typeface="Arial"/>
            </a:endParaRPr>
          </a:p>
        </p:txBody>
      </p:sp>
      <p:sp>
        <p:nvSpPr>
          <p:cNvPr id="102" name="Text 25"/>
          <p:cNvSpPr/>
          <p:nvPr/>
        </p:nvSpPr>
        <p:spPr>
          <a:xfrm>
            <a:off x="2200320" y="7508160"/>
            <a:ext cx="474300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5</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Image 0" descr="preencoded.png"/>
          <p:cNvPicPr/>
          <p:nvPr/>
        </p:nvPicPr>
        <p:blipFill>
          <a:blip r:embed="rId1"/>
          <a:stretch/>
        </p:blipFill>
        <p:spPr>
          <a:xfrm>
            <a:off x="0" y="0"/>
            <a:ext cx="9143640" cy="8022240"/>
          </a:xfrm>
          <a:prstGeom prst="rect">
            <a:avLst/>
          </a:prstGeom>
          <a:ln w="0">
            <a:noFill/>
          </a:ln>
        </p:spPr>
      </p:pic>
      <p:sp>
        <p:nvSpPr>
          <p:cNvPr id="104"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 name="Text 1"/>
          <p:cNvSpPr/>
          <p:nvPr/>
        </p:nvSpPr>
        <p:spPr>
          <a:xfrm>
            <a:off x="2200320" y="535680"/>
            <a:ext cx="3670920" cy="26424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400" spc="-1" strike="noStrike">
                <a:solidFill>
                  <a:srgbClr val="003366"/>
                </a:solidFill>
                <a:latin typeface="Times New Roman"/>
                <a:ea typeface="Times New Roman"/>
              </a:rPr>
              <a:t>LITERATURE REVIEW: COMPARISON</a:t>
            </a:r>
            <a:endParaRPr b="0" lang="en-US" sz="1400" spc="-1" strike="noStrike">
              <a:solidFill>
                <a:srgbClr val="000000"/>
              </a:solidFill>
              <a:latin typeface="Arial"/>
            </a:endParaRPr>
          </a:p>
        </p:txBody>
      </p:sp>
      <p:sp>
        <p:nvSpPr>
          <p:cNvPr id="106" name="Text 2"/>
          <p:cNvSpPr/>
          <p:nvPr/>
        </p:nvSpPr>
        <p:spPr>
          <a:xfrm>
            <a:off x="2200320" y="1107360"/>
            <a:ext cx="474300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900" spc="-1" strike="noStrike">
                <a:solidFill>
                  <a:srgbClr val="003366"/>
                </a:solidFill>
                <a:latin typeface="Arial"/>
                <a:ea typeface="Arial"/>
              </a:rPr>
              <a:t>COMPARATIVE ANALYSIS OF REFERENCES</a:t>
            </a:r>
            <a:endParaRPr b="0" lang="en-US" sz="900" spc="-1" strike="noStrike">
              <a:solidFill>
                <a:srgbClr val="000000"/>
              </a:solidFill>
              <a:latin typeface="Arial"/>
            </a:endParaRPr>
          </a:p>
        </p:txBody>
      </p:sp>
      <p:sp>
        <p:nvSpPr>
          <p:cNvPr id="107" name="Shape 3"/>
          <p:cNvSpPr/>
          <p:nvPr/>
        </p:nvSpPr>
        <p:spPr>
          <a:xfrm>
            <a:off x="2203920" y="1368000"/>
            <a:ext cx="713880" cy="37836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Text 4"/>
          <p:cNvSpPr/>
          <p:nvPr/>
        </p:nvSpPr>
        <p:spPr>
          <a:xfrm>
            <a:off x="2267280" y="1450080"/>
            <a:ext cx="587160" cy="213840"/>
          </a:xfrm>
          <a:prstGeom prst="rect">
            <a:avLst/>
          </a:prstGeom>
          <a:noFill/>
          <a:ln w="0">
            <a:noFill/>
          </a:ln>
        </p:spPr>
        <p:style>
          <a:lnRef idx="0"/>
          <a:fillRef idx="0"/>
          <a:effectRef idx="0"/>
          <a:fontRef idx="minor"/>
        </p:style>
        <p:txBody>
          <a:bodyPr wrap="none" lIns="84960" rIns="84960" tIns="54000" bIns="54000" anchor="ctr">
            <a:spAutoFit/>
          </a:bodyPr>
          <a:p>
            <a:pPr defTabSz="914400">
              <a:lnSpc>
                <a:spcPct val="100000"/>
              </a:lnSpc>
              <a:tabLst>
                <a:tab algn="l" pos="0"/>
              </a:tabLst>
            </a:pPr>
            <a:r>
              <a:rPr b="1" lang="en-US" sz="700" spc="-1" strike="noStrike">
                <a:solidFill>
                  <a:srgbClr val="003366"/>
                </a:solidFill>
                <a:latin typeface="Arial"/>
                <a:ea typeface="Arial"/>
              </a:rPr>
              <a:t>CRITERIA</a:t>
            </a:r>
            <a:endParaRPr b="0" lang="en-US" sz="700" spc="-1" strike="noStrike">
              <a:solidFill>
                <a:srgbClr val="000000"/>
              </a:solidFill>
              <a:latin typeface="Arial"/>
            </a:endParaRPr>
          </a:p>
        </p:txBody>
      </p:sp>
      <p:sp>
        <p:nvSpPr>
          <p:cNvPr id="109" name="Shape 5"/>
          <p:cNvSpPr/>
          <p:nvPr/>
        </p:nvSpPr>
        <p:spPr>
          <a:xfrm>
            <a:off x="2918160" y="1368000"/>
            <a:ext cx="803880" cy="378360"/>
          </a:xfrm>
          <a:prstGeom prst="rect">
            <a:avLst/>
          </a:prstGeom>
          <a:solidFill>
            <a:srgbClr val="f2f2f2"/>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 name="Text 6"/>
          <p:cNvSpPr/>
          <p:nvPr/>
        </p:nvSpPr>
        <p:spPr>
          <a:xfrm>
            <a:off x="2881080" y="1450080"/>
            <a:ext cx="878400" cy="213840"/>
          </a:xfrm>
          <a:prstGeom prst="rect">
            <a:avLst/>
          </a:prstGeom>
          <a:noFill/>
          <a:ln w="0">
            <a:noFill/>
          </a:ln>
        </p:spPr>
        <p:style>
          <a:lnRef idx="0"/>
          <a:fillRef idx="0"/>
          <a:effectRef idx="0"/>
          <a:fontRef idx="minor"/>
        </p:style>
        <p:txBody>
          <a:bodyPr wrap="none" lIns="84960" rIns="84960" tIns="54000" bIns="54000" anchor="ctr">
            <a:spAutoFit/>
          </a:bodyPr>
          <a:p>
            <a:pPr algn="ctr" defTabSz="914400">
              <a:lnSpc>
                <a:spcPct val="100000"/>
              </a:lnSpc>
              <a:tabLst>
                <a:tab algn="l" pos="0"/>
              </a:tabLst>
            </a:pPr>
            <a:r>
              <a:rPr b="1" lang="en-US" sz="700" spc="-1" strike="noStrike">
                <a:solidFill>
                  <a:srgbClr val="003366"/>
                </a:solidFill>
                <a:latin typeface="Arial"/>
                <a:ea typeface="Arial"/>
              </a:rPr>
              <a:t>WANG ET AL. [1]</a:t>
            </a:r>
            <a:endParaRPr b="0" lang="en-US" sz="700" spc="-1" strike="noStrike">
              <a:solidFill>
                <a:srgbClr val="000000"/>
              </a:solidFill>
              <a:latin typeface="Arial"/>
            </a:endParaRPr>
          </a:p>
        </p:txBody>
      </p:sp>
      <p:sp>
        <p:nvSpPr>
          <p:cNvPr id="111" name="Shape 7"/>
          <p:cNvSpPr/>
          <p:nvPr/>
        </p:nvSpPr>
        <p:spPr>
          <a:xfrm>
            <a:off x="3722400" y="1368000"/>
            <a:ext cx="803880" cy="378360"/>
          </a:xfrm>
          <a:prstGeom prst="rect">
            <a:avLst/>
          </a:prstGeom>
          <a:solidFill>
            <a:srgbClr val="f2f2f2"/>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Text 8"/>
          <p:cNvSpPr/>
          <p:nvPr/>
        </p:nvSpPr>
        <p:spPr>
          <a:xfrm>
            <a:off x="3750840" y="1450080"/>
            <a:ext cx="747000" cy="213840"/>
          </a:xfrm>
          <a:prstGeom prst="rect">
            <a:avLst/>
          </a:prstGeom>
          <a:noFill/>
          <a:ln w="0">
            <a:noFill/>
          </a:ln>
        </p:spPr>
        <p:style>
          <a:lnRef idx="0"/>
          <a:fillRef idx="0"/>
          <a:effectRef idx="0"/>
          <a:fontRef idx="minor"/>
        </p:style>
        <p:txBody>
          <a:bodyPr wrap="none" lIns="84960" rIns="84960" tIns="54000" bIns="54000" anchor="ctr">
            <a:spAutoFit/>
          </a:bodyPr>
          <a:p>
            <a:pPr algn="ctr" defTabSz="914400">
              <a:lnSpc>
                <a:spcPct val="100000"/>
              </a:lnSpc>
              <a:tabLst>
                <a:tab algn="l" pos="0"/>
              </a:tabLst>
            </a:pPr>
            <a:r>
              <a:rPr b="1" lang="en-US" sz="700" spc="-1" strike="noStrike">
                <a:solidFill>
                  <a:srgbClr val="003366"/>
                </a:solidFill>
                <a:latin typeface="Arial"/>
                <a:ea typeface="Arial"/>
              </a:rPr>
              <a:t>LIU ET AL. [2]</a:t>
            </a:r>
            <a:endParaRPr b="0" lang="en-US" sz="700" spc="-1" strike="noStrike">
              <a:solidFill>
                <a:srgbClr val="000000"/>
              </a:solidFill>
              <a:latin typeface="Arial"/>
            </a:endParaRPr>
          </a:p>
        </p:txBody>
      </p:sp>
      <p:sp>
        <p:nvSpPr>
          <p:cNvPr id="113" name="Shape 9"/>
          <p:cNvSpPr/>
          <p:nvPr/>
        </p:nvSpPr>
        <p:spPr>
          <a:xfrm>
            <a:off x="4527000" y="1368000"/>
            <a:ext cx="803880" cy="378360"/>
          </a:xfrm>
          <a:prstGeom prst="rect">
            <a:avLst/>
          </a:prstGeom>
          <a:solidFill>
            <a:srgbClr val="f2f2f2"/>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 name="Text 10"/>
          <p:cNvSpPr/>
          <p:nvPr/>
        </p:nvSpPr>
        <p:spPr>
          <a:xfrm>
            <a:off x="4572720" y="1450080"/>
            <a:ext cx="712080" cy="213840"/>
          </a:xfrm>
          <a:prstGeom prst="rect">
            <a:avLst/>
          </a:prstGeom>
          <a:noFill/>
          <a:ln w="0">
            <a:noFill/>
          </a:ln>
        </p:spPr>
        <p:style>
          <a:lnRef idx="0"/>
          <a:fillRef idx="0"/>
          <a:effectRef idx="0"/>
          <a:fontRef idx="minor"/>
        </p:style>
        <p:txBody>
          <a:bodyPr wrap="none" lIns="84960" rIns="84960" tIns="54000" bIns="54000" anchor="ctr">
            <a:spAutoFit/>
          </a:bodyPr>
          <a:p>
            <a:pPr algn="ctr" defTabSz="914400">
              <a:lnSpc>
                <a:spcPct val="100000"/>
              </a:lnSpc>
              <a:tabLst>
                <a:tab algn="l" pos="0"/>
              </a:tabLst>
            </a:pPr>
            <a:r>
              <a:rPr b="1" lang="en-US" sz="700" spc="-1" strike="noStrike">
                <a:solidFill>
                  <a:srgbClr val="003366"/>
                </a:solidFill>
                <a:latin typeface="Arial"/>
                <a:ea typeface="Arial"/>
              </a:rPr>
              <a:t>UN OCHA [3]</a:t>
            </a:r>
            <a:endParaRPr b="0" lang="en-US" sz="700" spc="-1" strike="noStrike">
              <a:solidFill>
                <a:srgbClr val="000000"/>
              </a:solidFill>
              <a:latin typeface="Arial"/>
            </a:endParaRPr>
          </a:p>
        </p:txBody>
      </p:sp>
      <p:sp>
        <p:nvSpPr>
          <p:cNvPr id="115" name="Shape 11"/>
          <p:cNvSpPr/>
          <p:nvPr/>
        </p:nvSpPr>
        <p:spPr>
          <a:xfrm>
            <a:off x="5331240" y="1368000"/>
            <a:ext cx="803880" cy="378360"/>
          </a:xfrm>
          <a:prstGeom prst="rect">
            <a:avLst/>
          </a:prstGeom>
          <a:solidFill>
            <a:srgbClr val="f2f2f2"/>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 name="Text 12"/>
          <p:cNvSpPr/>
          <p:nvPr/>
        </p:nvSpPr>
        <p:spPr>
          <a:xfrm>
            <a:off x="5473800" y="1450080"/>
            <a:ext cx="518400" cy="213840"/>
          </a:xfrm>
          <a:prstGeom prst="rect">
            <a:avLst/>
          </a:prstGeom>
          <a:noFill/>
          <a:ln w="0">
            <a:noFill/>
          </a:ln>
        </p:spPr>
        <p:style>
          <a:lnRef idx="0"/>
          <a:fillRef idx="0"/>
          <a:effectRef idx="0"/>
          <a:fontRef idx="minor"/>
        </p:style>
        <p:txBody>
          <a:bodyPr wrap="none" lIns="84960" rIns="84960" tIns="54000" bIns="54000" anchor="ctr">
            <a:spAutoFit/>
          </a:bodyPr>
          <a:p>
            <a:pPr algn="ctr" defTabSz="914400">
              <a:lnSpc>
                <a:spcPct val="100000"/>
              </a:lnSpc>
              <a:tabLst>
                <a:tab algn="l" pos="0"/>
              </a:tabLst>
            </a:pPr>
            <a:r>
              <a:rPr b="1" lang="en-US" sz="700" spc="-1" strike="noStrike">
                <a:solidFill>
                  <a:srgbClr val="003366"/>
                </a:solidFill>
                <a:latin typeface="Arial"/>
                <a:ea typeface="Arial"/>
              </a:rPr>
              <a:t>WHO [4]</a:t>
            </a:r>
            <a:endParaRPr b="0" lang="en-US" sz="700" spc="-1" strike="noStrike">
              <a:solidFill>
                <a:srgbClr val="000000"/>
              </a:solidFill>
              <a:latin typeface="Arial"/>
            </a:endParaRPr>
          </a:p>
        </p:txBody>
      </p:sp>
      <p:sp>
        <p:nvSpPr>
          <p:cNvPr id="117" name="Shape 13"/>
          <p:cNvSpPr/>
          <p:nvPr/>
        </p:nvSpPr>
        <p:spPr>
          <a:xfrm>
            <a:off x="6135480" y="1368000"/>
            <a:ext cx="804240" cy="378360"/>
          </a:xfrm>
          <a:prstGeom prst="rect">
            <a:avLst/>
          </a:prstGeom>
          <a:solidFill>
            <a:srgbClr val="e6f0ff"/>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 name="Text 14"/>
          <p:cNvSpPr/>
          <p:nvPr/>
        </p:nvSpPr>
        <p:spPr>
          <a:xfrm>
            <a:off x="6008760" y="1450080"/>
            <a:ext cx="1058040" cy="213840"/>
          </a:xfrm>
          <a:prstGeom prst="rect">
            <a:avLst/>
          </a:prstGeom>
          <a:noFill/>
          <a:ln w="0">
            <a:noFill/>
          </a:ln>
        </p:spPr>
        <p:style>
          <a:lnRef idx="0"/>
          <a:fillRef idx="0"/>
          <a:effectRef idx="0"/>
          <a:fontRef idx="minor"/>
        </p:style>
        <p:txBody>
          <a:bodyPr wrap="none" lIns="84960" rIns="84960" tIns="54000" bIns="54000" anchor="ctr">
            <a:spAutoFit/>
          </a:bodyPr>
          <a:p>
            <a:pPr algn="ctr" defTabSz="914400">
              <a:lnSpc>
                <a:spcPct val="100000"/>
              </a:lnSpc>
              <a:tabLst>
                <a:tab algn="l" pos="0"/>
              </a:tabLst>
            </a:pPr>
            <a:r>
              <a:rPr b="1" lang="en-US" sz="700" spc="-1" strike="noStrike">
                <a:solidFill>
                  <a:srgbClr val="003366"/>
                </a:solidFill>
                <a:latin typeface="Arial"/>
                <a:ea typeface="Arial"/>
              </a:rPr>
              <a:t>PROPOSED SYSTEM</a:t>
            </a:r>
            <a:endParaRPr b="0" lang="en-US" sz="700" spc="-1" strike="noStrike">
              <a:solidFill>
                <a:srgbClr val="000000"/>
              </a:solidFill>
              <a:latin typeface="Arial"/>
            </a:endParaRPr>
          </a:p>
        </p:txBody>
      </p:sp>
      <p:sp>
        <p:nvSpPr>
          <p:cNvPr id="119" name="Shape 15"/>
          <p:cNvSpPr/>
          <p:nvPr/>
        </p:nvSpPr>
        <p:spPr>
          <a:xfrm>
            <a:off x="2203920" y="1739520"/>
            <a:ext cx="713880" cy="40968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 name="Text 16"/>
          <p:cNvSpPr/>
          <p:nvPr/>
        </p:nvSpPr>
        <p:spPr>
          <a:xfrm>
            <a:off x="2203920" y="1749240"/>
            <a:ext cx="713880" cy="390240"/>
          </a:xfrm>
          <a:prstGeom prst="rect">
            <a:avLst/>
          </a:prstGeom>
          <a:noFill/>
          <a:ln w="0">
            <a:noFill/>
          </a:ln>
        </p:spPr>
        <p:style>
          <a:lnRef idx="0"/>
          <a:fillRef idx="0"/>
          <a:effectRef idx="0"/>
          <a:fontRef idx="minor"/>
        </p:style>
        <p:txBody>
          <a:bodyPr lIns="84960" rIns="84960" tIns="84960" bIns="84960" anchor="ctr">
            <a:spAutoFit/>
          </a:bodyPr>
          <a:p>
            <a:pPr defTabSz="914400">
              <a:lnSpc>
                <a:spcPct val="104000"/>
              </a:lnSpc>
              <a:tabLst>
                <a:tab algn="l" pos="0"/>
              </a:tabLst>
            </a:pPr>
            <a:r>
              <a:rPr b="1" lang="en-US" sz="700" spc="-1" strike="noStrike">
                <a:solidFill>
                  <a:srgbClr val="000000"/>
                </a:solidFill>
                <a:latin typeface="Times New Roman"/>
                <a:ea typeface="Times New Roman"/>
              </a:rPr>
              <a:t>Primary Focus</a:t>
            </a:r>
            <a:endParaRPr b="0" lang="en-US" sz="700" spc="-1" strike="noStrike">
              <a:solidFill>
                <a:srgbClr val="000000"/>
              </a:solidFill>
              <a:latin typeface="Arial"/>
            </a:endParaRPr>
          </a:p>
        </p:txBody>
      </p:sp>
      <p:sp>
        <p:nvSpPr>
          <p:cNvPr id="121" name="Text 17"/>
          <p:cNvSpPr/>
          <p:nvPr/>
        </p:nvSpPr>
        <p:spPr>
          <a:xfrm>
            <a:off x="2918160" y="182556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Path Planning</a:t>
            </a:r>
            <a:endParaRPr b="0" lang="en-US" sz="750" spc="-1" strike="noStrike">
              <a:solidFill>
                <a:srgbClr val="000000"/>
              </a:solidFill>
              <a:latin typeface="Arial"/>
            </a:endParaRPr>
          </a:p>
        </p:txBody>
      </p:sp>
      <p:sp>
        <p:nvSpPr>
          <p:cNvPr id="122" name="Text 18"/>
          <p:cNvSpPr/>
          <p:nvPr/>
        </p:nvSpPr>
        <p:spPr>
          <a:xfrm>
            <a:off x="3722400" y="182556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EMS Dispatch</a:t>
            </a:r>
            <a:endParaRPr b="0" lang="en-US" sz="750" spc="-1" strike="noStrike">
              <a:solidFill>
                <a:srgbClr val="000000"/>
              </a:solidFill>
              <a:latin typeface="Arial"/>
            </a:endParaRPr>
          </a:p>
        </p:txBody>
      </p:sp>
      <p:sp>
        <p:nvSpPr>
          <p:cNvPr id="123" name="Text 19"/>
          <p:cNvSpPr/>
          <p:nvPr/>
        </p:nvSpPr>
        <p:spPr>
          <a:xfrm>
            <a:off x="4527000" y="1740960"/>
            <a:ext cx="803880" cy="40680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Global Coordination</a:t>
            </a:r>
            <a:endParaRPr b="0" lang="en-US" sz="750" spc="-1" strike="noStrike">
              <a:solidFill>
                <a:srgbClr val="000000"/>
              </a:solidFill>
              <a:latin typeface="Arial"/>
            </a:endParaRPr>
          </a:p>
        </p:txBody>
      </p:sp>
      <p:sp>
        <p:nvSpPr>
          <p:cNvPr id="124" name="Text 20"/>
          <p:cNvSpPr/>
          <p:nvPr/>
        </p:nvSpPr>
        <p:spPr>
          <a:xfrm>
            <a:off x="5331240" y="182556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EMT Standards</a:t>
            </a:r>
            <a:endParaRPr b="0" lang="en-US" sz="750" spc="-1" strike="noStrike">
              <a:solidFill>
                <a:srgbClr val="000000"/>
              </a:solidFill>
              <a:latin typeface="Arial"/>
            </a:endParaRPr>
          </a:p>
        </p:txBody>
      </p:sp>
      <p:sp>
        <p:nvSpPr>
          <p:cNvPr id="125" name="Shape 21"/>
          <p:cNvSpPr/>
          <p:nvPr/>
        </p:nvSpPr>
        <p:spPr>
          <a:xfrm>
            <a:off x="6135480" y="1739520"/>
            <a:ext cx="804240" cy="409680"/>
          </a:xfrm>
          <a:prstGeom prst="rect">
            <a:avLst/>
          </a:prstGeom>
          <a:solidFill>
            <a:srgbClr val="e6f0ff"/>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Text 22"/>
          <p:cNvSpPr/>
          <p:nvPr/>
        </p:nvSpPr>
        <p:spPr>
          <a:xfrm>
            <a:off x="6135480" y="1749240"/>
            <a:ext cx="804240" cy="39024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1" lang="en-US" sz="700" spc="-1" strike="noStrike">
                <a:solidFill>
                  <a:srgbClr val="000000"/>
                </a:solidFill>
                <a:latin typeface="Times New Roman"/>
                <a:ea typeface="Times New Roman"/>
              </a:rPr>
              <a:t>Integrated Matching</a:t>
            </a:r>
            <a:endParaRPr b="0" lang="en-US" sz="700" spc="-1" strike="noStrike">
              <a:solidFill>
                <a:srgbClr val="000000"/>
              </a:solidFill>
              <a:latin typeface="Arial"/>
            </a:endParaRPr>
          </a:p>
        </p:txBody>
      </p:sp>
      <p:sp>
        <p:nvSpPr>
          <p:cNvPr id="127" name="Shape 23"/>
          <p:cNvSpPr/>
          <p:nvPr/>
        </p:nvSpPr>
        <p:spPr>
          <a:xfrm>
            <a:off x="2203920" y="2149560"/>
            <a:ext cx="713880" cy="40968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 name="Text 24"/>
          <p:cNvSpPr/>
          <p:nvPr/>
        </p:nvSpPr>
        <p:spPr>
          <a:xfrm>
            <a:off x="2203920" y="2243880"/>
            <a:ext cx="713880" cy="221400"/>
          </a:xfrm>
          <a:prstGeom prst="rect">
            <a:avLst/>
          </a:prstGeom>
          <a:noFill/>
          <a:ln w="0">
            <a:noFill/>
          </a:ln>
        </p:spPr>
        <p:style>
          <a:lnRef idx="0"/>
          <a:fillRef idx="0"/>
          <a:effectRef idx="0"/>
          <a:fontRef idx="minor"/>
        </p:style>
        <p:txBody>
          <a:bodyPr lIns="84960" rIns="84960" tIns="55800" bIns="55800" anchor="ctr">
            <a:spAutoFit/>
          </a:bodyPr>
          <a:p>
            <a:pPr defTabSz="914400">
              <a:lnSpc>
                <a:spcPct val="104000"/>
              </a:lnSpc>
              <a:tabLst>
                <a:tab algn="l" pos="0"/>
              </a:tabLst>
            </a:pPr>
            <a:r>
              <a:rPr b="1" lang="en-US" sz="700" spc="-1" strike="noStrike">
                <a:solidFill>
                  <a:srgbClr val="000000"/>
                </a:solidFill>
                <a:latin typeface="Times New Roman"/>
                <a:ea typeface="Times New Roman"/>
              </a:rPr>
              <a:t>Core Tech</a:t>
            </a:r>
            <a:endParaRPr b="0" lang="en-US" sz="700" spc="-1" strike="noStrike">
              <a:solidFill>
                <a:srgbClr val="000000"/>
              </a:solidFill>
              <a:latin typeface="Arial"/>
            </a:endParaRPr>
          </a:p>
        </p:txBody>
      </p:sp>
      <p:sp>
        <p:nvSpPr>
          <p:cNvPr id="129" name="Text 25"/>
          <p:cNvSpPr/>
          <p:nvPr/>
        </p:nvSpPr>
        <p:spPr>
          <a:xfrm>
            <a:off x="2918160" y="223560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MOCGA / A*</a:t>
            </a:r>
            <a:endParaRPr b="0" lang="en-US" sz="750" spc="-1" strike="noStrike">
              <a:solidFill>
                <a:srgbClr val="000000"/>
              </a:solidFill>
              <a:latin typeface="Arial"/>
            </a:endParaRPr>
          </a:p>
        </p:txBody>
      </p:sp>
      <p:sp>
        <p:nvSpPr>
          <p:cNvPr id="130" name="Text 26"/>
          <p:cNvSpPr/>
          <p:nvPr/>
        </p:nvSpPr>
        <p:spPr>
          <a:xfrm>
            <a:off x="3722400" y="223560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Optimization</a:t>
            </a:r>
            <a:endParaRPr b="0" lang="en-US" sz="750" spc="-1" strike="noStrike">
              <a:solidFill>
                <a:srgbClr val="000000"/>
              </a:solidFill>
              <a:latin typeface="Arial"/>
            </a:endParaRPr>
          </a:p>
        </p:txBody>
      </p:sp>
      <p:sp>
        <p:nvSpPr>
          <p:cNvPr id="131" name="Text 27"/>
          <p:cNvSpPr/>
          <p:nvPr/>
        </p:nvSpPr>
        <p:spPr>
          <a:xfrm>
            <a:off x="4527000" y="223560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Info Tools</a:t>
            </a:r>
            <a:endParaRPr b="0" lang="en-US" sz="750" spc="-1" strike="noStrike">
              <a:solidFill>
                <a:srgbClr val="000000"/>
              </a:solidFill>
              <a:latin typeface="Arial"/>
            </a:endParaRPr>
          </a:p>
        </p:txBody>
      </p:sp>
      <p:sp>
        <p:nvSpPr>
          <p:cNvPr id="132" name="Text 28"/>
          <p:cNvSpPr/>
          <p:nvPr/>
        </p:nvSpPr>
        <p:spPr>
          <a:xfrm>
            <a:off x="5331240" y="223560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SISMED911</a:t>
            </a:r>
            <a:endParaRPr b="0" lang="en-US" sz="750" spc="-1" strike="noStrike">
              <a:solidFill>
                <a:srgbClr val="000000"/>
              </a:solidFill>
              <a:latin typeface="Arial"/>
            </a:endParaRPr>
          </a:p>
        </p:txBody>
      </p:sp>
      <p:sp>
        <p:nvSpPr>
          <p:cNvPr id="133" name="Shape 29"/>
          <p:cNvSpPr/>
          <p:nvPr/>
        </p:nvSpPr>
        <p:spPr>
          <a:xfrm>
            <a:off x="6135480" y="2149560"/>
            <a:ext cx="804240" cy="409680"/>
          </a:xfrm>
          <a:prstGeom prst="rect">
            <a:avLst/>
          </a:prstGeom>
          <a:solidFill>
            <a:srgbClr val="e6f0ff"/>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4" name="Text 30"/>
          <p:cNvSpPr/>
          <p:nvPr/>
        </p:nvSpPr>
        <p:spPr>
          <a:xfrm>
            <a:off x="6135480" y="2159280"/>
            <a:ext cx="804240" cy="39024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1" lang="en-US" sz="700" spc="-1" strike="noStrike">
                <a:solidFill>
                  <a:srgbClr val="000000"/>
                </a:solidFill>
                <a:latin typeface="Times New Roman"/>
                <a:ea typeface="Times New Roman"/>
              </a:rPr>
              <a:t>Geospatial Telemetry</a:t>
            </a:r>
            <a:endParaRPr b="0" lang="en-US" sz="700" spc="-1" strike="noStrike">
              <a:solidFill>
                <a:srgbClr val="000000"/>
              </a:solidFill>
              <a:latin typeface="Arial"/>
            </a:endParaRPr>
          </a:p>
        </p:txBody>
      </p:sp>
      <p:sp>
        <p:nvSpPr>
          <p:cNvPr id="135" name="Shape 31"/>
          <p:cNvSpPr/>
          <p:nvPr/>
        </p:nvSpPr>
        <p:spPr>
          <a:xfrm>
            <a:off x="2203920" y="2556000"/>
            <a:ext cx="713880" cy="40968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Text 32"/>
          <p:cNvSpPr/>
          <p:nvPr/>
        </p:nvSpPr>
        <p:spPr>
          <a:xfrm>
            <a:off x="2203920" y="2650320"/>
            <a:ext cx="713880" cy="221400"/>
          </a:xfrm>
          <a:prstGeom prst="rect">
            <a:avLst/>
          </a:prstGeom>
          <a:noFill/>
          <a:ln w="0">
            <a:noFill/>
          </a:ln>
        </p:spPr>
        <p:style>
          <a:lnRef idx="0"/>
          <a:fillRef idx="0"/>
          <a:effectRef idx="0"/>
          <a:fontRef idx="minor"/>
        </p:style>
        <p:txBody>
          <a:bodyPr lIns="84960" rIns="84960" tIns="55800" bIns="55800" anchor="ctr">
            <a:spAutoFit/>
          </a:bodyPr>
          <a:p>
            <a:pPr defTabSz="914400">
              <a:lnSpc>
                <a:spcPct val="104000"/>
              </a:lnSpc>
              <a:tabLst>
                <a:tab algn="l" pos="0"/>
              </a:tabLst>
            </a:pPr>
            <a:r>
              <a:rPr b="1" lang="en-US" sz="700" spc="-1" strike="noStrike">
                <a:solidFill>
                  <a:srgbClr val="000000"/>
                </a:solidFill>
                <a:latin typeface="Times New Roman"/>
                <a:ea typeface="Times New Roman"/>
              </a:rPr>
              <a:t>Context</a:t>
            </a:r>
            <a:endParaRPr b="0" lang="en-US" sz="700" spc="-1" strike="noStrike">
              <a:solidFill>
                <a:srgbClr val="000000"/>
              </a:solidFill>
              <a:latin typeface="Arial"/>
            </a:endParaRPr>
          </a:p>
        </p:txBody>
      </p:sp>
      <p:sp>
        <p:nvSpPr>
          <p:cNvPr id="137" name="Text 33"/>
          <p:cNvSpPr/>
          <p:nvPr/>
        </p:nvSpPr>
        <p:spPr>
          <a:xfrm>
            <a:off x="2918160" y="264204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Disaster Chains</a:t>
            </a:r>
            <a:endParaRPr b="0" lang="en-US" sz="750" spc="-1" strike="noStrike">
              <a:solidFill>
                <a:srgbClr val="000000"/>
              </a:solidFill>
              <a:latin typeface="Arial"/>
            </a:endParaRPr>
          </a:p>
        </p:txBody>
      </p:sp>
      <p:sp>
        <p:nvSpPr>
          <p:cNvPr id="138" name="Text 34"/>
          <p:cNvSpPr/>
          <p:nvPr/>
        </p:nvSpPr>
        <p:spPr>
          <a:xfrm>
            <a:off x="3722400" y="2557440"/>
            <a:ext cx="803880" cy="40680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COVID-19 Surges</a:t>
            </a:r>
            <a:endParaRPr b="0" lang="en-US" sz="750" spc="-1" strike="noStrike">
              <a:solidFill>
                <a:srgbClr val="000000"/>
              </a:solidFill>
              <a:latin typeface="Arial"/>
            </a:endParaRPr>
          </a:p>
        </p:txBody>
      </p:sp>
      <p:sp>
        <p:nvSpPr>
          <p:cNvPr id="139" name="Text 35"/>
          <p:cNvSpPr/>
          <p:nvPr/>
        </p:nvSpPr>
        <p:spPr>
          <a:xfrm>
            <a:off x="4527000" y="2557440"/>
            <a:ext cx="803880" cy="40680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Humanitarian Crisis</a:t>
            </a:r>
            <a:endParaRPr b="0" lang="en-US" sz="750" spc="-1" strike="noStrike">
              <a:solidFill>
                <a:srgbClr val="000000"/>
              </a:solidFill>
              <a:latin typeface="Arial"/>
            </a:endParaRPr>
          </a:p>
        </p:txBody>
      </p:sp>
      <p:sp>
        <p:nvSpPr>
          <p:cNvPr id="140" name="Text 36"/>
          <p:cNvSpPr/>
          <p:nvPr/>
        </p:nvSpPr>
        <p:spPr>
          <a:xfrm>
            <a:off x="5331240" y="2642040"/>
            <a:ext cx="80388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Medical Teams</a:t>
            </a:r>
            <a:endParaRPr b="0" lang="en-US" sz="750" spc="-1" strike="noStrike">
              <a:solidFill>
                <a:srgbClr val="000000"/>
              </a:solidFill>
              <a:latin typeface="Arial"/>
            </a:endParaRPr>
          </a:p>
        </p:txBody>
      </p:sp>
      <p:sp>
        <p:nvSpPr>
          <p:cNvPr id="141" name="Shape 37"/>
          <p:cNvSpPr/>
          <p:nvPr/>
        </p:nvSpPr>
        <p:spPr>
          <a:xfrm>
            <a:off x="6135480" y="2556000"/>
            <a:ext cx="804240" cy="409680"/>
          </a:xfrm>
          <a:prstGeom prst="rect">
            <a:avLst/>
          </a:prstGeom>
          <a:solidFill>
            <a:srgbClr val="e6f0ff"/>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 name="Text 38"/>
          <p:cNvSpPr/>
          <p:nvPr/>
        </p:nvSpPr>
        <p:spPr>
          <a:xfrm>
            <a:off x="6135480" y="2650320"/>
            <a:ext cx="804240" cy="221400"/>
          </a:xfrm>
          <a:prstGeom prst="rect">
            <a:avLst/>
          </a:prstGeom>
          <a:noFill/>
          <a:ln w="0">
            <a:noFill/>
          </a:ln>
        </p:spPr>
        <p:style>
          <a:lnRef idx="0"/>
          <a:fillRef idx="0"/>
          <a:effectRef idx="0"/>
          <a:fontRef idx="minor"/>
        </p:style>
        <p:txBody>
          <a:bodyPr lIns="84960" rIns="84960" tIns="55800" bIns="55800" anchor="ctr">
            <a:spAutoFit/>
          </a:bodyPr>
          <a:p>
            <a:pPr algn="ctr" defTabSz="914400">
              <a:lnSpc>
                <a:spcPct val="104000"/>
              </a:lnSpc>
              <a:tabLst>
                <a:tab algn="l" pos="0"/>
              </a:tabLst>
            </a:pPr>
            <a:r>
              <a:rPr b="1" lang="en-US" sz="700" spc="-1" strike="noStrike">
                <a:solidFill>
                  <a:srgbClr val="000000"/>
                </a:solidFill>
                <a:latin typeface="Times New Roman"/>
                <a:ea typeface="Times New Roman"/>
              </a:rPr>
              <a:t>Universal Assets</a:t>
            </a:r>
            <a:endParaRPr b="0" lang="en-US" sz="700" spc="-1" strike="noStrike">
              <a:solidFill>
                <a:srgbClr val="000000"/>
              </a:solidFill>
              <a:latin typeface="Arial"/>
            </a:endParaRPr>
          </a:p>
        </p:txBody>
      </p:sp>
      <p:sp>
        <p:nvSpPr>
          <p:cNvPr id="143" name="Shape 39"/>
          <p:cNvSpPr/>
          <p:nvPr/>
        </p:nvSpPr>
        <p:spPr>
          <a:xfrm>
            <a:off x="2203920" y="2962440"/>
            <a:ext cx="713880" cy="409680"/>
          </a:xfrm>
          <a:prstGeom prst="rect">
            <a:avLst/>
          </a:prstGeom>
          <a:solidFill>
            <a:srgbClr val="f9f9f9"/>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 name="Text 40"/>
          <p:cNvSpPr/>
          <p:nvPr/>
        </p:nvSpPr>
        <p:spPr>
          <a:xfrm>
            <a:off x="2203920" y="2972160"/>
            <a:ext cx="713880" cy="390240"/>
          </a:xfrm>
          <a:prstGeom prst="rect">
            <a:avLst/>
          </a:prstGeom>
          <a:noFill/>
          <a:ln w="0">
            <a:noFill/>
          </a:ln>
        </p:spPr>
        <p:style>
          <a:lnRef idx="0"/>
          <a:fillRef idx="0"/>
          <a:effectRef idx="0"/>
          <a:fontRef idx="minor"/>
        </p:style>
        <p:txBody>
          <a:bodyPr lIns="84960" rIns="84960" tIns="84960" bIns="84960" anchor="ctr">
            <a:spAutoFit/>
          </a:bodyPr>
          <a:p>
            <a:pPr defTabSz="914400">
              <a:lnSpc>
                <a:spcPct val="104000"/>
              </a:lnSpc>
              <a:tabLst>
                <a:tab algn="l" pos="0"/>
              </a:tabLst>
            </a:pPr>
            <a:r>
              <a:rPr b="1" lang="en-US" sz="700" spc="-1" strike="noStrike">
                <a:solidFill>
                  <a:srgbClr val="000000"/>
                </a:solidFill>
                <a:latin typeface="Times New Roman"/>
                <a:ea typeface="Times New Roman"/>
              </a:rPr>
              <a:t>Optimization Goal</a:t>
            </a:r>
            <a:endParaRPr b="0" lang="en-US" sz="700" spc="-1" strike="noStrike">
              <a:solidFill>
                <a:srgbClr val="000000"/>
              </a:solidFill>
              <a:latin typeface="Arial"/>
            </a:endParaRPr>
          </a:p>
        </p:txBody>
      </p:sp>
      <p:sp>
        <p:nvSpPr>
          <p:cNvPr id="145" name="Text 41"/>
          <p:cNvSpPr/>
          <p:nvPr/>
        </p:nvSpPr>
        <p:spPr>
          <a:xfrm>
            <a:off x="2914560" y="3048480"/>
            <a:ext cx="80460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Time &amp; Cost</a:t>
            </a:r>
            <a:endParaRPr b="0" lang="en-US" sz="750" spc="-1" strike="noStrike">
              <a:solidFill>
                <a:srgbClr val="000000"/>
              </a:solidFill>
              <a:latin typeface="Arial"/>
            </a:endParaRPr>
          </a:p>
        </p:txBody>
      </p:sp>
      <p:sp>
        <p:nvSpPr>
          <p:cNvPr id="146" name="Text 42"/>
          <p:cNvSpPr/>
          <p:nvPr/>
        </p:nvSpPr>
        <p:spPr>
          <a:xfrm>
            <a:off x="3719880" y="3048480"/>
            <a:ext cx="80460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Coverage</a:t>
            </a:r>
            <a:endParaRPr b="0" lang="en-US" sz="750" spc="-1" strike="noStrike">
              <a:solidFill>
                <a:srgbClr val="000000"/>
              </a:solidFill>
              <a:latin typeface="Arial"/>
            </a:endParaRPr>
          </a:p>
        </p:txBody>
      </p:sp>
      <p:sp>
        <p:nvSpPr>
          <p:cNvPr id="147" name="Text 43"/>
          <p:cNvSpPr/>
          <p:nvPr/>
        </p:nvSpPr>
        <p:spPr>
          <a:xfrm>
            <a:off x="4524840" y="3048480"/>
            <a:ext cx="80460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Efficiency</a:t>
            </a:r>
            <a:endParaRPr b="0" lang="en-US" sz="750" spc="-1" strike="noStrike">
              <a:solidFill>
                <a:srgbClr val="000000"/>
              </a:solidFill>
              <a:latin typeface="Arial"/>
            </a:endParaRPr>
          </a:p>
        </p:txBody>
      </p:sp>
      <p:sp>
        <p:nvSpPr>
          <p:cNvPr id="148" name="Text 44"/>
          <p:cNvSpPr/>
          <p:nvPr/>
        </p:nvSpPr>
        <p:spPr>
          <a:xfrm>
            <a:off x="5329800" y="3048480"/>
            <a:ext cx="804600" cy="238320"/>
          </a:xfrm>
          <a:prstGeom prst="rect">
            <a:avLst/>
          </a:prstGeom>
          <a:noFill/>
          <a:ln w="0">
            <a:noFill/>
          </a:ln>
        </p:spPr>
        <p:style>
          <a:lnRef idx="0"/>
          <a:fillRef idx="0"/>
          <a:effectRef idx="0"/>
          <a:fontRef idx="minor"/>
        </p:style>
        <p:txBody>
          <a:bodyPr lIns="84960" rIns="84960" tIns="60120" bIns="60120" anchor="ctr">
            <a:spAutoFit/>
          </a:bodyPr>
          <a:p>
            <a:pPr algn="ctr" defTabSz="914400">
              <a:lnSpc>
                <a:spcPct val="104000"/>
              </a:lnSpc>
              <a:tabLst>
                <a:tab algn="l" pos="0"/>
              </a:tabLst>
            </a:pPr>
            <a:r>
              <a:rPr b="0" lang="en-US" sz="750" spc="-1" strike="noStrike">
                <a:solidFill>
                  <a:srgbClr val="000000"/>
                </a:solidFill>
                <a:latin typeface="Times New Roman"/>
                <a:ea typeface="Times New Roman"/>
              </a:rPr>
              <a:t>Dispatch Logic</a:t>
            </a:r>
            <a:endParaRPr b="0" lang="en-US" sz="750" spc="-1" strike="noStrike">
              <a:solidFill>
                <a:srgbClr val="000000"/>
              </a:solidFill>
              <a:latin typeface="Arial"/>
            </a:endParaRPr>
          </a:p>
        </p:txBody>
      </p:sp>
      <p:sp>
        <p:nvSpPr>
          <p:cNvPr id="149" name="Shape 45"/>
          <p:cNvSpPr/>
          <p:nvPr/>
        </p:nvSpPr>
        <p:spPr>
          <a:xfrm>
            <a:off x="6134760" y="2962440"/>
            <a:ext cx="804960" cy="409680"/>
          </a:xfrm>
          <a:prstGeom prst="rect">
            <a:avLst/>
          </a:prstGeom>
          <a:solidFill>
            <a:srgbClr val="e6f0ff"/>
          </a:solidFill>
          <a:ln w="9144">
            <a:solidFill>
              <a:srgbClr val="0033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 name="Text 46"/>
          <p:cNvSpPr/>
          <p:nvPr/>
        </p:nvSpPr>
        <p:spPr>
          <a:xfrm>
            <a:off x="6134760" y="2972160"/>
            <a:ext cx="804960" cy="390240"/>
          </a:xfrm>
          <a:prstGeom prst="rect">
            <a:avLst/>
          </a:prstGeom>
          <a:noFill/>
          <a:ln w="0">
            <a:noFill/>
          </a:ln>
        </p:spPr>
        <p:style>
          <a:lnRef idx="0"/>
          <a:fillRef idx="0"/>
          <a:effectRef idx="0"/>
          <a:fontRef idx="minor"/>
        </p:style>
        <p:txBody>
          <a:bodyPr lIns="84960" rIns="84960" tIns="84960" bIns="84960" anchor="ctr">
            <a:spAutoFit/>
          </a:bodyPr>
          <a:p>
            <a:pPr algn="ctr" defTabSz="914400">
              <a:lnSpc>
                <a:spcPct val="104000"/>
              </a:lnSpc>
              <a:tabLst>
                <a:tab algn="l" pos="0"/>
              </a:tabLst>
            </a:pPr>
            <a:r>
              <a:rPr b="1" lang="en-US" sz="700" spc="-1" strike="noStrike">
                <a:solidFill>
                  <a:srgbClr val="000000"/>
                </a:solidFill>
                <a:latin typeface="Times New Roman"/>
                <a:ea typeface="Times New Roman"/>
              </a:rPr>
              <a:t>Proximity &amp; Availability</a:t>
            </a:r>
            <a:endParaRPr b="0" lang="en-US" sz="700" spc="-1" strike="noStrike">
              <a:solidFill>
                <a:srgbClr val="000000"/>
              </a:solidFill>
              <a:latin typeface="Arial"/>
            </a:endParaRPr>
          </a:p>
        </p:txBody>
      </p:sp>
      <p:sp>
        <p:nvSpPr>
          <p:cNvPr id="151" name="Text 47"/>
          <p:cNvSpPr/>
          <p:nvPr/>
        </p:nvSpPr>
        <p:spPr>
          <a:xfrm>
            <a:off x="2200320" y="3776040"/>
            <a:ext cx="474300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900" spc="-1" strike="noStrike">
                <a:solidFill>
                  <a:srgbClr val="003366"/>
                </a:solidFill>
                <a:latin typeface="Arial"/>
                <a:ea typeface="Arial"/>
              </a:rPr>
              <a:t>RESEARCH GAP AND SYSTEM POSITIONING</a:t>
            </a:r>
            <a:endParaRPr b="0" lang="en-US" sz="900" spc="-1" strike="noStrike">
              <a:solidFill>
                <a:srgbClr val="000000"/>
              </a:solidFill>
              <a:latin typeface="Arial"/>
            </a:endParaRPr>
          </a:p>
        </p:txBody>
      </p:sp>
      <p:sp>
        <p:nvSpPr>
          <p:cNvPr id="152" name="Text 48"/>
          <p:cNvSpPr/>
          <p:nvPr/>
        </p:nvSpPr>
        <p:spPr>
          <a:xfrm>
            <a:off x="2200320" y="4033080"/>
            <a:ext cx="4743000" cy="1390680"/>
          </a:xfrm>
          <a:prstGeom prst="rect">
            <a:avLst/>
          </a:prstGeom>
          <a:noFill/>
          <a:ln w="0">
            <a:noFill/>
          </a:ln>
        </p:spPr>
        <p:style>
          <a:lnRef idx="0"/>
          <a:fillRef idx="0"/>
          <a:effectRef idx="0"/>
          <a:fontRef idx="minor"/>
        </p:style>
        <p:txBody>
          <a:bodyPr lIns="0" rIns="0" tIns="0" bIns="0" anchor="t">
            <a:spAutoFit/>
          </a:bodyPr>
          <a:p>
            <a:r>
              <a:rPr b="0" lang="en-US" sz="900" spc="-1" strike="noStrike">
                <a:solidFill>
                  <a:srgbClr val="000000"/>
                </a:solidFill>
                <a:latin typeface="Times New Roman"/>
                <a:ea typeface="Times New Roman"/>
              </a:rPr>
              <a:t>Existing research and institutional frameworks provide robust theoretical models for path planning </a:t>
            </a:r>
            <a:r>
              <a:rPr b="1" lang="en-US" sz="850" spc="-1" strike="noStrike">
                <a:solidFill>
                  <a:srgbClr val="003366"/>
                </a:solidFill>
                <a:latin typeface="Times New Roman"/>
                <a:ea typeface="Times New Roman"/>
              </a:rPr>
              <a:t>[1]</a:t>
            </a:r>
            <a:r>
              <a:rPr b="0" lang="en-US" sz="900" spc="-1" strike="noStrike">
                <a:solidFill>
                  <a:srgbClr val="000000"/>
                </a:solidFill>
                <a:latin typeface="Times New Roman"/>
                <a:ea typeface="Times New Roman"/>
              </a:rPr>
              <a:t> and analytical dispatch </a:t>
            </a:r>
            <a:r>
              <a:rPr b="1" lang="en-US" sz="850" spc="-1" strike="noStrike">
                <a:solidFill>
                  <a:srgbClr val="003366"/>
                </a:solidFill>
                <a:latin typeface="Times New Roman"/>
                <a:ea typeface="Times New Roman"/>
              </a:rPr>
              <a:t>[2]</a:t>
            </a:r>
            <a:r>
              <a:rPr b="0" lang="en-US" sz="900" spc="-1" strike="noStrike">
                <a:solidFill>
                  <a:srgbClr val="000000"/>
                </a:solidFill>
                <a:latin typeface="Times New Roman"/>
                <a:ea typeface="Times New Roman"/>
              </a:rPr>
              <a:t>, as well as global standards for coordination </a:t>
            </a:r>
            <a:r>
              <a:rPr b="1" lang="en-US" sz="850" spc="-1" strike="noStrike">
                <a:solidFill>
                  <a:srgbClr val="003366"/>
                </a:solidFill>
                <a:latin typeface="Times New Roman"/>
                <a:ea typeface="Times New Roman"/>
              </a:rPr>
              <a:t>[3]</a:t>
            </a:r>
            <a:r>
              <a:rPr b="0" lang="en-US" sz="900" spc="-1" strike="noStrike">
                <a:solidFill>
                  <a:srgbClr val="000000"/>
                </a:solidFill>
                <a:latin typeface="Times New Roman"/>
                <a:ea typeface="Times New Roman"/>
              </a:rPr>
              <a:t> and medical response </a:t>
            </a:r>
            <a:r>
              <a:rPr b="1" lang="en-US" sz="850" spc="-1" strike="noStrike">
                <a:solidFill>
                  <a:srgbClr val="003366"/>
                </a:solidFill>
                <a:latin typeface="Times New Roman"/>
                <a:ea typeface="Times New Roman"/>
              </a:rPr>
              <a:t>[4]</a:t>
            </a:r>
            <a:r>
              <a:rPr b="0" lang="en-US" sz="900" spc="-1" strike="noStrike">
                <a:solidFill>
                  <a:srgbClr val="000000"/>
                </a:solidFill>
                <a:latin typeface="Times New Roman"/>
                <a:ea typeface="Times New Roman"/>
              </a:rPr>
              <a:t>. However, there is a remaining gap in providing a unified, user-accessible platform that combines real-time geospatial matching with a simplified interface for requesting diverse resources (ambulances, blood, volunteers). </a:t>
            </a:r>
            <a:endParaRPr b="0" lang="en-US" sz="900" spc="-1" strike="noStrike">
              <a:solidFill>
                <a:srgbClr val="000000"/>
              </a:solidFill>
              <a:latin typeface="Arial"/>
            </a:endParaRPr>
          </a:p>
          <a:p>
            <a:pPr algn="just" defTabSz="914400">
              <a:lnSpc>
                <a:spcPct val="128000"/>
              </a:lnSpc>
              <a:tabLst>
                <a:tab algn="l" pos="0"/>
              </a:tabLst>
            </a:pPr>
            <a:r>
              <a:rPr b="0" lang="en-US" sz="900" spc="-1" strike="noStrike">
                <a:solidFill>
                  <a:srgbClr val="000000"/>
                </a:solidFill>
                <a:latin typeface="Times New Roman"/>
                <a:ea typeface="Times New Roman"/>
              </a:rPr>
              <a:t> </a:t>
            </a:r>
            <a:r>
              <a:rPr b="0" lang="en-US" sz="900" spc="-1" strike="noStrike">
                <a:solidFill>
                  <a:srgbClr val="000000"/>
                </a:solidFill>
                <a:latin typeface="Times New Roman"/>
                <a:ea typeface="Times New Roman"/>
              </a:rPr>
              <a:t>The </a:t>
            </a:r>
            <a:r>
              <a:rPr b="1" lang="en-US" sz="850" spc="-1" strike="noStrike">
                <a:solidFill>
                  <a:srgbClr val="003366"/>
                </a:solidFill>
                <a:latin typeface="Times New Roman"/>
                <a:ea typeface="Times New Roman"/>
              </a:rPr>
              <a:t>Proposed System</a:t>
            </a:r>
            <a:r>
              <a:rPr b="0" lang="en-US" sz="900" spc="-1" strike="noStrike">
                <a:solidFill>
                  <a:srgbClr val="000000"/>
                </a:solidFill>
                <a:latin typeface="Times New Roman"/>
                <a:ea typeface="Times New Roman"/>
              </a:rPr>
              <a:t> addresses this gap by integrating these advanced optimization concepts into a practical, GPS-enabled coordination tool. Unlike specialized decision-support systems, our platform focuses on the </a:t>
            </a:r>
            <a:r>
              <a:rPr b="1" lang="en-US" sz="850" spc="-1" strike="noStrike">
                <a:solidFill>
                  <a:srgbClr val="003366"/>
                </a:solidFill>
                <a:latin typeface="Times New Roman"/>
                <a:ea typeface="Times New Roman"/>
              </a:rPr>
              <a:t>end-to-end lifecycle</a:t>
            </a:r>
            <a:r>
              <a:rPr b="0" lang="en-US" sz="900" spc="-1" strike="noStrike">
                <a:solidFill>
                  <a:srgbClr val="000000"/>
                </a:solidFill>
                <a:latin typeface="Times New Roman"/>
                <a:ea typeface="Times New Roman"/>
              </a:rPr>
              <a:t> of an emergency request—from the initial citizen/hospital demand to the final responder status update—ensuring transparency and speed at the local and regional levels.</a:t>
            </a:r>
            <a:endParaRPr b="0" lang="en-US" sz="900" spc="-1" strike="noStrike">
              <a:solidFill>
                <a:srgbClr val="000000"/>
              </a:solidFill>
              <a:latin typeface="Arial"/>
            </a:endParaRPr>
          </a:p>
        </p:txBody>
      </p:sp>
      <p:sp>
        <p:nvSpPr>
          <p:cNvPr id="153" name="Text 49"/>
          <p:cNvSpPr/>
          <p:nvPr/>
        </p:nvSpPr>
        <p:spPr>
          <a:xfrm>
            <a:off x="2200320" y="7508160"/>
            <a:ext cx="474300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6</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4" name="Image 0" descr="preencoded.png"/>
          <p:cNvPicPr/>
          <p:nvPr/>
        </p:nvPicPr>
        <p:blipFill>
          <a:blip r:embed="rId1"/>
          <a:stretch/>
        </p:blipFill>
        <p:spPr>
          <a:xfrm>
            <a:off x="0" y="0"/>
            <a:ext cx="9143640" cy="8022240"/>
          </a:xfrm>
          <a:prstGeom prst="rect">
            <a:avLst/>
          </a:prstGeom>
          <a:ln w="0">
            <a:noFill/>
          </a:ln>
        </p:spPr>
      </p:pic>
      <p:sp>
        <p:nvSpPr>
          <p:cNvPr id="155"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6" name="Text 1"/>
          <p:cNvSpPr/>
          <p:nvPr/>
        </p:nvSpPr>
        <p:spPr>
          <a:xfrm>
            <a:off x="2235960" y="689040"/>
            <a:ext cx="2508120" cy="29448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EXPECTED OUTCOME</a:t>
            </a:r>
            <a:endParaRPr b="0" lang="en-US" sz="1600" spc="-1" strike="noStrike">
              <a:solidFill>
                <a:srgbClr val="000000"/>
              </a:solidFill>
              <a:latin typeface="Arial"/>
            </a:endParaRPr>
          </a:p>
        </p:txBody>
      </p:sp>
      <p:sp>
        <p:nvSpPr>
          <p:cNvPr id="157" name="Text 2"/>
          <p:cNvSpPr/>
          <p:nvPr/>
        </p:nvSpPr>
        <p:spPr>
          <a:xfrm>
            <a:off x="2235960" y="1310400"/>
            <a:ext cx="4671720" cy="844200"/>
          </a:xfrm>
          <a:prstGeom prst="rect">
            <a:avLst/>
          </a:prstGeom>
          <a:noFill/>
          <a:ln w="0">
            <a:noFill/>
          </a:ln>
        </p:spPr>
        <p:style>
          <a:lnRef idx="0"/>
          <a:fillRef idx="0"/>
          <a:effectRef idx="0"/>
          <a:fontRef idx="minor"/>
        </p:style>
        <p:txBody>
          <a:bodyPr lIns="0" rIns="0" tIns="0" bIns="0" anchor="t">
            <a:spAutoFit/>
          </a:bodyPr>
          <a:p>
            <a:pPr algn="just" defTabSz="914400">
              <a:lnSpc>
                <a:spcPct val="132000"/>
              </a:lnSpc>
              <a:tabLst>
                <a:tab algn="l" pos="0"/>
              </a:tabLst>
            </a:pPr>
            <a:r>
              <a:rPr b="0" lang="en-US" sz="1050" spc="-1" strike="noStrike">
                <a:solidFill>
                  <a:srgbClr val="000000"/>
                </a:solidFill>
                <a:latin typeface="Times New Roman"/>
                <a:ea typeface="Times New Roman"/>
              </a:rPr>
              <a:t>The system is expected to significantly enhance the effectiveness of disaster response by improving resource visibility and reducing response times. Research indicates that optimizing dispatch and patient allocation can lead to a substantial increase in the total supply rate and better social stability during unexpected disaster chains. </a:t>
            </a:r>
            <a:r>
              <a:rPr b="1" lang="en-US" sz="700" spc="-1" strike="noStrike" baseline="30000">
                <a:solidFill>
                  <a:srgbClr val="003366"/>
                </a:solidFill>
                <a:latin typeface="Arial"/>
                <a:ea typeface="Arial"/>
              </a:rPr>
              <a:t>[1] [2]</a:t>
            </a:r>
            <a:endParaRPr b="0" lang="en-US" sz="700" spc="-1" strike="noStrike">
              <a:solidFill>
                <a:srgbClr val="000000"/>
              </a:solidFill>
              <a:latin typeface="Arial"/>
            </a:endParaRPr>
          </a:p>
        </p:txBody>
      </p:sp>
      <p:sp>
        <p:nvSpPr>
          <p:cNvPr id="158" name="Text 3"/>
          <p:cNvSpPr/>
          <p:nvPr/>
        </p:nvSpPr>
        <p:spPr>
          <a:xfrm>
            <a:off x="3442320" y="3146400"/>
            <a:ext cx="2544480" cy="281520"/>
          </a:xfrm>
          <a:prstGeom prst="rect">
            <a:avLst/>
          </a:prstGeom>
          <a:noFill/>
          <a:ln w="0">
            <a:noFill/>
          </a:ln>
        </p:spPr>
        <p:style>
          <a:lnRef idx="0"/>
          <a:fillRef idx="0"/>
          <a:effectRef idx="0"/>
          <a:fontRef idx="minor"/>
        </p:style>
        <p:txBody>
          <a:bodyPr wrap="none" lIns="0" rIns="0" tIns="0" bIns="0" anchor="t">
            <a:spAutoFit/>
          </a:bodyPr>
          <a:p>
            <a:pPr defTabSz="914400">
              <a:lnSpc>
                <a:spcPct val="176000"/>
              </a:lnSpc>
              <a:tabLst>
                <a:tab algn="l" pos="0"/>
              </a:tabLst>
            </a:pPr>
            <a:r>
              <a:rPr b="0" lang="en-US" sz="1050" spc="-1" strike="noStrike">
                <a:solidFill>
                  <a:srgbClr val="000000"/>
                </a:solidFill>
                <a:latin typeface="Times New Roman"/>
                <a:ea typeface="Times New Roman"/>
              </a:rPr>
              <a:t>Enhanced Resource Visibility and Transparency</a:t>
            </a:r>
            <a:endParaRPr b="0" lang="en-US" sz="1050" spc="-1" strike="noStrike">
              <a:solidFill>
                <a:srgbClr val="000000"/>
              </a:solidFill>
              <a:latin typeface="Arial"/>
            </a:endParaRPr>
          </a:p>
        </p:txBody>
      </p:sp>
      <p:sp>
        <p:nvSpPr>
          <p:cNvPr id="159" name="Text 4"/>
          <p:cNvSpPr/>
          <p:nvPr/>
        </p:nvSpPr>
        <p:spPr>
          <a:xfrm>
            <a:off x="3565800" y="3523680"/>
            <a:ext cx="2297880" cy="281520"/>
          </a:xfrm>
          <a:prstGeom prst="rect">
            <a:avLst/>
          </a:prstGeom>
          <a:noFill/>
          <a:ln w="0">
            <a:noFill/>
          </a:ln>
        </p:spPr>
        <p:style>
          <a:lnRef idx="0"/>
          <a:fillRef idx="0"/>
          <a:effectRef idx="0"/>
          <a:fontRef idx="minor"/>
        </p:style>
        <p:txBody>
          <a:bodyPr wrap="none" lIns="0" rIns="0" tIns="0" bIns="0" anchor="t">
            <a:spAutoFit/>
          </a:bodyPr>
          <a:p>
            <a:pPr defTabSz="914400">
              <a:lnSpc>
                <a:spcPct val="176000"/>
              </a:lnSpc>
              <a:tabLst>
                <a:tab algn="l" pos="0"/>
              </a:tabLst>
            </a:pPr>
            <a:r>
              <a:rPr b="0" lang="en-US" sz="1050" spc="-1" strike="noStrike">
                <a:solidFill>
                  <a:srgbClr val="000000"/>
                </a:solidFill>
                <a:latin typeface="Times New Roman"/>
                <a:ea typeface="Times New Roman"/>
              </a:rPr>
              <a:t>Significant Reduction in Response Latency</a:t>
            </a:r>
            <a:endParaRPr b="0" lang="en-US" sz="1050" spc="-1" strike="noStrike">
              <a:solidFill>
                <a:srgbClr val="000000"/>
              </a:solidFill>
              <a:latin typeface="Arial"/>
            </a:endParaRPr>
          </a:p>
        </p:txBody>
      </p:sp>
      <p:sp>
        <p:nvSpPr>
          <p:cNvPr id="160" name="Text 5"/>
          <p:cNvSpPr/>
          <p:nvPr/>
        </p:nvSpPr>
        <p:spPr>
          <a:xfrm>
            <a:off x="3576600" y="3900600"/>
            <a:ext cx="2276280" cy="281520"/>
          </a:xfrm>
          <a:prstGeom prst="rect">
            <a:avLst/>
          </a:prstGeom>
          <a:noFill/>
          <a:ln w="0">
            <a:noFill/>
          </a:ln>
        </p:spPr>
        <p:style>
          <a:lnRef idx="0"/>
          <a:fillRef idx="0"/>
          <a:effectRef idx="0"/>
          <a:fontRef idx="minor"/>
        </p:style>
        <p:txBody>
          <a:bodyPr wrap="none" lIns="0" rIns="0" tIns="0" bIns="0" anchor="t">
            <a:spAutoFit/>
          </a:bodyPr>
          <a:p>
            <a:pPr defTabSz="914400">
              <a:lnSpc>
                <a:spcPct val="176000"/>
              </a:lnSpc>
              <a:tabLst>
                <a:tab algn="l" pos="0"/>
              </a:tabLst>
            </a:pPr>
            <a:r>
              <a:rPr b="0" lang="en-US" sz="1050" spc="-1" strike="noStrike">
                <a:solidFill>
                  <a:srgbClr val="000000"/>
                </a:solidFill>
                <a:latin typeface="Times New Roman"/>
                <a:ea typeface="Times New Roman"/>
              </a:rPr>
              <a:t>Optimized Dispatch and Patient Allocation</a:t>
            </a:r>
            <a:endParaRPr b="0" lang="en-US" sz="1050" spc="-1" strike="noStrike">
              <a:solidFill>
                <a:srgbClr val="000000"/>
              </a:solidFill>
              <a:latin typeface="Arial"/>
            </a:endParaRPr>
          </a:p>
        </p:txBody>
      </p:sp>
      <p:sp>
        <p:nvSpPr>
          <p:cNvPr id="161" name="Text 6"/>
          <p:cNvSpPr/>
          <p:nvPr/>
        </p:nvSpPr>
        <p:spPr>
          <a:xfrm>
            <a:off x="3394440" y="4277880"/>
            <a:ext cx="2640600" cy="281520"/>
          </a:xfrm>
          <a:prstGeom prst="rect">
            <a:avLst/>
          </a:prstGeom>
          <a:noFill/>
          <a:ln w="0">
            <a:noFill/>
          </a:ln>
        </p:spPr>
        <p:style>
          <a:lnRef idx="0"/>
          <a:fillRef idx="0"/>
          <a:effectRef idx="0"/>
          <a:fontRef idx="minor"/>
        </p:style>
        <p:txBody>
          <a:bodyPr wrap="none" lIns="0" rIns="0" tIns="0" bIns="0" anchor="t">
            <a:spAutoFit/>
          </a:bodyPr>
          <a:p>
            <a:pPr defTabSz="914400">
              <a:lnSpc>
                <a:spcPct val="176000"/>
              </a:lnSpc>
              <a:tabLst>
                <a:tab algn="l" pos="0"/>
              </a:tabLst>
            </a:pPr>
            <a:r>
              <a:rPr b="0" lang="en-US" sz="1050" spc="-1" strike="noStrike">
                <a:solidFill>
                  <a:srgbClr val="000000"/>
                </a:solidFill>
                <a:latin typeface="Times New Roman"/>
                <a:ea typeface="Times New Roman"/>
              </a:rPr>
              <a:t>Improved Social Stability During Disaster Chains</a:t>
            </a:r>
            <a:endParaRPr b="0" lang="en-US" sz="1050" spc="-1" strike="noStrike">
              <a:solidFill>
                <a:srgbClr val="000000"/>
              </a:solidFill>
              <a:latin typeface="Arial"/>
            </a:endParaRPr>
          </a:p>
        </p:txBody>
      </p:sp>
      <p:sp>
        <p:nvSpPr>
          <p:cNvPr id="162" name="Text 7"/>
          <p:cNvSpPr/>
          <p:nvPr/>
        </p:nvSpPr>
        <p:spPr>
          <a:xfrm>
            <a:off x="3421800" y="4655160"/>
            <a:ext cx="2585880" cy="281520"/>
          </a:xfrm>
          <a:prstGeom prst="rect">
            <a:avLst/>
          </a:prstGeom>
          <a:noFill/>
          <a:ln w="0">
            <a:noFill/>
          </a:ln>
        </p:spPr>
        <p:style>
          <a:lnRef idx="0"/>
          <a:fillRef idx="0"/>
          <a:effectRef idx="0"/>
          <a:fontRef idx="minor"/>
        </p:style>
        <p:txBody>
          <a:bodyPr wrap="none" lIns="0" rIns="0" tIns="0" bIns="0" anchor="t">
            <a:spAutoFit/>
          </a:bodyPr>
          <a:p>
            <a:pPr defTabSz="914400">
              <a:lnSpc>
                <a:spcPct val="176000"/>
              </a:lnSpc>
              <a:tabLst>
                <a:tab algn="l" pos="0"/>
              </a:tabLst>
            </a:pPr>
            <a:r>
              <a:rPr b="0" lang="en-US" sz="1050" spc="-1" strike="noStrike">
                <a:solidFill>
                  <a:srgbClr val="000000"/>
                </a:solidFill>
                <a:latin typeface="Times New Roman"/>
                <a:ea typeface="Times New Roman"/>
              </a:rPr>
              <a:t>Scalable Coordination for Mass-Casualty Events</a:t>
            </a:r>
            <a:endParaRPr b="0" lang="en-US" sz="1050" spc="-1" strike="noStrike">
              <a:solidFill>
                <a:srgbClr val="000000"/>
              </a:solidFill>
              <a:latin typeface="Arial"/>
            </a:endParaRPr>
          </a:p>
        </p:txBody>
      </p:sp>
      <p:sp>
        <p:nvSpPr>
          <p:cNvPr id="163" name="Text 8"/>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7</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Image 0" descr="preencoded.png"/>
          <p:cNvPicPr/>
          <p:nvPr/>
        </p:nvPicPr>
        <p:blipFill>
          <a:blip r:embed="rId1"/>
          <a:stretch/>
        </p:blipFill>
        <p:spPr>
          <a:xfrm>
            <a:off x="0" y="0"/>
            <a:ext cx="9143640" cy="8022240"/>
          </a:xfrm>
          <a:prstGeom prst="rect">
            <a:avLst/>
          </a:prstGeom>
          <a:ln w="0">
            <a:noFill/>
          </a:ln>
        </p:spPr>
      </p:pic>
      <p:sp>
        <p:nvSpPr>
          <p:cNvPr id="165"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6" name="Text 1"/>
          <p:cNvSpPr/>
          <p:nvPr/>
        </p:nvSpPr>
        <p:spPr>
          <a:xfrm>
            <a:off x="2235960" y="535680"/>
            <a:ext cx="1983600" cy="29448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SYSTEM DETAILS</a:t>
            </a:r>
            <a:endParaRPr b="0" lang="en-US" sz="1600" spc="-1" strike="noStrike">
              <a:solidFill>
                <a:srgbClr val="000000"/>
              </a:solidFill>
              <a:latin typeface="Arial"/>
            </a:endParaRPr>
          </a:p>
        </p:txBody>
      </p:sp>
      <p:sp>
        <p:nvSpPr>
          <p:cNvPr id="167" name="Text 2"/>
          <p:cNvSpPr/>
          <p:nvPr/>
        </p:nvSpPr>
        <p:spPr>
          <a:xfrm>
            <a:off x="2235960" y="1321560"/>
            <a:ext cx="467172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900" spc="-1" strike="noStrike">
                <a:solidFill>
                  <a:srgbClr val="003366"/>
                </a:solidFill>
                <a:latin typeface="Arial"/>
                <a:ea typeface="Arial"/>
              </a:rPr>
              <a:t>CORE DATA MODEL</a:t>
            </a:r>
            <a:endParaRPr b="0" lang="en-US" sz="900" spc="-1" strike="noStrike">
              <a:solidFill>
                <a:srgbClr val="000000"/>
              </a:solidFill>
              <a:latin typeface="Arial"/>
            </a:endParaRPr>
          </a:p>
        </p:txBody>
      </p:sp>
      <p:sp>
        <p:nvSpPr>
          <p:cNvPr id="168" name="Shape 3"/>
          <p:cNvSpPr/>
          <p:nvPr/>
        </p:nvSpPr>
        <p:spPr>
          <a:xfrm>
            <a:off x="2235960" y="1578600"/>
            <a:ext cx="1167480" cy="310320"/>
          </a:xfrm>
          <a:prstGeom prst="rect">
            <a:avLst/>
          </a:prstGeom>
          <a:solidFill>
            <a:srgbClr val="f9f9f9"/>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9" name="Shape 4"/>
          <p:cNvSpPr/>
          <p:nvPr/>
        </p:nvSpPr>
        <p:spPr>
          <a:xfrm>
            <a:off x="2235960" y="1875240"/>
            <a:ext cx="1167480" cy="14040"/>
          </a:xfrm>
          <a:prstGeom prst="rect">
            <a:avLst/>
          </a:prstGeom>
          <a:solidFill>
            <a:srgbClr val="003366"/>
          </a:solidFill>
          <a:ln w="0">
            <a:noFill/>
          </a:ln>
        </p:spPr>
        <p:style>
          <a:lnRef idx="0"/>
          <a:fillRef idx="0"/>
          <a:effectRef idx="0"/>
          <a:fontRef idx="minor"/>
        </p:style>
        <p:txBody>
          <a:bodyPr lIns="90000" rIns="90000" tIns="-30600" bIns="-30600" anchor="t">
            <a:noAutofit/>
          </a:bodyPr>
          <a:p>
            <a:endParaRPr b="0" lang="en-US" sz="1800" spc="-1" strike="noStrike">
              <a:solidFill>
                <a:srgbClr val="ffffff"/>
              </a:solidFill>
              <a:latin typeface="Arial"/>
            </a:endParaRPr>
          </a:p>
        </p:txBody>
      </p:sp>
      <p:sp>
        <p:nvSpPr>
          <p:cNvPr id="170" name="Text 5"/>
          <p:cNvSpPr/>
          <p:nvPr/>
        </p:nvSpPr>
        <p:spPr>
          <a:xfrm>
            <a:off x="2535480" y="1612080"/>
            <a:ext cx="568440" cy="244080"/>
          </a:xfrm>
          <a:prstGeom prst="rect">
            <a:avLst/>
          </a:prstGeom>
          <a:noFill/>
          <a:ln w="0">
            <a:noFill/>
          </a:ln>
        </p:spPr>
        <p:style>
          <a:lnRef idx="0"/>
          <a:fillRef idx="0"/>
          <a:effectRef idx="0"/>
          <a:fontRef idx="minor"/>
        </p:style>
        <p:txBody>
          <a:bodyPr wrap="none" lIns="102240" rIns="102240" tIns="61560" bIns="61560" anchor="ctr">
            <a:spAutoFit/>
          </a:bodyPr>
          <a:p>
            <a:pPr defTabSz="914400">
              <a:lnSpc>
                <a:spcPct val="100000"/>
              </a:lnSpc>
              <a:tabLst>
                <a:tab algn="l" pos="0"/>
              </a:tabLst>
            </a:pPr>
            <a:r>
              <a:rPr b="1" lang="en-US" sz="800" spc="-1" strike="noStrike">
                <a:solidFill>
                  <a:srgbClr val="000000"/>
                </a:solidFill>
                <a:latin typeface="Arial"/>
                <a:ea typeface="Arial"/>
              </a:rPr>
              <a:t>ENTITY</a:t>
            </a:r>
            <a:endParaRPr b="0" lang="en-US" sz="800" spc="-1" strike="noStrike">
              <a:solidFill>
                <a:srgbClr val="000000"/>
              </a:solidFill>
              <a:latin typeface="Arial"/>
            </a:endParaRPr>
          </a:p>
        </p:txBody>
      </p:sp>
      <p:sp>
        <p:nvSpPr>
          <p:cNvPr id="171" name="Shape 6"/>
          <p:cNvSpPr/>
          <p:nvPr/>
        </p:nvSpPr>
        <p:spPr>
          <a:xfrm>
            <a:off x="3404160" y="1578600"/>
            <a:ext cx="1634760" cy="310320"/>
          </a:xfrm>
          <a:prstGeom prst="rect">
            <a:avLst/>
          </a:prstGeom>
          <a:solidFill>
            <a:srgbClr val="f9f9f9"/>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2" name="Shape 7"/>
          <p:cNvSpPr/>
          <p:nvPr/>
        </p:nvSpPr>
        <p:spPr>
          <a:xfrm>
            <a:off x="3404160" y="1875240"/>
            <a:ext cx="1634760" cy="14040"/>
          </a:xfrm>
          <a:prstGeom prst="rect">
            <a:avLst/>
          </a:prstGeom>
          <a:solidFill>
            <a:srgbClr val="003366"/>
          </a:solidFill>
          <a:ln w="0">
            <a:noFill/>
          </a:ln>
        </p:spPr>
        <p:style>
          <a:lnRef idx="0"/>
          <a:fillRef idx="0"/>
          <a:effectRef idx="0"/>
          <a:fontRef idx="minor"/>
        </p:style>
        <p:txBody>
          <a:bodyPr lIns="90000" rIns="90000" tIns="-30600" bIns="-30600" anchor="t">
            <a:noAutofit/>
          </a:bodyPr>
          <a:p>
            <a:endParaRPr b="0" lang="en-US" sz="1800" spc="-1" strike="noStrike">
              <a:solidFill>
                <a:srgbClr val="ffffff"/>
              </a:solidFill>
              <a:latin typeface="Arial"/>
            </a:endParaRPr>
          </a:p>
        </p:txBody>
      </p:sp>
      <p:sp>
        <p:nvSpPr>
          <p:cNvPr id="173" name="Text 8"/>
          <p:cNvSpPr/>
          <p:nvPr/>
        </p:nvSpPr>
        <p:spPr>
          <a:xfrm>
            <a:off x="3404160" y="1612080"/>
            <a:ext cx="1634760" cy="244080"/>
          </a:xfrm>
          <a:prstGeom prst="rect">
            <a:avLst/>
          </a:prstGeom>
          <a:noFill/>
          <a:ln w="0">
            <a:noFill/>
          </a:ln>
        </p:spPr>
        <p:style>
          <a:lnRef idx="0"/>
          <a:fillRef idx="0"/>
          <a:effectRef idx="0"/>
          <a:fontRef idx="minor"/>
        </p:style>
        <p:txBody>
          <a:bodyPr lIns="102240" rIns="102240" tIns="61560" bIns="61560" anchor="ctr">
            <a:spAutoFit/>
          </a:bodyPr>
          <a:p>
            <a:pPr defTabSz="914400">
              <a:lnSpc>
                <a:spcPct val="100000"/>
              </a:lnSpc>
              <a:tabLst>
                <a:tab algn="l" pos="0"/>
              </a:tabLst>
            </a:pPr>
            <a:r>
              <a:rPr b="1" lang="en-US" sz="800" spc="-1" strike="noStrike">
                <a:solidFill>
                  <a:srgbClr val="000000"/>
                </a:solidFill>
                <a:latin typeface="Arial"/>
                <a:ea typeface="Arial"/>
              </a:rPr>
              <a:t>INFORMATION</a:t>
            </a:r>
            <a:endParaRPr b="0" lang="en-US" sz="800" spc="-1" strike="noStrike">
              <a:solidFill>
                <a:srgbClr val="000000"/>
              </a:solidFill>
              <a:latin typeface="Arial"/>
            </a:endParaRPr>
          </a:p>
        </p:txBody>
      </p:sp>
      <p:sp>
        <p:nvSpPr>
          <p:cNvPr id="174" name="Shape 9"/>
          <p:cNvSpPr/>
          <p:nvPr/>
        </p:nvSpPr>
        <p:spPr>
          <a:xfrm>
            <a:off x="5039280" y="1578600"/>
            <a:ext cx="1868400" cy="310320"/>
          </a:xfrm>
          <a:prstGeom prst="rect">
            <a:avLst/>
          </a:prstGeom>
          <a:solidFill>
            <a:srgbClr val="f9f9f9"/>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Shape 10"/>
          <p:cNvSpPr/>
          <p:nvPr/>
        </p:nvSpPr>
        <p:spPr>
          <a:xfrm>
            <a:off x="5039280" y="1875240"/>
            <a:ext cx="1868400" cy="14040"/>
          </a:xfrm>
          <a:prstGeom prst="rect">
            <a:avLst/>
          </a:prstGeom>
          <a:solidFill>
            <a:srgbClr val="003366"/>
          </a:solidFill>
          <a:ln w="0">
            <a:noFill/>
          </a:ln>
        </p:spPr>
        <p:style>
          <a:lnRef idx="0"/>
          <a:fillRef idx="0"/>
          <a:effectRef idx="0"/>
          <a:fontRef idx="minor"/>
        </p:style>
        <p:txBody>
          <a:bodyPr lIns="90000" rIns="90000" tIns="-30600" bIns="-30600" anchor="t">
            <a:noAutofit/>
          </a:bodyPr>
          <a:p>
            <a:endParaRPr b="0" lang="en-US" sz="1800" spc="-1" strike="noStrike">
              <a:solidFill>
                <a:srgbClr val="ffffff"/>
              </a:solidFill>
              <a:latin typeface="Arial"/>
            </a:endParaRPr>
          </a:p>
        </p:txBody>
      </p:sp>
      <p:sp>
        <p:nvSpPr>
          <p:cNvPr id="176" name="Text 11"/>
          <p:cNvSpPr/>
          <p:nvPr/>
        </p:nvSpPr>
        <p:spPr>
          <a:xfrm>
            <a:off x="5039280" y="1612080"/>
            <a:ext cx="1868400" cy="244080"/>
          </a:xfrm>
          <a:prstGeom prst="rect">
            <a:avLst/>
          </a:prstGeom>
          <a:noFill/>
          <a:ln w="0">
            <a:noFill/>
          </a:ln>
        </p:spPr>
        <p:style>
          <a:lnRef idx="0"/>
          <a:fillRef idx="0"/>
          <a:effectRef idx="0"/>
          <a:fontRef idx="minor"/>
        </p:style>
        <p:txBody>
          <a:bodyPr lIns="102240" rIns="102240" tIns="61560" bIns="61560" anchor="ctr">
            <a:spAutoFit/>
          </a:bodyPr>
          <a:p>
            <a:pPr defTabSz="914400">
              <a:lnSpc>
                <a:spcPct val="100000"/>
              </a:lnSpc>
              <a:tabLst>
                <a:tab algn="l" pos="0"/>
              </a:tabLst>
            </a:pPr>
            <a:r>
              <a:rPr b="1" lang="en-US" sz="800" spc="-1" strike="noStrike">
                <a:solidFill>
                  <a:srgbClr val="000000"/>
                </a:solidFill>
                <a:latin typeface="Arial"/>
                <a:ea typeface="Arial"/>
              </a:rPr>
              <a:t>PURPOSE</a:t>
            </a:r>
            <a:endParaRPr b="0" lang="en-US" sz="800" spc="-1" strike="noStrike">
              <a:solidFill>
                <a:srgbClr val="000000"/>
              </a:solidFill>
              <a:latin typeface="Arial"/>
            </a:endParaRPr>
          </a:p>
        </p:txBody>
      </p:sp>
      <p:sp>
        <p:nvSpPr>
          <p:cNvPr id="177" name="Text 12"/>
          <p:cNvSpPr/>
          <p:nvPr/>
        </p:nvSpPr>
        <p:spPr>
          <a:xfrm>
            <a:off x="2347200" y="2062440"/>
            <a:ext cx="441360" cy="1357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800" spc="-1" strike="noStrike">
                <a:solidFill>
                  <a:srgbClr val="000000"/>
                </a:solidFill>
                <a:latin typeface="Times New Roman"/>
                <a:ea typeface="Times New Roman"/>
              </a:rPr>
              <a:t>Resources</a:t>
            </a:r>
            <a:endParaRPr b="0" lang="en-US" sz="800" spc="-1" strike="noStrike">
              <a:solidFill>
                <a:srgbClr val="000000"/>
              </a:solidFill>
              <a:latin typeface="Arial"/>
            </a:endParaRPr>
          </a:p>
        </p:txBody>
      </p:sp>
      <p:sp>
        <p:nvSpPr>
          <p:cNvPr id="178" name="Text 13"/>
          <p:cNvSpPr/>
          <p:nvPr/>
        </p:nvSpPr>
        <p:spPr>
          <a:xfrm>
            <a:off x="3404160" y="1882800"/>
            <a:ext cx="1634760" cy="493920"/>
          </a:xfrm>
          <a:prstGeom prst="rect">
            <a:avLst/>
          </a:prstGeom>
          <a:noFill/>
          <a:ln w="0">
            <a:noFill/>
          </a:ln>
        </p:spPr>
        <p:style>
          <a:lnRef idx="0"/>
          <a:fillRef idx="0"/>
          <a:effectRef idx="0"/>
          <a:fontRef idx="minor"/>
        </p:style>
        <p:txBody>
          <a:bodyPr lIns="102240" rIns="102240" tIns="102240" bIns="102240" anchor="ctr">
            <a:spAutoFit/>
          </a:bodyPr>
          <a:p>
            <a:pPr defTabSz="914400">
              <a:lnSpc>
                <a:spcPct val="112000"/>
              </a:lnSpc>
              <a:tabLst>
                <a:tab algn="l" pos="0"/>
              </a:tabLst>
            </a:pPr>
            <a:r>
              <a:rPr b="0" lang="en-US" sz="850" spc="-1" strike="noStrike">
                <a:solidFill>
                  <a:srgbClr val="000000"/>
                </a:solidFill>
                <a:latin typeface="Times New Roman"/>
                <a:ea typeface="Times New Roman"/>
              </a:rPr>
              <a:t>ID, Type, Capabilities, Base Location</a:t>
            </a:r>
            <a:endParaRPr b="0" lang="en-US" sz="850" spc="-1" strike="noStrike">
              <a:solidFill>
                <a:srgbClr val="000000"/>
              </a:solidFill>
              <a:latin typeface="Arial"/>
            </a:endParaRPr>
          </a:p>
        </p:txBody>
      </p:sp>
      <p:sp>
        <p:nvSpPr>
          <p:cNvPr id="179" name="Text 14"/>
          <p:cNvSpPr/>
          <p:nvPr/>
        </p:nvSpPr>
        <p:spPr>
          <a:xfrm>
            <a:off x="5039280" y="1882800"/>
            <a:ext cx="1868400" cy="493920"/>
          </a:xfrm>
          <a:prstGeom prst="rect">
            <a:avLst/>
          </a:prstGeom>
          <a:noFill/>
          <a:ln w="0">
            <a:noFill/>
          </a:ln>
        </p:spPr>
        <p:style>
          <a:lnRef idx="0"/>
          <a:fillRef idx="0"/>
          <a:effectRef idx="0"/>
          <a:fontRef idx="minor"/>
        </p:style>
        <p:txBody>
          <a:bodyPr lIns="102240" rIns="102240" tIns="102240" bIns="102240" anchor="ctr">
            <a:spAutoFit/>
          </a:bodyPr>
          <a:p>
            <a:pPr defTabSz="914400">
              <a:lnSpc>
                <a:spcPct val="112000"/>
              </a:lnSpc>
              <a:tabLst>
                <a:tab algn="l" pos="0"/>
              </a:tabLst>
            </a:pPr>
            <a:r>
              <a:rPr b="0" lang="en-US" sz="850" spc="-1" strike="noStrike">
                <a:solidFill>
                  <a:srgbClr val="000000"/>
                </a:solidFill>
                <a:latin typeface="Times New Roman"/>
                <a:ea typeface="Times New Roman"/>
              </a:rPr>
              <a:t>Master data for asset management and capability mapping.</a:t>
            </a:r>
            <a:endParaRPr b="0" lang="en-US" sz="850" spc="-1" strike="noStrike">
              <a:solidFill>
                <a:srgbClr val="000000"/>
              </a:solidFill>
              <a:latin typeface="Arial"/>
            </a:endParaRPr>
          </a:p>
        </p:txBody>
      </p:sp>
      <p:sp>
        <p:nvSpPr>
          <p:cNvPr id="180" name="Text 15"/>
          <p:cNvSpPr/>
          <p:nvPr/>
        </p:nvSpPr>
        <p:spPr>
          <a:xfrm>
            <a:off x="2337480" y="2565720"/>
            <a:ext cx="272520" cy="1357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800" spc="-1" strike="noStrike">
                <a:solidFill>
                  <a:srgbClr val="000000"/>
                </a:solidFill>
                <a:latin typeface="Times New Roman"/>
                <a:ea typeface="Times New Roman"/>
              </a:rPr>
              <a:t>Status</a:t>
            </a:r>
            <a:endParaRPr b="0" lang="en-US" sz="800" spc="-1" strike="noStrike">
              <a:solidFill>
                <a:srgbClr val="000000"/>
              </a:solidFill>
              <a:latin typeface="Arial"/>
            </a:endParaRPr>
          </a:p>
        </p:txBody>
      </p:sp>
      <p:sp>
        <p:nvSpPr>
          <p:cNvPr id="181" name="Text 16"/>
          <p:cNvSpPr/>
          <p:nvPr/>
        </p:nvSpPr>
        <p:spPr>
          <a:xfrm>
            <a:off x="3404160" y="2384280"/>
            <a:ext cx="1634760" cy="493920"/>
          </a:xfrm>
          <a:prstGeom prst="rect">
            <a:avLst/>
          </a:prstGeom>
          <a:noFill/>
          <a:ln w="0">
            <a:noFill/>
          </a:ln>
        </p:spPr>
        <p:style>
          <a:lnRef idx="0"/>
          <a:fillRef idx="0"/>
          <a:effectRef idx="0"/>
          <a:fontRef idx="minor"/>
        </p:style>
        <p:txBody>
          <a:bodyPr lIns="102240" rIns="102240" tIns="102240" bIns="102240" anchor="ctr">
            <a:spAutoFit/>
          </a:bodyPr>
          <a:p>
            <a:pPr defTabSz="914400">
              <a:lnSpc>
                <a:spcPct val="112000"/>
              </a:lnSpc>
              <a:tabLst>
                <a:tab algn="l" pos="0"/>
              </a:tabLst>
            </a:pPr>
            <a:r>
              <a:rPr b="0" lang="en-US" sz="850" spc="-1" strike="noStrike">
                <a:solidFill>
                  <a:srgbClr val="000000"/>
                </a:solidFill>
                <a:latin typeface="Times New Roman"/>
                <a:ea typeface="Times New Roman"/>
              </a:rPr>
              <a:t>Lat/Long, Availability, Timestamp</a:t>
            </a:r>
            <a:endParaRPr b="0" lang="en-US" sz="850" spc="-1" strike="noStrike">
              <a:solidFill>
                <a:srgbClr val="000000"/>
              </a:solidFill>
              <a:latin typeface="Arial"/>
            </a:endParaRPr>
          </a:p>
        </p:txBody>
      </p:sp>
      <p:sp>
        <p:nvSpPr>
          <p:cNvPr id="182" name="Text 17"/>
          <p:cNvSpPr/>
          <p:nvPr/>
        </p:nvSpPr>
        <p:spPr>
          <a:xfrm>
            <a:off x="5124960" y="2481120"/>
            <a:ext cx="1586880" cy="29052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50" spc="-1" strike="noStrike">
                <a:solidFill>
                  <a:srgbClr val="000000"/>
                </a:solidFill>
                <a:latin typeface="Times New Roman"/>
                <a:ea typeface="Times New Roman"/>
              </a:rPr>
              <a:t>Live operational tracking and GPS telemetry for dispatch.</a:t>
            </a:r>
            <a:endParaRPr b="0" lang="en-US" sz="850" spc="-1" strike="noStrike">
              <a:solidFill>
                <a:srgbClr val="000000"/>
              </a:solidFill>
              <a:latin typeface="Arial"/>
            </a:endParaRPr>
          </a:p>
        </p:txBody>
      </p:sp>
      <p:sp>
        <p:nvSpPr>
          <p:cNvPr id="183" name="Text 18"/>
          <p:cNvSpPr/>
          <p:nvPr/>
        </p:nvSpPr>
        <p:spPr>
          <a:xfrm>
            <a:off x="6210000" y="2637360"/>
            <a:ext cx="54360" cy="10188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600" spc="-1" strike="noStrike" baseline="30000">
                <a:solidFill>
                  <a:srgbClr val="003366"/>
                </a:solidFill>
                <a:latin typeface="Arial"/>
                <a:ea typeface="Arial"/>
              </a:rPr>
              <a:t>[4]</a:t>
            </a:r>
            <a:endParaRPr b="0" lang="en-US" sz="600" spc="-1" strike="noStrike">
              <a:solidFill>
                <a:srgbClr val="000000"/>
              </a:solidFill>
              <a:latin typeface="Arial"/>
            </a:endParaRPr>
          </a:p>
        </p:txBody>
      </p:sp>
      <p:sp>
        <p:nvSpPr>
          <p:cNvPr id="184" name="Text 19"/>
          <p:cNvSpPr/>
          <p:nvPr/>
        </p:nvSpPr>
        <p:spPr>
          <a:xfrm>
            <a:off x="2344680" y="3073680"/>
            <a:ext cx="391320" cy="13572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800" spc="-1" strike="noStrike">
                <a:solidFill>
                  <a:srgbClr val="000000"/>
                </a:solidFill>
                <a:latin typeface="Times New Roman"/>
                <a:ea typeface="Times New Roman"/>
              </a:rPr>
              <a:t>Requests</a:t>
            </a:r>
            <a:endParaRPr b="0" lang="en-US" sz="800" spc="-1" strike="noStrike">
              <a:solidFill>
                <a:srgbClr val="000000"/>
              </a:solidFill>
              <a:latin typeface="Arial"/>
            </a:endParaRPr>
          </a:p>
        </p:txBody>
      </p:sp>
      <p:sp>
        <p:nvSpPr>
          <p:cNvPr id="185" name="Text 20"/>
          <p:cNvSpPr/>
          <p:nvPr/>
        </p:nvSpPr>
        <p:spPr>
          <a:xfrm>
            <a:off x="3404160" y="2892240"/>
            <a:ext cx="1634760" cy="493920"/>
          </a:xfrm>
          <a:prstGeom prst="rect">
            <a:avLst/>
          </a:prstGeom>
          <a:noFill/>
          <a:ln w="0">
            <a:noFill/>
          </a:ln>
        </p:spPr>
        <p:style>
          <a:lnRef idx="0"/>
          <a:fillRef idx="0"/>
          <a:effectRef idx="0"/>
          <a:fontRef idx="minor"/>
        </p:style>
        <p:txBody>
          <a:bodyPr lIns="102240" rIns="102240" tIns="102240" bIns="102240" anchor="ctr">
            <a:spAutoFit/>
          </a:bodyPr>
          <a:p>
            <a:pPr defTabSz="914400">
              <a:lnSpc>
                <a:spcPct val="112000"/>
              </a:lnSpc>
              <a:tabLst>
                <a:tab algn="l" pos="0"/>
              </a:tabLst>
            </a:pPr>
            <a:r>
              <a:rPr b="0" lang="en-US" sz="850" spc="-1" strike="noStrike">
                <a:solidFill>
                  <a:srgbClr val="000000"/>
                </a:solidFill>
                <a:latin typeface="Times New Roman"/>
                <a:ea typeface="Times New Roman"/>
              </a:rPr>
              <a:t>Requester, Type, Location, Lifecycle</a:t>
            </a:r>
            <a:endParaRPr b="0" lang="en-US" sz="850" spc="-1" strike="noStrike">
              <a:solidFill>
                <a:srgbClr val="000000"/>
              </a:solidFill>
              <a:latin typeface="Arial"/>
            </a:endParaRPr>
          </a:p>
        </p:txBody>
      </p:sp>
      <p:sp>
        <p:nvSpPr>
          <p:cNvPr id="186" name="Text 21"/>
          <p:cNvSpPr/>
          <p:nvPr/>
        </p:nvSpPr>
        <p:spPr>
          <a:xfrm>
            <a:off x="5124960" y="2989080"/>
            <a:ext cx="1565280" cy="290520"/>
          </a:xfrm>
          <a:prstGeom prst="rect">
            <a:avLst/>
          </a:prstGeom>
          <a:noFill/>
          <a:ln w="0">
            <a:noFill/>
          </a:ln>
        </p:spPr>
        <p:style>
          <a:lnRef idx="0"/>
          <a:fillRef idx="0"/>
          <a:effectRef idx="0"/>
          <a:fontRef idx="minor"/>
        </p:style>
        <p:txBody>
          <a:bodyPr lIns="0" rIns="0" tIns="0" bIns="0" anchor="t">
            <a:spAutoFit/>
          </a:bodyPr>
          <a:p>
            <a:pPr defTabSz="914400">
              <a:lnSpc>
                <a:spcPct val="112000"/>
              </a:lnSpc>
              <a:tabLst>
                <a:tab algn="l" pos="0"/>
              </a:tabLst>
            </a:pPr>
            <a:r>
              <a:rPr b="0" lang="en-US" sz="850" spc="-1" strike="noStrike">
                <a:solidFill>
                  <a:srgbClr val="000000"/>
                </a:solidFill>
                <a:latin typeface="Times New Roman"/>
                <a:ea typeface="Times New Roman"/>
              </a:rPr>
              <a:t>Record of emergency demand and event history for review.</a:t>
            </a:r>
            <a:endParaRPr b="0" lang="en-US" sz="850" spc="-1" strike="noStrike">
              <a:solidFill>
                <a:srgbClr val="000000"/>
              </a:solidFill>
              <a:latin typeface="Arial"/>
            </a:endParaRPr>
          </a:p>
        </p:txBody>
      </p:sp>
      <p:sp>
        <p:nvSpPr>
          <p:cNvPr id="187" name="Text 22"/>
          <p:cNvSpPr/>
          <p:nvPr/>
        </p:nvSpPr>
        <p:spPr>
          <a:xfrm>
            <a:off x="6294600" y="3145680"/>
            <a:ext cx="54360" cy="101880"/>
          </a:xfrm>
          <a:prstGeom prst="rect">
            <a:avLst/>
          </a:prstGeom>
          <a:noFill/>
          <a:ln w="0">
            <a:noFill/>
          </a:ln>
        </p:spPr>
        <p:style>
          <a:lnRef idx="0"/>
          <a:fillRef idx="0"/>
          <a:effectRef idx="0"/>
          <a:fontRef idx="minor"/>
        </p:style>
        <p:txBody>
          <a:bodyPr wrap="none" lIns="0" rIns="0" tIns="0" bIns="0" anchor="t">
            <a:spAutoFit/>
          </a:bodyPr>
          <a:p>
            <a:pPr defTabSz="914400">
              <a:lnSpc>
                <a:spcPct val="112000"/>
              </a:lnSpc>
              <a:tabLst>
                <a:tab algn="l" pos="0"/>
              </a:tabLst>
            </a:pPr>
            <a:r>
              <a:rPr b="1"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188" name="Text 23"/>
          <p:cNvSpPr/>
          <p:nvPr/>
        </p:nvSpPr>
        <p:spPr>
          <a:xfrm>
            <a:off x="2235960" y="3840120"/>
            <a:ext cx="4671720" cy="1378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900" spc="-1" strike="noStrike">
                <a:solidFill>
                  <a:srgbClr val="003366"/>
                </a:solidFill>
                <a:latin typeface="Arial"/>
                <a:ea typeface="Arial"/>
              </a:rPr>
              <a:t>RELIABILITY AND GOVERNANCE</a:t>
            </a:r>
            <a:endParaRPr b="0" lang="en-US" sz="900" spc="-1" strike="noStrike">
              <a:solidFill>
                <a:srgbClr val="000000"/>
              </a:solidFill>
              <a:latin typeface="Arial"/>
            </a:endParaRPr>
          </a:p>
        </p:txBody>
      </p:sp>
      <p:sp>
        <p:nvSpPr>
          <p:cNvPr id="189" name="Text 24"/>
          <p:cNvSpPr/>
          <p:nvPr/>
        </p:nvSpPr>
        <p:spPr>
          <a:xfrm>
            <a:off x="3084480" y="4097160"/>
            <a:ext cx="531360" cy="128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700" spc="-1" strike="noStrike">
                <a:solidFill>
                  <a:srgbClr val="003366"/>
                </a:solidFill>
                <a:latin typeface="Arial"/>
                <a:ea typeface="Arial"/>
              </a:rPr>
              <a:t>TIMELINESS</a:t>
            </a:r>
            <a:endParaRPr b="0" lang="en-US" sz="700" spc="-1" strike="noStrike">
              <a:solidFill>
                <a:srgbClr val="000000"/>
              </a:solidFill>
              <a:latin typeface="Arial"/>
            </a:endParaRPr>
          </a:p>
        </p:txBody>
      </p:sp>
      <p:sp>
        <p:nvSpPr>
          <p:cNvPr id="190" name="Text 25"/>
          <p:cNvSpPr/>
          <p:nvPr/>
        </p:nvSpPr>
        <p:spPr>
          <a:xfrm>
            <a:off x="2294640" y="4304520"/>
            <a:ext cx="211032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Minimizing the gap between supply and demand</a:t>
            </a:r>
            <a:endParaRPr b="0" lang="en-US" sz="850" spc="-1" strike="noStrike">
              <a:solidFill>
                <a:srgbClr val="000000"/>
              </a:solidFill>
              <a:latin typeface="Arial"/>
            </a:endParaRPr>
          </a:p>
        </p:txBody>
      </p:sp>
      <p:sp>
        <p:nvSpPr>
          <p:cNvPr id="191" name="Text 26"/>
          <p:cNvSpPr/>
          <p:nvPr/>
        </p:nvSpPr>
        <p:spPr>
          <a:xfrm>
            <a:off x="2283840" y="4475880"/>
            <a:ext cx="170352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through mathematical optimization and</a:t>
            </a:r>
            <a:endParaRPr b="0" lang="en-US" sz="850" spc="-1" strike="noStrike">
              <a:solidFill>
                <a:srgbClr val="000000"/>
              </a:solidFill>
              <a:latin typeface="Arial"/>
            </a:endParaRPr>
          </a:p>
        </p:txBody>
      </p:sp>
      <p:sp>
        <p:nvSpPr>
          <p:cNvPr id="192" name="Text 27"/>
          <p:cNvSpPr/>
          <p:nvPr/>
        </p:nvSpPr>
        <p:spPr>
          <a:xfrm>
            <a:off x="2274840" y="4653360"/>
            <a:ext cx="88344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proximity matching.</a:t>
            </a:r>
            <a:endParaRPr b="0" lang="en-US" sz="850" spc="-1" strike="noStrike">
              <a:solidFill>
                <a:srgbClr val="000000"/>
              </a:solidFill>
              <a:latin typeface="Arial"/>
            </a:endParaRPr>
          </a:p>
        </p:txBody>
      </p:sp>
      <p:sp>
        <p:nvSpPr>
          <p:cNvPr id="193" name="Text 28"/>
          <p:cNvSpPr/>
          <p:nvPr/>
        </p:nvSpPr>
        <p:spPr>
          <a:xfrm>
            <a:off x="3222720" y="4640040"/>
            <a:ext cx="54360" cy="10908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194" name="Text 29"/>
          <p:cNvSpPr/>
          <p:nvPr/>
        </p:nvSpPr>
        <p:spPr>
          <a:xfrm>
            <a:off x="5527800" y="4097160"/>
            <a:ext cx="531360" cy="128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700" spc="-1" strike="noStrike">
                <a:solidFill>
                  <a:srgbClr val="003366"/>
                </a:solidFill>
                <a:latin typeface="Arial"/>
                <a:ea typeface="Arial"/>
              </a:rPr>
              <a:t>RESILIENCE</a:t>
            </a:r>
            <a:endParaRPr b="0" lang="en-US" sz="700" spc="-1" strike="noStrike">
              <a:solidFill>
                <a:srgbClr val="000000"/>
              </a:solidFill>
              <a:latin typeface="Arial"/>
            </a:endParaRPr>
          </a:p>
        </p:txBody>
      </p:sp>
      <p:sp>
        <p:nvSpPr>
          <p:cNvPr id="195" name="Text 30"/>
          <p:cNvSpPr/>
          <p:nvPr/>
        </p:nvSpPr>
        <p:spPr>
          <a:xfrm>
            <a:off x="4731480" y="4304520"/>
            <a:ext cx="187272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Using scalable cloud frameworks to handle</a:t>
            </a:r>
            <a:endParaRPr b="0" lang="en-US" sz="850" spc="-1" strike="noStrike">
              <a:solidFill>
                <a:srgbClr val="000000"/>
              </a:solidFill>
              <a:latin typeface="Arial"/>
            </a:endParaRPr>
          </a:p>
        </p:txBody>
      </p:sp>
      <p:sp>
        <p:nvSpPr>
          <p:cNvPr id="196" name="Text 31"/>
          <p:cNvSpPr/>
          <p:nvPr/>
        </p:nvSpPr>
        <p:spPr>
          <a:xfrm>
            <a:off x="4735080" y="4475880"/>
            <a:ext cx="200196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sudden demand disruptions and mass-casualty</a:t>
            </a:r>
            <a:endParaRPr b="0" lang="en-US" sz="850" spc="-1" strike="noStrike">
              <a:solidFill>
                <a:srgbClr val="000000"/>
              </a:solidFill>
              <a:latin typeface="Arial"/>
            </a:endParaRPr>
          </a:p>
        </p:txBody>
      </p:sp>
      <p:sp>
        <p:nvSpPr>
          <p:cNvPr id="197" name="Text 32"/>
          <p:cNvSpPr/>
          <p:nvPr/>
        </p:nvSpPr>
        <p:spPr>
          <a:xfrm>
            <a:off x="4701240" y="4653360"/>
            <a:ext cx="29844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spikes.</a:t>
            </a:r>
            <a:endParaRPr b="0" lang="en-US" sz="850" spc="-1" strike="noStrike">
              <a:solidFill>
                <a:srgbClr val="000000"/>
              </a:solidFill>
              <a:latin typeface="Arial"/>
            </a:endParaRPr>
          </a:p>
        </p:txBody>
      </p:sp>
      <p:sp>
        <p:nvSpPr>
          <p:cNvPr id="198" name="Text 33"/>
          <p:cNvSpPr/>
          <p:nvPr/>
        </p:nvSpPr>
        <p:spPr>
          <a:xfrm>
            <a:off x="5046840" y="4640040"/>
            <a:ext cx="54360" cy="10908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600" spc="-1" strike="noStrike" baseline="30000">
                <a:solidFill>
                  <a:srgbClr val="003366"/>
                </a:solidFill>
                <a:latin typeface="Arial"/>
                <a:ea typeface="Arial"/>
              </a:rPr>
              <a:t>[2]</a:t>
            </a:r>
            <a:endParaRPr b="0" lang="en-US" sz="600" spc="-1" strike="noStrike">
              <a:solidFill>
                <a:srgbClr val="000000"/>
              </a:solidFill>
              <a:latin typeface="Arial"/>
            </a:endParaRPr>
          </a:p>
        </p:txBody>
      </p:sp>
      <p:sp>
        <p:nvSpPr>
          <p:cNvPr id="199" name="Text 34"/>
          <p:cNvSpPr/>
          <p:nvPr/>
        </p:nvSpPr>
        <p:spPr>
          <a:xfrm>
            <a:off x="3097440" y="5017680"/>
            <a:ext cx="505440" cy="128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700" spc="-1" strike="noStrike">
                <a:solidFill>
                  <a:srgbClr val="003366"/>
                </a:solidFill>
                <a:latin typeface="Arial"/>
                <a:ea typeface="Arial"/>
              </a:rPr>
              <a:t>ACCURACY</a:t>
            </a:r>
            <a:endParaRPr b="0" lang="en-US" sz="700" spc="-1" strike="noStrike">
              <a:solidFill>
                <a:srgbClr val="000000"/>
              </a:solidFill>
              <a:latin typeface="Arial"/>
            </a:endParaRPr>
          </a:p>
        </p:txBody>
      </p:sp>
      <p:sp>
        <p:nvSpPr>
          <p:cNvPr id="200" name="Text 35"/>
          <p:cNvSpPr/>
          <p:nvPr/>
        </p:nvSpPr>
        <p:spPr>
          <a:xfrm>
            <a:off x="2291400" y="5224680"/>
            <a:ext cx="199152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Ensuring timely, accurate information reaches</a:t>
            </a:r>
            <a:endParaRPr b="0" lang="en-US" sz="850" spc="-1" strike="noStrike">
              <a:solidFill>
                <a:srgbClr val="000000"/>
              </a:solidFill>
              <a:latin typeface="Arial"/>
            </a:endParaRPr>
          </a:p>
        </p:txBody>
      </p:sp>
      <p:sp>
        <p:nvSpPr>
          <p:cNvPr id="201" name="Text 36"/>
          <p:cNvSpPr/>
          <p:nvPr/>
        </p:nvSpPr>
        <p:spPr>
          <a:xfrm>
            <a:off x="2298240" y="5402160"/>
            <a:ext cx="170964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first responders and receiving facilities.</a:t>
            </a:r>
            <a:endParaRPr b="0" lang="en-US" sz="850" spc="-1" strike="noStrike">
              <a:solidFill>
                <a:srgbClr val="000000"/>
              </a:solidFill>
              <a:latin typeface="Arial"/>
            </a:endParaRPr>
          </a:p>
        </p:txBody>
      </p:sp>
      <p:sp>
        <p:nvSpPr>
          <p:cNvPr id="202" name="Text 37"/>
          <p:cNvSpPr/>
          <p:nvPr/>
        </p:nvSpPr>
        <p:spPr>
          <a:xfrm>
            <a:off x="4095360" y="5389200"/>
            <a:ext cx="54360" cy="10908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600" spc="-1" strike="noStrike" baseline="30000">
                <a:solidFill>
                  <a:srgbClr val="003366"/>
                </a:solidFill>
                <a:latin typeface="Arial"/>
                <a:ea typeface="Arial"/>
              </a:rPr>
              <a:t>[5]</a:t>
            </a:r>
            <a:endParaRPr b="0" lang="en-US" sz="600" spc="-1" strike="noStrike">
              <a:solidFill>
                <a:srgbClr val="000000"/>
              </a:solidFill>
              <a:latin typeface="Arial"/>
            </a:endParaRPr>
          </a:p>
        </p:txBody>
      </p:sp>
      <p:sp>
        <p:nvSpPr>
          <p:cNvPr id="203" name="Text 38"/>
          <p:cNvSpPr/>
          <p:nvPr/>
        </p:nvSpPr>
        <p:spPr>
          <a:xfrm>
            <a:off x="5450040" y="5017680"/>
            <a:ext cx="686880" cy="128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700" spc="-1" strike="noStrike">
                <a:solidFill>
                  <a:srgbClr val="003366"/>
                </a:solidFill>
                <a:latin typeface="Arial"/>
                <a:ea typeface="Arial"/>
              </a:rPr>
              <a:t>COORDINATION</a:t>
            </a:r>
            <a:endParaRPr b="0" lang="en-US" sz="700" spc="-1" strike="noStrike">
              <a:solidFill>
                <a:srgbClr val="000000"/>
              </a:solidFill>
              <a:latin typeface="Arial"/>
            </a:endParaRPr>
          </a:p>
        </p:txBody>
      </p:sp>
      <p:sp>
        <p:nvSpPr>
          <p:cNvPr id="204" name="Text 39"/>
          <p:cNvSpPr/>
          <p:nvPr/>
        </p:nvSpPr>
        <p:spPr>
          <a:xfrm>
            <a:off x="4735800" y="5224680"/>
            <a:ext cx="203580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Aligning key roles and responsibilities through</a:t>
            </a:r>
            <a:endParaRPr b="0" lang="en-US" sz="850" spc="-1" strike="noStrike">
              <a:solidFill>
                <a:srgbClr val="000000"/>
              </a:solidFill>
              <a:latin typeface="Arial"/>
            </a:endParaRPr>
          </a:p>
        </p:txBody>
      </p:sp>
      <p:sp>
        <p:nvSpPr>
          <p:cNvPr id="205" name="Text 40"/>
          <p:cNvSpPr/>
          <p:nvPr/>
        </p:nvSpPr>
        <p:spPr>
          <a:xfrm>
            <a:off x="4747320" y="5402160"/>
            <a:ext cx="1907640" cy="15516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0" lang="en-US" sz="850" spc="-1" strike="noStrike">
                <a:solidFill>
                  <a:srgbClr val="000000"/>
                </a:solidFill>
                <a:latin typeface="Times New Roman"/>
                <a:ea typeface="Times New Roman"/>
              </a:rPr>
              <a:t>flexible, standardized response frameworks.</a:t>
            </a:r>
            <a:endParaRPr b="0" lang="en-US" sz="850" spc="-1" strike="noStrike">
              <a:solidFill>
                <a:srgbClr val="000000"/>
              </a:solidFill>
              <a:latin typeface="Arial"/>
            </a:endParaRPr>
          </a:p>
        </p:txBody>
      </p:sp>
      <p:sp>
        <p:nvSpPr>
          <p:cNvPr id="206" name="Text 41"/>
          <p:cNvSpPr/>
          <p:nvPr/>
        </p:nvSpPr>
        <p:spPr>
          <a:xfrm>
            <a:off x="6747840" y="5389200"/>
            <a:ext cx="54360" cy="109080"/>
          </a:xfrm>
          <a:prstGeom prst="rect">
            <a:avLst/>
          </a:prstGeom>
          <a:noFill/>
          <a:ln w="0">
            <a:noFill/>
          </a:ln>
        </p:spPr>
        <p:style>
          <a:lnRef idx="0"/>
          <a:fillRef idx="0"/>
          <a:effectRef idx="0"/>
          <a:fontRef idx="minor"/>
        </p:style>
        <p:txBody>
          <a:bodyPr wrap="none" lIns="0" rIns="0" tIns="0" bIns="0" anchor="t">
            <a:spAutoFit/>
          </a:bodyPr>
          <a:p>
            <a:pPr defTabSz="914400">
              <a:lnSpc>
                <a:spcPct val="120000"/>
              </a:lnSpc>
              <a:tabLst>
                <a:tab algn="l" pos="0"/>
              </a:tabLst>
            </a:pPr>
            <a:r>
              <a:rPr b="1" lang="en-US" sz="600" spc="-1" strike="noStrike" baseline="30000">
                <a:solidFill>
                  <a:srgbClr val="003366"/>
                </a:solidFill>
                <a:latin typeface="Arial"/>
                <a:ea typeface="Arial"/>
              </a:rPr>
              <a:t>[6]</a:t>
            </a:r>
            <a:endParaRPr b="0" lang="en-US" sz="600" spc="-1" strike="noStrike">
              <a:solidFill>
                <a:srgbClr val="000000"/>
              </a:solidFill>
              <a:latin typeface="Arial"/>
            </a:endParaRPr>
          </a:p>
        </p:txBody>
      </p:sp>
      <p:sp>
        <p:nvSpPr>
          <p:cNvPr id="207" name="Text 42"/>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8</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8" name="Image 0" descr="preencoded.png"/>
          <p:cNvPicPr/>
          <p:nvPr/>
        </p:nvPicPr>
        <p:blipFill>
          <a:blip r:embed="rId1"/>
          <a:stretch/>
        </p:blipFill>
        <p:spPr>
          <a:xfrm>
            <a:off x="0" y="0"/>
            <a:ext cx="9143640" cy="8022240"/>
          </a:xfrm>
          <a:prstGeom prst="rect">
            <a:avLst/>
          </a:prstGeom>
          <a:ln w="0">
            <a:noFill/>
          </a:ln>
        </p:spPr>
      </p:pic>
      <p:sp>
        <p:nvSpPr>
          <p:cNvPr id="209"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0" name="Text 1"/>
          <p:cNvSpPr/>
          <p:nvPr/>
        </p:nvSpPr>
        <p:spPr>
          <a:xfrm>
            <a:off x="2235960" y="535680"/>
            <a:ext cx="1536840" cy="294480"/>
          </a:xfrm>
          <a:prstGeom prst="rect">
            <a:avLst/>
          </a:prstGeom>
          <a:noFill/>
          <a:ln w="0">
            <a:noFill/>
          </a:ln>
        </p:spPr>
        <p:style>
          <a:lnRef idx="0"/>
          <a:fillRef idx="0"/>
          <a:effectRef idx="0"/>
          <a:fontRef idx="minor"/>
        </p:style>
        <p:txBody>
          <a:bodyPr lIns="0" rIns="0" tIns="0" bIns="51120" anchor="t">
            <a:spAutoFit/>
          </a:bodyPr>
          <a:p>
            <a:pPr defTabSz="914400">
              <a:lnSpc>
                <a:spcPct val="100000"/>
              </a:lnSpc>
              <a:tabLst>
                <a:tab algn="l" pos="0"/>
              </a:tabLst>
            </a:pPr>
            <a:r>
              <a:rPr b="1" lang="en-US" sz="1600" spc="-1" strike="noStrike">
                <a:solidFill>
                  <a:srgbClr val="003366"/>
                </a:solidFill>
                <a:latin typeface="Times New Roman"/>
                <a:ea typeface="Times New Roman"/>
              </a:rPr>
              <a:t>REFERENCES</a:t>
            </a:r>
            <a:endParaRPr b="0" lang="en-US" sz="1600" spc="-1" strike="noStrike">
              <a:solidFill>
                <a:srgbClr val="000000"/>
              </a:solidFill>
              <a:latin typeface="Arial"/>
            </a:endParaRPr>
          </a:p>
        </p:txBody>
      </p:sp>
      <p:sp>
        <p:nvSpPr>
          <p:cNvPr id="211" name="Text 2"/>
          <p:cNvSpPr/>
          <p:nvPr/>
        </p:nvSpPr>
        <p:spPr>
          <a:xfrm>
            <a:off x="2235960" y="1143000"/>
            <a:ext cx="4671720" cy="3315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[1] F. Wang, et al., “Multiobjective Emergency Resource Allocation under the Natural Disaster Chain with Path Planning,” </a:t>
            </a:r>
            <a:r>
              <a:rPr b="0" i="1" lang="en-US" sz="850" spc="-1" strike="noStrike">
                <a:solidFill>
                  <a:srgbClr val="000000"/>
                </a:solidFill>
                <a:latin typeface="Times New Roman"/>
                <a:ea typeface="Times New Roman"/>
              </a:rPr>
              <a:t>Int. J. Environ. Res. Public Health</a:t>
            </a:r>
            <a:r>
              <a:rPr b="0" lang="en-US" sz="850" spc="-1" strike="noStrike">
                <a:solidFill>
                  <a:srgbClr val="000000"/>
                </a:solidFill>
                <a:latin typeface="Times New Roman"/>
                <a:ea typeface="Times New Roman"/>
              </a:rPr>
              <a:t>, 2022.</a:t>
            </a:r>
            <a:endParaRPr b="0" lang="en-US" sz="850" spc="-1" strike="noStrike">
              <a:solidFill>
                <a:srgbClr val="000000"/>
              </a:solidFill>
              <a:latin typeface="Arial"/>
            </a:endParaRPr>
          </a:p>
        </p:txBody>
      </p:sp>
      <p:sp>
        <p:nvSpPr>
          <p:cNvPr id="212" name="Text 3"/>
          <p:cNvSpPr/>
          <p:nvPr/>
        </p:nvSpPr>
        <p:spPr>
          <a:xfrm>
            <a:off x="2235960" y="1651680"/>
            <a:ext cx="4671720" cy="3315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[2] J. Liu, et al., “An Analytical Approach for Dispatch Operations of Emergency Medical Services: A Case Study of COVID-19,” </a:t>
            </a:r>
            <a:r>
              <a:rPr b="0" i="1" lang="en-US" sz="850" spc="-1" strike="noStrike">
                <a:solidFill>
                  <a:srgbClr val="000000"/>
                </a:solidFill>
                <a:latin typeface="Times New Roman"/>
                <a:ea typeface="Times New Roman"/>
              </a:rPr>
              <a:t>SN Oper. Res. Forum</a:t>
            </a:r>
            <a:r>
              <a:rPr b="0" lang="en-US" sz="850" spc="-1" strike="noStrike">
                <a:solidFill>
                  <a:srgbClr val="000000"/>
                </a:solidFill>
                <a:latin typeface="Times New Roman"/>
                <a:ea typeface="Times New Roman"/>
              </a:rPr>
              <a:t>, 2023.</a:t>
            </a:r>
            <a:endParaRPr b="0" lang="en-US" sz="850" spc="-1" strike="noStrike">
              <a:solidFill>
                <a:srgbClr val="000000"/>
              </a:solidFill>
              <a:latin typeface="Arial"/>
            </a:endParaRPr>
          </a:p>
        </p:txBody>
      </p:sp>
      <p:sp>
        <p:nvSpPr>
          <p:cNvPr id="213" name="Text 4"/>
          <p:cNvSpPr/>
          <p:nvPr/>
        </p:nvSpPr>
        <p:spPr>
          <a:xfrm>
            <a:off x="2235960" y="2160000"/>
            <a:ext cx="4671720" cy="3315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[3] United Nations OCHA, “United Nations Disaster Assessment and Coordination,” 2024. [Online]. Available: https://www.unocha.org/united-nations-disaster-assessment-and-coordination</a:t>
            </a:r>
            <a:endParaRPr b="0" lang="en-US" sz="850" spc="-1" strike="noStrike">
              <a:solidFill>
                <a:srgbClr val="000000"/>
              </a:solidFill>
              <a:latin typeface="Arial"/>
            </a:endParaRPr>
          </a:p>
        </p:txBody>
      </p:sp>
      <p:sp>
        <p:nvSpPr>
          <p:cNvPr id="214" name="Text 5"/>
          <p:cNvSpPr/>
          <p:nvPr/>
        </p:nvSpPr>
        <p:spPr>
          <a:xfrm>
            <a:off x="2235960" y="2668680"/>
            <a:ext cx="4671720" cy="3315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[4] PAHO/WHO, “Emergency Medical Teams and SISMED911 Platform,” 2024. [Online]. Available: https://www.paho.org/en/health-emergencies/emergency-medical-teams</a:t>
            </a:r>
            <a:endParaRPr b="0" lang="en-US" sz="850" spc="-1" strike="noStrike">
              <a:solidFill>
                <a:srgbClr val="000000"/>
              </a:solidFill>
              <a:latin typeface="Arial"/>
            </a:endParaRPr>
          </a:p>
        </p:txBody>
      </p:sp>
      <p:sp>
        <p:nvSpPr>
          <p:cNvPr id="215" name="Text 6"/>
          <p:cNvSpPr/>
          <p:nvPr/>
        </p:nvSpPr>
        <p:spPr>
          <a:xfrm>
            <a:off x="2235960" y="3177360"/>
            <a:ext cx="4671720" cy="4971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[5] FEMA, “Key Planning Factors for a Chemical Incident: Importance of Communications,” 2022. [Online]. Available: https://www.fema.gov/cbrn-tools/key-planning-factors-chemical-incident/kpf3/1</a:t>
            </a:r>
            <a:endParaRPr b="0" lang="en-US" sz="850" spc="-1" strike="noStrike">
              <a:solidFill>
                <a:srgbClr val="000000"/>
              </a:solidFill>
              <a:latin typeface="Arial"/>
            </a:endParaRPr>
          </a:p>
        </p:txBody>
      </p:sp>
      <p:sp>
        <p:nvSpPr>
          <p:cNvPr id="216" name="Text 7"/>
          <p:cNvSpPr/>
          <p:nvPr/>
        </p:nvSpPr>
        <p:spPr>
          <a:xfrm>
            <a:off x="2235960" y="3868560"/>
            <a:ext cx="4671720" cy="331560"/>
          </a:xfrm>
          <a:prstGeom prst="rect">
            <a:avLst/>
          </a:prstGeom>
          <a:noFill/>
          <a:ln w="0">
            <a:noFill/>
          </a:ln>
        </p:spPr>
        <p:style>
          <a:lnRef idx="0"/>
          <a:fillRef idx="0"/>
          <a:effectRef idx="0"/>
          <a:fontRef idx="minor"/>
        </p:style>
        <p:txBody>
          <a:bodyPr lIns="340200" rIns="0" tIns="0" bIns="0" anchor="t">
            <a:spAutoFit/>
          </a:bodyPr>
          <a:p>
            <a:pPr algn="just" defTabSz="914400">
              <a:lnSpc>
                <a:spcPct val="128000"/>
              </a:lnSpc>
              <a:tabLst>
                <a:tab algn="l" pos="0"/>
              </a:tabLst>
            </a:pPr>
            <a:r>
              <a:rPr b="0" lang="en-US" sz="850" spc="-1" strike="noStrike">
                <a:solidFill>
                  <a:srgbClr val="000000"/>
                </a:solidFill>
                <a:latin typeface="Times New Roman"/>
                <a:ea typeface="Times New Roman"/>
              </a:rPr>
              <a:t>[6] FEMA, “National Response Framework,” 2025. [Online]. Available: https://www.fema.gov/emergency-managers/national-preparedness/frameworks/response</a:t>
            </a:r>
            <a:endParaRPr b="0" lang="en-US" sz="850" spc="-1" strike="noStrike">
              <a:solidFill>
                <a:srgbClr val="000000"/>
              </a:solidFill>
              <a:latin typeface="Arial"/>
            </a:endParaRPr>
          </a:p>
        </p:txBody>
      </p:sp>
      <p:sp>
        <p:nvSpPr>
          <p:cNvPr id="217" name="Text 8"/>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9</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Image 0" descr="preencoded.png"/>
          <p:cNvPicPr/>
          <p:nvPr/>
        </p:nvPicPr>
        <p:blipFill>
          <a:blip r:embed="rId1"/>
          <a:stretch/>
        </p:blipFill>
        <p:spPr>
          <a:xfrm>
            <a:off x="0" y="0"/>
            <a:ext cx="9143640" cy="8022240"/>
          </a:xfrm>
          <a:prstGeom prst="rect">
            <a:avLst/>
          </a:prstGeom>
          <a:ln w="0">
            <a:noFill/>
          </a:ln>
        </p:spPr>
      </p:pic>
      <p:sp>
        <p:nvSpPr>
          <p:cNvPr id="219" name="Shape 0"/>
          <p:cNvSpPr/>
          <p:nvPr/>
        </p:nvSpPr>
        <p:spPr>
          <a:xfrm>
            <a:off x="1735920" y="0"/>
            <a:ext cx="5671800" cy="8022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0" name="Text 1"/>
          <p:cNvSpPr/>
          <p:nvPr/>
        </p:nvSpPr>
        <p:spPr>
          <a:xfrm>
            <a:off x="3371760" y="2602080"/>
            <a:ext cx="240012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1" lang="en-US" sz="1800" spc="-1" strike="noStrike">
                <a:solidFill>
                  <a:srgbClr val="003366"/>
                </a:solidFill>
                <a:latin typeface="Times New Roman"/>
                <a:ea typeface="Times New Roman"/>
              </a:rPr>
              <a:t>GROUP MEMBERS</a:t>
            </a:r>
            <a:endParaRPr b="0" lang="en-US" sz="1800" spc="-1" strike="noStrike">
              <a:solidFill>
                <a:srgbClr val="000000"/>
              </a:solidFill>
              <a:latin typeface="Arial"/>
            </a:endParaRPr>
          </a:p>
        </p:txBody>
      </p:sp>
      <p:sp>
        <p:nvSpPr>
          <p:cNvPr id="221" name="Text 2"/>
          <p:cNvSpPr/>
          <p:nvPr/>
        </p:nvSpPr>
        <p:spPr>
          <a:xfrm>
            <a:off x="3861360" y="3420000"/>
            <a:ext cx="1421280" cy="427320"/>
          </a:xfrm>
          <a:prstGeom prst="rect">
            <a:avLst/>
          </a:prstGeom>
          <a:noFill/>
          <a:ln w="0">
            <a:noFill/>
          </a:ln>
        </p:spPr>
        <p:style>
          <a:lnRef idx="0"/>
          <a:fillRef idx="0"/>
          <a:effectRef idx="0"/>
          <a:fontRef idx="minor"/>
        </p:style>
        <p:txBody>
          <a:bodyPr wrap="none" lIns="0" rIns="0" tIns="0" bIns="0" anchor="t">
            <a:spAutoFit/>
          </a:bodyPr>
          <a:p>
            <a:pPr algn="ctr" defTabSz="914400">
              <a:lnSpc>
                <a:spcPct val="200000"/>
              </a:lnSpc>
              <a:tabLst>
                <a:tab algn="l" pos="0"/>
              </a:tabLst>
            </a:pPr>
            <a:r>
              <a:rPr b="1" lang="en-US" sz="1400" spc="-1" strike="noStrike">
                <a:solidFill>
                  <a:srgbClr val="000000"/>
                </a:solidFill>
                <a:latin typeface="Times New Roman"/>
                <a:ea typeface="Times New Roman"/>
              </a:rPr>
              <a:t>1. Sabari Prasanth</a:t>
            </a:r>
            <a:endParaRPr b="0" lang="en-US" sz="1400" spc="-1" strike="noStrike">
              <a:solidFill>
                <a:srgbClr val="000000"/>
              </a:solidFill>
              <a:latin typeface="Arial"/>
            </a:endParaRPr>
          </a:p>
        </p:txBody>
      </p:sp>
      <p:sp>
        <p:nvSpPr>
          <p:cNvPr id="222" name="Text 3"/>
          <p:cNvSpPr/>
          <p:nvPr/>
        </p:nvSpPr>
        <p:spPr>
          <a:xfrm>
            <a:off x="4210200" y="3780000"/>
            <a:ext cx="723600" cy="427320"/>
          </a:xfrm>
          <a:prstGeom prst="rect">
            <a:avLst/>
          </a:prstGeom>
          <a:noFill/>
          <a:ln w="0">
            <a:noFill/>
          </a:ln>
        </p:spPr>
        <p:style>
          <a:lnRef idx="0"/>
          <a:fillRef idx="0"/>
          <a:effectRef idx="0"/>
          <a:fontRef idx="minor"/>
        </p:style>
        <p:txBody>
          <a:bodyPr wrap="none" lIns="0" rIns="0" tIns="0" bIns="0" anchor="t">
            <a:spAutoFit/>
          </a:bodyPr>
          <a:p>
            <a:pPr algn="ctr" defTabSz="914400">
              <a:lnSpc>
                <a:spcPct val="200000"/>
              </a:lnSpc>
              <a:tabLst>
                <a:tab algn="l" pos="0"/>
              </a:tabLst>
            </a:pPr>
            <a:r>
              <a:rPr b="1" lang="en-US" sz="1400" spc="-1" strike="noStrike">
                <a:solidFill>
                  <a:srgbClr val="000000"/>
                </a:solidFill>
                <a:latin typeface="Times New Roman"/>
                <a:ea typeface="Times New Roman"/>
              </a:rPr>
              <a:t>2. Sanosh</a:t>
            </a:r>
            <a:endParaRPr b="0" lang="en-US" sz="1400" spc="-1" strike="noStrike">
              <a:solidFill>
                <a:srgbClr val="000000"/>
              </a:solidFill>
              <a:latin typeface="Arial"/>
            </a:endParaRPr>
          </a:p>
        </p:txBody>
      </p:sp>
      <p:sp>
        <p:nvSpPr>
          <p:cNvPr id="223" name="Text 4"/>
          <p:cNvSpPr/>
          <p:nvPr/>
        </p:nvSpPr>
        <p:spPr>
          <a:xfrm>
            <a:off x="3712680" y="4140000"/>
            <a:ext cx="1718640" cy="427320"/>
          </a:xfrm>
          <a:prstGeom prst="rect">
            <a:avLst/>
          </a:prstGeom>
          <a:noFill/>
          <a:ln w="0">
            <a:noFill/>
          </a:ln>
        </p:spPr>
        <p:style>
          <a:lnRef idx="0"/>
          <a:fillRef idx="0"/>
          <a:effectRef idx="0"/>
          <a:fontRef idx="minor"/>
        </p:style>
        <p:txBody>
          <a:bodyPr wrap="none" lIns="0" rIns="0" tIns="0" bIns="0" anchor="t">
            <a:spAutoFit/>
          </a:bodyPr>
          <a:p>
            <a:pPr algn="ctr" defTabSz="914400">
              <a:lnSpc>
                <a:spcPct val="200000"/>
              </a:lnSpc>
              <a:tabLst>
                <a:tab algn="l" pos="0"/>
              </a:tabLst>
            </a:pPr>
            <a:r>
              <a:rPr b="1" lang="en-US" sz="1400" spc="-1" strike="noStrike">
                <a:solidFill>
                  <a:srgbClr val="000000"/>
                </a:solidFill>
                <a:latin typeface="Times New Roman"/>
                <a:ea typeface="Times New Roman"/>
              </a:rPr>
              <a:t>3. Sayanth Jayakumar</a:t>
            </a:r>
            <a:endParaRPr b="0" lang="en-US" sz="1400" spc="-1" strike="noStrike">
              <a:solidFill>
                <a:srgbClr val="000000"/>
              </a:solidFill>
              <a:latin typeface="Arial"/>
            </a:endParaRPr>
          </a:p>
        </p:txBody>
      </p:sp>
      <p:sp>
        <p:nvSpPr>
          <p:cNvPr id="224" name="Text 5"/>
          <p:cNvSpPr/>
          <p:nvPr/>
        </p:nvSpPr>
        <p:spPr>
          <a:xfrm>
            <a:off x="4019760" y="4500000"/>
            <a:ext cx="1104480" cy="427320"/>
          </a:xfrm>
          <a:prstGeom prst="rect">
            <a:avLst/>
          </a:prstGeom>
          <a:noFill/>
          <a:ln w="0">
            <a:noFill/>
          </a:ln>
        </p:spPr>
        <p:style>
          <a:lnRef idx="0"/>
          <a:fillRef idx="0"/>
          <a:effectRef idx="0"/>
          <a:fontRef idx="minor"/>
        </p:style>
        <p:txBody>
          <a:bodyPr wrap="none" lIns="0" rIns="0" tIns="0" bIns="0" anchor="t">
            <a:spAutoFit/>
          </a:bodyPr>
          <a:p>
            <a:pPr algn="ctr" defTabSz="914400">
              <a:lnSpc>
                <a:spcPct val="200000"/>
              </a:lnSpc>
              <a:tabLst>
                <a:tab algn="l" pos="0"/>
              </a:tabLst>
            </a:pPr>
            <a:r>
              <a:rPr b="1" lang="en-US" sz="1400" spc="-1" strike="noStrike">
                <a:solidFill>
                  <a:srgbClr val="000000"/>
                </a:solidFill>
                <a:latin typeface="Times New Roman"/>
                <a:ea typeface="Times New Roman"/>
              </a:rPr>
              <a:t>4. Sanjay Ravi</a:t>
            </a:r>
            <a:endParaRPr b="0" lang="en-US" sz="1400" spc="-1" strike="noStrike">
              <a:solidFill>
                <a:srgbClr val="000000"/>
              </a:solidFill>
              <a:latin typeface="Arial"/>
            </a:endParaRPr>
          </a:p>
        </p:txBody>
      </p:sp>
      <p:sp>
        <p:nvSpPr>
          <p:cNvPr id="225" name="Text 6"/>
          <p:cNvSpPr/>
          <p:nvPr/>
        </p:nvSpPr>
        <p:spPr>
          <a:xfrm>
            <a:off x="2235960" y="7508160"/>
            <a:ext cx="4671720" cy="183240"/>
          </a:xfrm>
          <a:prstGeom prst="rect">
            <a:avLst/>
          </a:prstGeom>
          <a:noFill/>
          <a:ln w="0">
            <a:noFill/>
          </a:ln>
        </p:spPr>
        <p:style>
          <a:lnRef idx="0"/>
          <a:fillRef idx="0"/>
          <a:effectRef idx="0"/>
          <a:fontRef idx="minor"/>
        </p:style>
        <p:txBody>
          <a:bodyPr lIns="0" rIns="0" tIns="97200" bIns="-4680" anchor="t">
            <a:spAutoFit/>
          </a:bodyPr>
          <a:p>
            <a:pPr algn="r" defTabSz="914400">
              <a:lnSpc>
                <a:spcPct val="100000"/>
              </a:lnSpc>
              <a:tabLst>
                <a:tab algn="l" pos="0"/>
              </a:tabLst>
            </a:pPr>
            <a:r>
              <a:rPr b="0" lang="en-US" sz="600" spc="-1" strike="noStrike">
                <a:solidFill>
                  <a:srgbClr val="666666"/>
                </a:solidFill>
                <a:latin typeface="Arial"/>
                <a:ea typeface="Arial"/>
              </a:rPr>
              <a:t>Emergency Resource Allocation System | 10</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2026-08-30T14:45:38Z</dcterms:created>
  <dc:creator>PptxGenJS</dc:creator>
  <dc:description/>
  <dc:language>en-US</dc:language>
  <cp:lastModifiedBy/>
  <dcterms:modified xsi:type="dcterms:W3CDTF">2026-09-08T05:54:02Z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