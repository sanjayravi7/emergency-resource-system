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5"/>
  </p:notesMasterIdLst>
  <p:sldIdLst>
    <p:sldId id="256" r:id="rId2"/>
    <p:sldId id="257" r:id="rId3"/>
    <p:sldId id="258" r:id="rId4"/>
  </p:sldIdLst>
  <p:sldSz cx="9144000" cy="5143500" type="screen16x9"/>
  <p:notesSz cx="51435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50" d="100"/>
          <a:sy n="150" d="100"/>
        </p:scale>
        <p:origin x="-494" y="-161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US" sz="1800" b="0" strike="noStrike" spc="-1">
                <a:solidFill>
                  <a:schemeClr val="dk1"/>
                </a:solidFill>
                <a:latin typeface="Calibri"/>
              </a:rPr>
              <a:t>Click to move the slide</a:t>
            </a: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Click to edit the notes format</a:t>
            </a:r>
          </a:p>
        </p:txBody>
      </p:sp>
      <p:sp>
        <p:nvSpPr>
          <p:cNvPr id="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Times New Roman"/>
              </a:rPr>
              <a:t>&lt;header&gt;</a:t>
            </a:r>
          </a:p>
        </p:txBody>
      </p:sp>
      <p:sp>
        <p:nvSpPr>
          <p:cNvPr id="5"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Times New Roman"/>
              </a:defRPr>
            </a:lvl1pPr>
          </a:lstStyle>
          <a:p>
            <a:pPr indent="0" algn="r">
              <a:buNone/>
            </a:pPr>
            <a:r>
              <a:rPr lang="en-US" sz="1400" b="0" strike="noStrike" spc="-1">
                <a:solidFill>
                  <a:srgbClr val="000000"/>
                </a:solidFill>
                <a:latin typeface="Times New Roman"/>
              </a:rPr>
              <a:t>&lt;date/time&gt;</a:t>
            </a: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&lt;footer&gt;</a:t>
            </a: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Times New Roman"/>
              </a:defRPr>
            </a:lvl1pPr>
          </a:lstStyle>
          <a:p>
            <a:pPr indent="0" algn="r">
              <a:buNone/>
            </a:pPr>
            <a:fld id="{8D38343C-9105-406C-AF4A-177ACFB029E8}" type="slidenum">
              <a:rPr lang="en-US" sz="1400" b="0" strike="noStrike" spc="-1">
                <a:solidFill>
                  <a:srgbClr val="000000"/>
                </a:solidFill>
                <a:latin typeface="Times New Roman"/>
              </a:rPr>
              <a:t>‹#›</a:t>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PlaceHolder 1"/>
          <p:cNvSpPr>
            <a:spLocks noGrp="1" noRot="1" noChangeAspect="1"/>
          </p:cNvSpPr>
          <p:nvPr>
            <p:ph type="sldImg"/>
          </p:nvPr>
        </p:nvSpPr>
        <p:spPr>
          <a:xfrm>
            <a:off x="685800" y="1143000"/>
            <a:ext cx="5486400" cy="3086100"/>
          </a:xfrm>
          <a:prstGeom prst="rect">
            <a:avLst/>
          </a:prstGeom>
          <a:ln w="0">
            <a:noFill/>
          </a:ln>
        </p:spPr>
      </p:sp>
      <p:sp>
        <p:nvSpPr>
          <p:cNvPr id="23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231"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FF8AB95C-51E9-45CE-9904-88D6B1F17274}" type="slidenum">
              <a:rPr lang="en-US" sz="1200" b="0" strike="noStrike" spc="-1">
                <a:solidFill>
                  <a:schemeClr val="dk1"/>
                </a:solidFill>
                <a:latin typeface="+mn-lt"/>
                <a:ea typeface="+mn-ea"/>
              </a:rPr>
              <a:t>1</a:t>
            </a:fld>
            <a:endParaRPr lang="en-US" sz="1200" b="0" strike="noStrike" spc="-1">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PlaceHolder 1"/>
          <p:cNvSpPr>
            <a:spLocks noGrp="1" noRot="1" noChangeAspect="1"/>
          </p:cNvSpPr>
          <p:nvPr>
            <p:ph type="sldImg"/>
          </p:nvPr>
        </p:nvSpPr>
        <p:spPr>
          <a:xfrm>
            <a:off x="685800" y="1143000"/>
            <a:ext cx="5486400" cy="3086100"/>
          </a:xfrm>
          <a:prstGeom prst="rect">
            <a:avLst/>
          </a:prstGeom>
          <a:ln w="0">
            <a:noFill/>
          </a:ln>
        </p:spPr>
      </p:sp>
      <p:sp>
        <p:nvSpPr>
          <p:cNvPr id="24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246"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3758A8C2-9BD3-4203-BDED-6EC3A9C47E2E}" type="slidenum">
              <a:rPr lang="en-US" sz="1200" b="0" strike="noStrike" spc="-1">
                <a:solidFill>
                  <a:schemeClr val="dk1"/>
                </a:solidFill>
                <a:latin typeface="+mn-lt"/>
                <a:ea typeface="+mn-ea"/>
              </a:rPr>
              <a:t>2</a:t>
            </a:fld>
            <a:endParaRPr lang="en-US" sz="1200" b="0" strike="noStrike" spc="-1">
              <a:solidFill>
                <a:srgbClr val="000000"/>
              </a:solid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PlaceHolder 1"/>
          <p:cNvSpPr>
            <a:spLocks noGrp="1" noRot="1" noChangeAspect="1"/>
          </p:cNvSpPr>
          <p:nvPr>
            <p:ph type="sldImg"/>
          </p:nvPr>
        </p:nvSpPr>
        <p:spPr>
          <a:xfrm>
            <a:off x="685800" y="1143000"/>
            <a:ext cx="5486400" cy="3086100"/>
          </a:xfrm>
          <a:prstGeom prst="rect">
            <a:avLst/>
          </a:prstGeom>
          <a:ln w="0">
            <a:noFill/>
          </a:ln>
        </p:spPr>
      </p:sp>
      <p:sp>
        <p:nvSpPr>
          <p:cNvPr id="24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endParaRPr lang="en-US" sz="1800" b="0" strike="noStrike" spc="-1">
              <a:solidFill>
                <a:srgbClr val="000000"/>
              </a:solidFill>
              <a:latin typeface="Arial"/>
            </a:endParaRPr>
          </a:p>
        </p:txBody>
      </p:sp>
      <p:sp>
        <p:nvSpPr>
          <p:cNvPr id="249"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ED76C95C-F792-484F-B481-0EEC5BAE1173}" type="slidenum">
              <a:rPr lang="en-US" sz="1200" b="0" strike="noStrike" spc="-1">
                <a:solidFill>
                  <a:schemeClr val="dk1"/>
                </a:solidFill>
                <a:latin typeface="+mn-lt"/>
                <a:ea typeface="+mn-ea"/>
              </a:rPr>
              <a:t>3</a:t>
            </a:fld>
            <a:endParaRPr lang="en-US" sz="1200" b="0" strike="noStrike" spc="-1">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r>
              <a:rPr lang="en-US" sz="1800" b="0" strike="noStrike" spc="-1">
                <a:solidFill>
                  <a:schemeClr val="dk1"/>
                </a:solidFill>
                <a:latin typeface="Calibri"/>
              </a:rPr>
              <a:t>Click to edit the title text format</a:t>
            </a: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fontScale="95303"/>
          </a:bodyPr>
          <a:lstStyle/>
          <a:p>
            <a:pPr marL="432000" indent="-324000">
              <a:spcBef>
                <a:spcPts val="1417"/>
              </a:spcBef>
              <a:buClr>
                <a:srgbClr val="000000"/>
              </a:buClr>
              <a:buSzPct val="45000"/>
              <a:buFont typeface="Wingdings" charset="2"/>
              <a:buChar char=""/>
            </a:pPr>
            <a:r>
              <a:rPr lang="en-US" sz="3200" b="0" strike="noStrike" spc="-1">
                <a:solidFill>
                  <a:schemeClr val="dk1"/>
                </a:solidFill>
                <a:latin typeface="Calibri"/>
              </a:rPr>
              <a:t>Click to edit the outline text format</a:t>
            </a:r>
          </a:p>
          <a:p>
            <a:pPr marL="864000" lvl="1" indent="-324000">
              <a:spcBef>
                <a:spcPts val="1134"/>
              </a:spcBef>
              <a:buClr>
                <a:srgbClr val="000000"/>
              </a:buClr>
              <a:buSzPct val="75000"/>
              <a:buFont typeface="Symbol" charset="2"/>
              <a:buChar char=""/>
            </a:pPr>
            <a:r>
              <a:rPr lang="en-US" sz="2400" b="0" strike="noStrike" spc="-1">
                <a:solidFill>
                  <a:schemeClr val="dk1"/>
                </a:solidFill>
                <a:latin typeface="Calibri"/>
              </a:rPr>
              <a:t>Second Outline Level</a:t>
            </a:r>
          </a:p>
          <a:p>
            <a:pPr marL="1296000" lvl="2" indent="-288000">
              <a:spcBef>
                <a:spcPts val="850"/>
              </a:spcBef>
              <a:buClr>
                <a:srgbClr val="000000"/>
              </a:buClr>
              <a:buSzPct val="45000"/>
              <a:buFont typeface="Wingdings" charset="2"/>
              <a:buChar char=""/>
            </a:pPr>
            <a:r>
              <a:rPr lang="en-US" sz="2000" b="0" strike="noStrike" spc="-1">
                <a:solidFill>
                  <a:schemeClr val="dk1"/>
                </a:solidFill>
                <a:latin typeface="Calibri"/>
              </a:rPr>
              <a:t>Third Outline Level</a:t>
            </a:r>
          </a:p>
          <a:p>
            <a:pPr marL="1728000" lvl="3" indent="-216000">
              <a:spcBef>
                <a:spcPts val="567"/>
              </a:spcBef>
              <a:buClr>
                <a:srgbClr val="000000"/>
              </a:buClr>
              <a:buSzPct val="75000"/>
              <a:buFont typeface="Symbol" charset="2"/>
              <a:buChar char=""/>
            </a:pPr>
            <a:r>
              <a:rPr lang="en-US" sz="2000" b="0" strike="noStrike" spc="-1">
                <a:solidFill>
                  <a:schemeClr val="dk1"/>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chemeClr val="dk1"/>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chemeClr val="dk1"/>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chemeClr val="dk1"/>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pic>
        <p:nvPicPr>
          <p:cNvPr id="252" name="Google Shape;252;p1" descr="preencoded.png"/>
          <p:cNvPicPr preferRelativeResize="0"/>
          <p:nvPr/>
        </p:nvPicPr>
        <p:blipFill rotWithShape="1">
          <a:blip r:embed="rId3">
            <a:alphaModFix/>
          </a:blip>
          <a:srcRect/>
          <a:stretch/>
        </p:blipFill>
        <p:spPr>
          <a:xfrm>
            <a:off x="0" y="0"/>
            <a:ext cx="9143642" cy="8022240"/>
          </a:xfrm>
          <a:prstGeom prst="rect">
            <a:avLst/>
          </a:prstGeom>
          <a:noFill/>
          <a:ln>
            <a:noFill/>
          </a:ln>
        </p:spPr>
      </p:pic>
      <p:sp>
        <p:nvSpPr>
          <p:cNvPr id="253" name="Google Shape;253;p1"/>
          <p:cNvSpPr/>
          <p:nvPr/>
        </p:nvSpPr>
        <p:spPr>
          <a:xfrm>
            <a:off x="0" y="0"/>
            <a:ext cx="9144000" cy="7935000"/>
          </a:xfrm>
          <a:prstGeom prst="rect">
            <a:avLst/>
          </a:prstGeom>
          <a:solidFill>
            <a:srgbClr val="FFFFFF"/>
          </a:solidFill>
          <a:ln>
            <a:noFill/>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4" name="Google Shape;254;p1"/>
          <p:cNvSpPr/>
          <p:nvPr/>
        </p:nvSpPr>
        <p:spPr>
          <a:xfrm>
            <a:off x="2235940" y="721300"/>
            <a:ext cx="2178900" cy="294600"/>
          </a:xfrm>
          <a:prstGeom prst="rect">
            <a:avLst/>
          </a:prstGeom>
          <a:noFill/>
          <a:ln>
            <a:noFill/>
          </a:ln>
        </p:spPr>
        <p:txBody>
          <a:bodyPr spcFirstLastPara="1" wrap="square" lIns="0" tIns="0" rIns="0" bIns="51100" anchor="t" anchorCtr="0">
            <a:noAutofit/>
          </a:bodyPr>
          <a:lstStyle/>
          <a:p>
            <a:pPr marL="0" marR="0" lvl="0" indent="0" algn="l" rtl="0">
              <a:lnSpc>
                <a:spcPct val="100000"/>
              </a:lnSpc>
              <a:spcBef>
                <a:spcPts val="0"/>
              </a:spcBef>
              <a:spcAft>
                <a:spcPts val="0"/>
              </a:spcAft>
              <a:buNone/>
            </a:pPr>
            <a:r>
              <a:rPr lang="en-US" sz="1600" b="1" strike="noStrike">
                <a:solidFill>
                  <a:srgbClr val="003366"/>
                </a:solidFill>
                <a:latin typeface="Times New Roman"/>
                <a:ea typeface="Times New Roman"/>
                <a:cs typeface="Times New Roman"/>
                <a:sym typeface="Times New Roman"/>
              </a:rPr>
              <a:t>ABSTRACT</a:t>
            </a:r>
            <a:endParaRPr sz="1600" b="0" strike="noStrike">
              <a:solidFill>
                <a:srgbClr val="000000"/>
              </a:solidFill>
              <a:latin typeface="Arial"/>
              <a:ea typeface="Arial"/>
              <a:cs typeface="Arial"/>
              <a:sym typeface="Arial"/>
            </a:endParaRPr>
          </a:p>
        </p:txBody>
      </p:sp>
      <p:sp>
        <p:nvSpPr>
          <p:cNvPr id="255" name="Google Shape;255;p1"/>
          <p:cNvSpPr/>
          <p:nvPr/>
        </p:nvSpPr>
        <p:spPr>
          <a:xfrm>
            <a:off x="2235960" y="1310400"/>
            <a:ext cx="4671600" cy="169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b="0" strike="noStrike">
                <a:solidFill>
                  <a:srgbClr val="000000"/>
                </a:solidFill>
                <a:latin typeface="Times New Roman"/>
                <a:ea typeface="Times New Roman"/>
                <a:cs typeface="Times New Roman"/>
                <a:sym typeface="Times New Roman"/>
              </a:rPr>
              <a:t>The </a:t>
            </a:r>
            <a:r>
              <a:rPr lang="en-US" sz="1000" b="1" strike="noStrike">
                <a:solidFill>
                  <a:srgbClr val="000000"/>
                </a:solidFill>
                <a:latin typeface="Times New Roman"/>
                <a:ea typeface="Times New Roman"/>
                <a:cs typeface="Times New Roman"/>
                <a:sym typeface="Times New Roman"/>
              </a:rPr>
              <a:t>Emergency Resource Allocation System</a:t>
            </a:r>
            <a:r>
              <a:rPr lang="en-US" sz="1050" b="0" strike="noStrike">
                <a:solidFill>
                  <a:srgbClr val="000000"/>
                </a:solidFill>
                <a:latin typeface="Times New Roman"/>
                <a:ea typeface="Times New Roman"/>
                <a:cs typeface="Times New Roman"/>
                <a:sym typeface="Times New Roman"/>
              </a:rPr>
              <a:t> is a digital information and coordination platform designed to optimize the deployment of critical medical and disaster-response assets. Effective public safety depends on comprehensive disaster recognition and reliable response schemes. [1]</a:t>
            </a:r>
            <a:endParaRPr sz="1050" b="0" strike="noStrike">
              <a:solidFill>
                <a:srgbClr val="000000"/>
              </a:solidFill>
              <a:latin typeface="Arial"/>
              <a:ea typeface="Arial"/>
              <a:cs typeface="Arial"/>
              <a:sym typeface="Arial"/>
            </a:endParaRPr>
          </a:p>
          <a:p>
            <a:pPr marL="0" marR="0" lvl="0" indent="0" algn="just" rtl="0">
              <a:lnSpc>
                <a:spcPct val="132000"/>
              </a:lnSpc>
              <a:spcBef>
                <a:spcPts val="0"/>
              </a:spcBef>
              <a:spcAft>
                <a:spcPts val="0"/>
              </a:spcAft>
              <a:buNone/>
            </a:pPr>
            <a:r>
              <a:rPr lang="en-US" sz="1050" b="0" strike="noStrike">
                <a:solidFill>
                  <a:srgbClr val="000000"/>
                </a:solidFill>
                <a:latin typeface="Times New Roman"/>
                <a:ea typeface="Times New Roman"/>
                <a:cs typeface="Times New Roman"/>
                <a:sym typeface="Times New Roman"/>
              </a:rPr>
              <a:t>The system integrates a geospatial database with real-time matching algorithms to manage ambulances, blood units, volunteers, and other emergency assets. By automating search, reservation, and tracking, the platform aims to reduce coordination delays, improve response speed, and provide transparent records for operational review. [1] [2]</a:t>
            </a:r>
            <a:endParaRPr sz="1050" b="0" strike="noStrike">
              <a:solidFill>
                <a:srgbClr val="000000"/>
              </a:solidFill>
              <a:latin typeface="Arial"/>
              <a:ea typeface="Arial"/>
              <a:cs typeface="Arial"/>
              <a:sym typeface="Arial"/>
            </a:endParaRPr>
          </a:p>
        </p:txBody>
      </p:sp>
      <p:sp>
        <p:nvSpPr>
          <p:cNvPr id="256" name="Google Shape;256;p1"/>
          <p:cNvSpPr/>
          <p:nvPr/>
        </p:nvSpPr>
        <p:spPr>
          <a:xfrm>
            <a:off x="2305800" y="3120163"/>
            <a:ext cx="4671600" cy="786900"/>
          </a:xfrm>
          <a:prstGeom prst="rect">
            <a:avLst/>
          </a:prstGeom>
          <a:noFill/>
          <a:ln>
            <a:noFill/>
          </a:ln>
        </p:spPr>
        <p:txBody>
          <a:bodyPr spcFirstLastPara="1" wrap="square" lIns="0" tIns="212750" rIns="0" bIns="0" anchor="t" anchorCtr="0">
            <a:noAutofit/>
          </a:bodyPr>
          <a:lstStyle/>
          <a:p>
            <a:pPr marL="0" marR="0" lvl="0" indent="0" algn="l" rtl="0">
              <a:lnSpc>
                <a:spcPct val="120000"/>
              </a:lnSpc>
              <a:spcBef>
                <a:spcPts val="0"/>
              </a:spcBef>
              <a:spcAft>
                <a:spcPts val="0"/>
              </a:spcAft>
              <a:buNone/>
            </a:pPr>
            <a:r>
              <a:rPr lang="en-US" sz="1000" b="1" strike="noStrike">
                <a:solidFill>
                  <a:srgbClr val="003366"/>
                </a:solidFill>
                <a:latin typeface="Times New Roman"/>
                <a:ea typeface="Times New Roman"/>
                <a:cs typeface="Times New Roman"/>
                <a:sym typeface="Times New Roman"/>
              </a:rPr>
              <a:t>Key contribution:</a:t>
            </a:r>
            <a:r>
              <a:rPr lang="en-US" sz="1050" b="0" strike="noStrike">
                <a:solidFill>
                  <a:srgbClr val="000000"/>
                </a:solidFill>
                <a:latin typeface="Times New Roman"/>
                <a:ea typeface="Times New Roman"/>
                <a:cs typeface="Times New Roman"/>
                <a:sym typeface="Times New Roman"/>
              </a:rPr>
              <a:t> The project translates established allocation, dispatch, and coordination concepts into a practical requester-and-responder platform for local and regional emergency operations.</a:t>
            </a:r>
            <a:endParaRPr sz="1050" b="0" strike="noStrike">
              <a:solidFill>
                <a:srgbClr val="000000"/>
              </a:solidFill>
              <a:latin typeface="Arial"/>
              <a:ea typeface="Arial"/>
              <a:cs typeface="Arial"/>
              <a:sym typeface="Arial"/>
            </a:endParaRPr>
          </a:p>
        </p:txBody>
      </p:sp>
      <p:sp>
        <p:nvSpPr>
          <p:cNvPr id="257" name="Google Shape;257;p1"/>
          <p:cNvSpPr/>
          <p:nvPr/>
        </p:nvSpPr>
        <p:spPr>
          <a:xfrm>
            <a:off x="2235960" y="7508160"/>
            <a:ext cx="4671600" cy="183300"/>
          </a:xfrm>
          <a:prstGeom prst="rect">
            <a:avLst/>
          </a:prstGeom>
          <a:noFill/>
          <a:ln>
            <a:noFill/>
          </a:ln>
        </p:spPr>
        <p:txBody>
          <a:bodyPr spcFirstLastPara="1" wrap="square" lIns="0" tIns="97200" rIns="0" bIns="0" anchor="t" anchorCtr="0">
            <a:noAutofit/>
          </a:bodyPr>
          <a:lstStyle/>
          <a:p>
            <a:pPr marL="0" marR="0" lvl="0" indent="0" algn="r" rtl="0">
              <a:lnSpc>
                <a:spcPct val="100000"/>
              </a:lnSpc>
              <a:spcBef>
                <a:spcPts val="0"/>
              </a:spcBef>
              <a:spcAft>
                <a:spcPts val="0"/>
              </a:spcAft>
              <a:buNone/>
            </a:pPr>
            <a:r>
              <a:rPr lang="en-US" sz="600" b="0" strike="noStrike">
                <a:solidFill>
                  <a:srgbClr val="666666"/>
                </a:solidFill>
                <a:latin typeface="Arial"/>
                <a:ea typeface="Arial"/>
                <a:cs typeface="Arial"/>
                <a:sym typeface="Arial"/>
              </a:rPr>
              <a:t>Emergency Resource Allocation System | 2</a:t>
            </a:r>
            <a:endParaRPr sz="600" b="0"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pic>
        <p:nvPicPr>
          <p:cNvPr id="259" name="Google Shape;259;p2" descr="preencoded.png"/>
          <p:cNvPicPr preferRelativeResize="0"/>
          <p:nvPr/>
        </p:nvPicPr>
        <p:blipFill rotWithShape="1">
          <a:blip r:embed="rId3">
            <a:alphaModFix/>
          </a:blip>
          <a:srcRect/>
          <a:stretch/>
        </p:blipFill>
        <p:spPr>
          <a:xfrm>
            <a:off x="0" y="0"/>
            <a:ext cx="9143642" cy="8022240"/>
          </a:xfrm>
          <a:prstGeom prst="rect">
            <a:avLst/>
          </a:prstGeom>
          <a:noFill/>
          <a:ln>
            <a:noFill/>
          </a:ln>
        </p:spPr>
      </p:pic>
      <p:sp>
        <p:nvSpPr>
          <p:cNvPr id="260" name="Google Shape;260;p2"/>
          <p:cNvSpPr/>
          <p:nvPr/>
        </p:nvSpPr>
        <p:spPr>
          <a:xfrm>
            <a:off x="-360" y="0"/>
            <a:ext cx="9144000" cy="8022300"/>
          </a:xfrm>
          <a:prstGeom prst="rect">
            <a:avLst/>
          </a:prstGeom>
          <a:solidFill>
            <a:srgbClr val="FFFFFF"/>
          </a:solidFill>
          <a:ln>
            <a:noFill/>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1" name="Google Shape;261;p2"/>
          <p:cNvSpPr/>
          <p:nvPr/>
        </p:nvSpPr>
        <p:spPr>
          <a:xfrm>
            <a:off x="2235960" y="865440"/>
            <a:ext cx="2508000" cy="294600"/>
          </a:xfrm>
          <a:prstGeom prst="rect">
            <a:avLst/>
          </a:prstGeom>
          <a:noFill/>
          <a:ln>
            <a:noFill/>
          </a:ln>
        </p:spPr>
        <p:txBody>
          <a:bodyPr spcFirstLastPara="1" wrap="square" lIns="0" tIns="0" rIns="0" bIns="51100" anchor="t" anchorCtr="0">
            <a:noAutofit/>
          </a:bodyPr>
          <a:lstStyle/>
          <a:p>
            <a:pPr marL="0" marR="0" lvl="0" indent="0" algn="l" rtl="0">
              <a:lnSpc>
                <a:spcPct val="100000"/>
              </a:lnSpc>
              <a:spcBef>
                <a:spcPts val="0"/>
              </a:spcBef>
              <a:spcAft>
                <a:spcPts val="0"/>
              </a:spcAft>
              <a:buNone/>
            </a:pPr>
            <a:r>
              <a:rPr lang="en-US" sz="1600" b="1" strike="noStrike">
                <a:solidFill>
                  <a:srgbClr val="003366"/>
                </a:solidFill>
                <a:latin typeface="Times New Roman"/>
                <a:ea typeface="Times New Roman"/>
                <a:cs typeface="Times New Roman"/>
                <a:sym typeface="Times New Roman"/>
              </a:rPr>
              <a:t>EXPECTED OUTCOME</a:t>
            </a:r>
            <a:endParaRPr sz="1600" b="0" strike="noStrike">
              <a:solidFill>
                <a:srgbClr val="000000"/>
              </a:solidFill>
              <a:latin typeface="Arial"/>
              <a:ea typeface="Arial"/>
              <a:cs typeface="Arial"/>
              <a:sym typeface="Arial"/>
            </a:endParaRPr>
          </a:p>
        </p:txBody>
      </p:sp>
      <p:sp>
        <p:nvSpPr>
          <p:cNvPr id="262" name="Google Shape;262;p2"/>
          <p:cNvSpPr/>
          <p:nvPr/>
        </p:nvSpPr>
        <p:spPr>
          <a:xfrm>
            <a:off x="2235960" y="1490760"/>
            <a:ext cx="4671600" cy="844200"/>
          </a:xfrm>
          <a:prstGeom prst="rect">
            <a:avLst/>
          </a:prstGeom>
          <a:noFill/>
          <a:ln>
            <a:noFill/>
          </a:ln>
        </p:spPr>
        <p:txBody>
          <a:bodyPr spcFirstLastPara="1" wrap="square" lIns="0" tIns="0" rIns="0" bIns="0" anchor="t" anchorCtr="0">
            <a:noAutofit/>
          </a:bodyPr>
          <a:lstStyle/>
          <a:p>
            <a:pPr marL="0" marR="0" lvl="0" indent="0" algn="just" rtl="0">
              <a:lnSpc>
                <a:spcPct val="132000"/>
              </a:lnSpc>
              <a:spcBef>
                <a:spcPts val="0"/>
              </a:spcBef>
              <a:spcAft>
                <a:spcPts val="0"/>
              </a:spcAft>
              <a:buNone/>
            </a:pPr>
            <a:r>
              <a:rPr lang="en-US" sz="1050" b="0" strike="noStrike">
                <a:solidFill>
                  <a:srgbClr val="000000"/>
                </a:solidFill>
                <a:latin typeface="Times New Roman"/>
                <a:ea typeface="Times New Roman"/>
                <a:cs typeface="Times New Roman"/>
                <a:sym typeface="Times New Roman"/>
              </a:rPr>
              <a:t>The system is expected to significantly enhance the effectiveness of disaster response by improving resource visibility and reducing response times. Research indicates that optimizing dispatch and patient allocation can lead to a substantial increase in the total supply rate and better social stability during unexpected disaster chains. </a:t>
            </a:r>
            <a:r>
              <a:rPr lang="en-US" sz="700" b="1" strike="noStrike" baseline="30000">
                <a:solidFill>
                  <a:srgbClr val="003366"/>
                </a:solidFill>
                <a:latin typeface="Arial"/>
                <a:ea typeface="Arial"/>
                <a:cs typeface="Arial"/>
                <a:sym typeface="Arial"/>
              </a:rPr>
              <a:t>[1] [2]</a:t>
            </a:r>
            <a:endParaRPr sz="700" b="0" strike="noStrike">
              <a:solidFill>
                <a:srgbClr val="000000"/>
              </a:solidFill>
              <a:latin typeface="Arial"/>
              <a:ea typeface="Arial"/>
              <a:cs typeface="Arial"/>
              <a:sym typeface="Arial"/>
            </a:endParaRPr>
          </a:p>
        </p:txBody>
      </p:sp>
      <p:sp>
        <p:nvSpPr>
          <p:cNvPr id="263" name="Google Shape;263;p2"/>
          <p:cNvSpPr/>
          <p:nvPr/>
        </p:nvSpPr>
        <p:spPr>
          <a:xfrm>
            <a:off x="3183253" y="2627275"/>
            <a:ext cx="3381300" cy="281400"/>
          </a:xfrm>
          <a:prstGeom prst="rect">
            <a:avLst/>
          </a:prstGeom>
          <a:noFill/>
          <a:ln>
            <a:noFill/>
          </a:ln>
        </p:spPr>
        <p:txBody>
          <a:bodyPr spcFirstLastPara="1" wrap="square" lIns="0" tIns="0" rIns="0" bIns="0" anchor="t" anchorCtr="0">
            <a:noAutofit/>
          </a:bodyPr>
          <a:lstStyle/>
          <a:p>
            <a:pPr marL="0" marR="0" lvl="0" indent="0" algn="l" rtl="0">
              <a:lnSpc>
                <a:spcPct val="176000"/>
              </a:lnSpc>
              <a:spcBef>
                <a:spcPts val="0"/>
              </a:spcBef>
              <a:spcAft>
                <a:spcPts val="0"/>
              </a:spcAft>
              <a:buNone/>
            </a:pPr>
            <a:r>
              <a:rPr lang="en-US" sz="1050" b="0" strike="noStrike">
                <a:solidFill>
                  <a:srgbClr val="000000"/>
                </a:solidFill>
                <a:latin typeface="Times New Roman"/>
                <a:ea typeface="Times New Roman"/>
                <a:cs typeface="Times New Roman"/>
                <a:sym typeface="Times New Roman"/>
              </a:rPr>
              <a:t>Enhanced Resource Visibility and Transparency</a:t>
            </a:r>
            <a:endParaRPr sz="1050" b="0" strike="noStrike">
              <a:solidFill>
                <a:srgbClr val="000000"/>
              </a:solidFill>
              <a:latin typeface="Arial"/>
              <a:ea typeface="Arial"/>
              <a:cs typeface="Arial"/>
              <a:sym typeface="Arial"/>
            </a:endParaRPr>
          </a:p>
        </p:txBody>
      </p:sp>
      <p:sp>
        <p:nvSpPr>
          <p:cNvPr id="264" name="Google Shape;264;p2"/>
          <p:cNvSpPr/>
          <p:nvPr/>
        </p:nvSpPr>
        <p:spPr>
          <a:xfrm>
            <a:off x="3182873" y="2886850"/>
            <a:ext cx="3320100" cy="281400"/>
          </a:xfrm>
          <a:prstGeom prst="rect">
            <a:avLst/>
          </a:prstGeom>
          <a:noFill/>
          <a:ln>
            <a:noFill/>
          </a:ln>
        </p:spPr>
        <p:txBody>
          <a:bodyPr spcFirstLastPara="1" wrap="square" lIns="0" tIns="0" rIns="0" bIns="0" anchor="t" anchorCtr="0">
            <a:noAutofit/>
          </a:bodyPr>
          <a:lstStyle/>
          <a:p>
            <a:pPr marL="0" marR="0" lvl="0" indent="0" algn="l" rtl="0">
              <a:lnSpc>
                <a:spcPct val="176000"/>
              </a:lnSpc>
              <a:spcBef>
                <a:spcPts val="0"/>
              </a:spcBef>
              <a:spcAft>
                <a:spcPts val="0"/>
              </a:spcAft>
              <a:buNone/>
            </a:pPr>
            <a:r>
              <a:rPr lang="en-US" sz="1050" b="0" strike="noStrike">
                <a:solidFill>
                  <a:srgbClr val="000000"/>
                </a:solidFill>
                <a:latin typeface="Times New Roman"/>
                <a:ea typeface="Times New Roman"/>
                <a:cs typeface="Times New Roman"/>
                <a:sym typeface="Times New Roman"/>
              </a:rPr>
              <a:t>Significant Reduction in Response Latency</a:t>
            </a:r>
            <a:endParaRPr sz="1050" b="0" strike="noStrike">
              <a:solidFill>
                <a:srgbClr val="000000"/>
              </a:solidFill>
              <a:latin typeface="Arial"/>
              <a:ea typeface="Arial"/>
              <a:cs typeface="Arial"/>
              <a:sym typeface="Arial"/>
            </a:endParaRPr>
          </a:p>
        </p:txBody>
      </p:sp>
      <p:sp>
        <p:nvSpPr>
          <p:cNvPr id="265" name="Google Shape;265;p2"/>
          <p:cNvSpPr/>
          <p:nvPr/>
        </p:nvSpPr>
        <p:spPr>
          <a:xfrm>
            <a:off x="3193673" y="3123350"/>
            <a:ext cx="3203700" cy="281400"/>
          </a:xfrm>
          <a:prstGeom prst="rect">
            <a:avLst/>
          </a:prstGeom>
          <a:noFill/>
          <a:ln>
            <a:noFill/>
          </a:ln>
        </p:spPr>
        <p:txBody>
          <a:bodyPr spcFirstLastPara="1" wrap="square" lIns="0" tIns="0" rIns="0" bIns="0" anchor="t" anchorCtr="0">
            <a:noAutofit/>
          </a:bodyPr>
          <a:lstStyle/>
          <a:p>
            <a:pPr marL="0" marR="0" lvl="0" indent="0" algn="l" rtl="0">
              <a:lnSpc>
                <a:spcPct val="176000"/>
              </a:lnSpc>
              <a:spcBef>
                <a:spcPts val="0"/>
              </a:spcBef>
              <a:spcAft>
                <a:spcPts val="0"/>
              </a:spcAft>
              <a:buNone/>
            </a:pPr>
            <a:r>
              <a:rPr lang="en-US" sz="1050" b="0" strike="noStrike">
                <a:solidFill>
                  <a:srgbClr val="000000"/>
                </a:solidFill>
                <a:latin typeface="Times New Roman"/>
                <a:ea typeface="Times New Roman"/>
                <a:cs typeface="Times New Roman"/>
                <a:sym typeface="Times New Roman"/>
              </a:rPr>
              <a:t>Optimized Dispatch and Patient Allocation</a:t>
            </a:r>
            <a:endParaRPr sz="1050" b="0" strike="noStrike">
              <a:solidFill>
                <a:srgbClr val="000000"/>
              </a:solidFill>
              <a:latin typeface="Arial"/>
              <a:ea typeface="Arial"/>
              <a:cs typeface="Arial"/>
              <a:sym typeface="Arial"/>
            </a:endParaRPr>
          </a:p>
        </p:txBody>
      </p:sp>
      <p:sp>
        <p:nvSpPr>
          <p:cNvPr id="266" name="Google Shape;266;p2"/>
          <p:cNvSpPr/>
          <p:nvPr/>
        </p:nvSpPr>
        <p:spPr>
          <a:xfrm>
            <a:off x="3193674" y="3378775"/>
            <a:ext cx="3381300" cy="281400"/>
          </a:xfrm>
          <a:prstGeom prst="rect">
            <a:avLst/>
          </a:prstGeom>
          <a:noFill/>
          <a:ln>
            <a:noFill/>
          </a:ln>
        </p:spPr>
        <p:txBody>
          <a:bodyPr spcFirstLastPara="1" wrap="square" lIns="0" tIns="0" rIns="0" bIns="0" anchor="t" anchorCtr="0">
            <a:noAutofit/>
          </a:bodyPr>
          <a:lstStyle/>
          <a:p>
            <a:pPr marL="0" marR="0" lvl="0" indent="0" algn="l" rtl="0">
              <a:lnSpc>
                <a:spcPct val="176000"/>
              </a:lnSpc>
              <a:spcBef>
                <a:spcPts val="0"/>
              </a:spcBef>
              <a:spcAft>
                <a:spcPts val="0"/>
              </a:spcAft>
              <a:buNone/>
            </a:pPr>
            <a:r>
              <a:rPr lang="en-US" sz="1050" b="0" strike="noStrike">
                <a:solidFill>
                  <a:srgbClr val="000000"/>
                </a:solidFill>
                <a:latin typeface="Times New Roman"/>
                <a:ea typeface="Times New Roman"/>
                <a:cs typeface="Times New Roman"/>
                <a:sym typeface="Times New Roman"/>
              </a:rPr>
              <a:t>Improved Social Stability During Disaster Chains</a:t>
            </a:r>
            <a:endParaRPr sz="1050" b="0" strike="noStrike">
              <a:solidFill>
                <a:srgbClr val="000000"/>
              </a:solidFill>
              <a:latin typeface="Arial"/>
              <a:ea typeface="Arial"/>
              <a:cs typeface="Arial"/>
              <a:sym typeface="Arial"/>
            </a:endParaRPr>
          </a:p>
        </p:txBody>
      </p:sp>
      <p:sp>
        <p:nvSpPr>
          <p:cNvPr id="267" name="Google Shape;267;p2"/>
          <p:cNvSpPr/>
          <p:nvPr/>
        </p:nvSpPr>
        <p:spPr>
          <a:xfrm>
            <a:off x="3193327" y="3619075"/>
            <a:ext cx="3381300" cy="281400"/>
          </a:xfrm>
          <a:prstGeom prst="rect">
            <a:avLst/>
          </a:prstGeom>
          <a:noFill/>
          <a:ln>
            <a:noFill/>
          </a:ln>
        </p:spPr>
        <p:txBody>
          <a:bodyPr spcFirstLastPara="1" wrap="square" lIns="0" tIns="0" rIns="0" bIns="0" anchor="t" anchorCtr="0">
            <a:noAutofit/>
          </a:bodyPr>
          <a:lstStyle/>
          <a:p>
            <a:pPr marL="0" marR="0" lvl="0" indent="0" algn="l" rtl="0">
              <a:lnSpc>
                <a:spcPct val="176000"/>
              </a:lnSpc>
              <a:spcBef>
                <a:spcPts val="0"/>
              </a:spcBef>
              <a:spcAft>
                <a:spcPts val="0"/>
              </a:spcAft>
              <a:buNone/>
            </a:pPr>
            <a:r>
              <a:rPr lang="en-US" sz="1050" b="0" strike="noStrike">
                <a:solidFill>
                  <a:srgbClr val="000000"/>
                </a:solidFill>
                <a:latin typeface="Times New Roman"/>
                <a:ea typeface="Times New Roman"/>
                <a:cs typeface="Times New Roman"/>
                <a:sym typeface="Times New Roman"/>
              </a:rPr>
              <a:t>Scalable Coordination for Mass-Casualty Events</a:t>
            </a:r>
            <a:endParaRPr sz="1050" b="0" strike="noStrike">
              <a:solidFill>
                <a:srgbClr val="000000"/>
              </a:solidFill>
              <a:latin typeface="Arial"/>
              <a:ea typeface="Arial"/>
              <a:cs typeface="Arial"/>
              <a:sym typeface="Arial"/>
            </a:endParaRPr>
          </a:p>
        </p:txBody>
      </p:sp>
      <p:sp>
        <p:nvSpPr>
          <p:cNvPr id="268" name="Google Shape;268;p2"/>
          <p:cNvSpPr/>
          <p:nvPr/>
        </p:nvSpPr>
        <p:spPr>
          <a:xfrm>
            <a:off x="2235960" y="7508160"/>
            <a:ext cx="4671600" cy="183300"/>
          </a:xfrm>
          <a:prstGeom prst="rect">
            <a:avLst/>
          </a:prstGeom>
          <a:noFill/>
          <a:ln>
            <a:noFill/>
          </a:ln>
        </p:spPr>
        <p:txBody>
          <a:bodyPr spcFirstLastPara="1" wrap="square" lIns="0" tIns="97200" rIns="0" bIns="0" anchor="t" anchorCtr="0">
            <a:noAutofit/>
          </a:bodyPr>
          <a:lstStyle/>
          <a:p>
            <a:pPr marL="0" marR="0" lvl="0" indent="0" algn="r" rtl="0">
              <a:lnSpc>
                <a:spcPct val="100000"/>
              </a:lnSpc>
              <a:spcBef>
                <a:spcPts val="0"/>
              </a:spcBef>
              <a:spcAft>
                <a:spcPts val="0"/>
              </a:spcAft>
              <a:buNone/>
            </a:pPr>
            <a:r>
              <a:rPr lang="en-US" sz="600" b="0" strike="noStrike">
                <a:solidFill>
                  <a:srgbClr val="666666"/>
                </a:solidFill>
                <a:latin typeface="Arial"/>
                <a:ea typeface="Arial"/>
                <a:cs typeface="Arial"/>
                <a:sym typeface="Arial"/>
              </a:rPr>
              <a:t>Emergency Resource Allocation System | 7</a:t>
            </a:r>
            <a:endParaRPr sz="600" b="0"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pic>
        <p:nvPicPr>
          <p:cNvPr id="270" name="Google Shape;270;p3" descr="preencoded.png"/>
          <p:cNvPicPr preferRelativeResize="0"/>
          <p:nvPr/>
        </p:nvPicPr>
        <p:blipFill rotWithShape="1">
          <a:blip r:embed="rId3">
            <a:alphaModFix/>
          </a:blip>
          <a:srcRect/>
          <a:stretch/>
        </p:blipFill>
        <p:spPr>
          <a:xfrm>
            <a:off x="0" y="0"/>
            <a:ext cx="9143642" cy="8022240"/>
          </a:xfrm>
          <a:prstGeom prst="rect">
            <a:avLst/>
          </a:prstGeom>
          <a:noFill/>
          <a:ln>
            <a:noFill/>
          </a:ln>
        </p:spPr>
      </p:pic>
      <p:sp>
        <p:nvSpPr>
          <p:cNvPr id="271" name="Google Shape;271;p3"/>
          <p:cNvSpPr/>
          <p:nvPr/>
        </p:nvSpPr>
        <p:spPr>
          <a:xfrm>
            <a:off x="-399845" y="-148430"/>
            <a:ext cx="11666400" cy="8022300"/>
          </a:xfrm>
          <a:prstGeom prst="rect">
            <a:avLst/>
          </a:prstGeom>
          <a:solidFill>
            <a:srgbClr val="FFFFFF"/>
          </a:solidFill>
          <a:ln>
            <a:noFill/>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72" name="Google Shape;272;p3"/>
          <p:cNvSpPr/>
          <p:nvPr/>
        </p:nvSpPr>
        <p:spPr>
          <a:xfrm>
            <a:off x="2122820" y="919080"/>
            <a:ext cx="1983600" cy="294600"/>
          </a:xfrm>
          <a:prstGeom prst="rect">
            <a:avLst/>
          </a:prstGeom>
          <a:noFill/>
          <a:ln>
            <a:noFill/>
          </a:ln>
        </p:spPr>
        <p:txBody>
          <a:bodyPr spcFirstLastPara="1" wrap="square" lIns="0" tIns="0" rIns="0" bIns="51100" anchor="t" anchorCtr="0">
            <a:noAutofit/>
          </a:bodyPr>
          <a:lstStyle/>
          <a:p>
            <a:pPr marL="0" marR="0" lvl="0" indent="0" algn="l" rtl="0">
              <a:lnSpc>
                <a:spcPct val="100000"/>
              </a:lnSpc>
              <a:spcBef>
                <a:spcPts val="0"/>
              </a:spcBef>
              <a:spcAft>
                <a:spcPts val="0"/>
              </a:spcAft>
              <a:buNone/>
            </a:pPr>
            <a:r>
              <a:rPr lang="en-US" sz="1600" b="1" strike="noStrike">
                <a:solidFill>
                  <a:srgbClr val="003366"/>
                </a:solidFill>
                <a:latin typeface="Times New Roman"/>
                <a:ea typeface="Times New Roman"/>
                <a:cs typeface="Times New Roman"/>
                <a:sym typeface="Times New Roman"/>
              </a:rPr>
              <a:t>SYSTEM DETAILS</a:t>
            </a:r>
            <a:endParaRPr sz="1600" b="0" strike="noStrike">
              <a:solidFill>
                <a:srgbClr val="000000"/>
              </a:solidFill>
              <a:latin typeface="Arial"/>
              <a:ea typeface="Arial"/>
              <a:cs typeface="Arial"/>
              <a:sym typeface="Arial"/>
            </a:endParaRPr>
          </a:p>
        </p:txBody>
      </p:sp>
      <p:sp>
        <p:nvSpPr>
          <p:cNvPr id="273" name="Google Shape;273;p3"/>
          <p:cNvSpPr/>
          <p:nvPr/>
        </p:nvSpPr>
        <p:spPr>
          <a:xfrm>
            <a:off x="2202220" y="1317780"/>
            <a:ext cx="4671600" cy="138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900" b="1" strike="noStrike">
                <a:solidFill>
                  <a:srgbClr val="003366"/>
                </a:solidFill>
                <a:latin typeface="Arial"/>
                <a:ea typeface="Arial"/>
                <a:cs typeface="Arial"/>
                <a:sym typeface="Arial"/>
              </a:rPr>
              <a:t>CORE DATA MODEL</a:t>
            </a:r>
            <a:endParaRPr sz="900" b="0" strike="noStrike">
              <a:solidFill>
                <a:srgbClr val="000000"/>
              </a:solidFill>
              <a:latin typeface="Arial"/>
              <a:ea typeface="Arial"/>
              <a:cs typeface="Arial"/>
              <a:sym typeface="Arial"/>
            </a:endParaRPr>
          </a:p>
        </p:txBody>
      </p:sp>
      <p:sp>
        <p:nvSpPr>
          <p:cNvPr id="274" name="Google Shape;274;p3"/>
          <p:cNvSpPr/>
          <p:nvPr/>
        </p:nvSpPr>
        <p:spPr>
          <a:xfrm>
            <a:off x="2219580" y="1544400"/>
            <a:ext cx="1167600" cy="310200"/>
          </a:xfrm>
          <a:prstGeom prst="rect">
            <a:avLst/>
          </a:prstGeom>
          <a:solidFill>
            <a:srgbClr val="F9F9F9"/>
          </a:solidFill>
          <a:ln>
            <a:noFill/>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75" name="Google Shape;275;p3"/>
          <p:cNvSpPr/>
          <p:nvPr/>
        </p:nvSpPr>
        <p:spPr>
          <a:xfrm>
            <a:off x="2235960" y="1875240"/>
            <a:ext cx="1167600" cy="14100"/>
          </a:xfrm>
          <a:prstGeom prst="rect">
            <a:avLst/>
          </a:prstGeom>
          <a:solidFill>
            <a:srgbClr val="003366"/>
          </a:solidFill>
          <a:ln>
            <a:noFill/>
          </a:ln>
        </p:spPr>
        <p:txBody>
          <a:bodyPr spcFirstLastPara="1" wrap="square" lIns="90000" tIns="0" rIns="90000" bIns="0" anchor="t" anchorCtr="0">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76" name="Google Shape;276;p3"/>
          <p:cNvSpPr/>
          <p:nvPr/>
        </p:nvSpPr>
        <p:spPr>
          <a:xfrm>
            <a:off x="2535480" y="1612080"/>
            <a:ext cx="568500" cy="244200"/>
          </a:xfrm>
          <a:prstGeom prst="rect">
            <a:avLst/>
          </a:prstGeom>
          <a:noFill/>
          <a:ln>
            <a:noFill/>
          </a:ln>
        </p:spPr>
        <p:txBody>
          <a:bodyPr spcFirstLastPara="1" wrap="square" lIns="102225" tIns="61550" rIns="102225" bIns="61550" anchor="ctr" anchorCtr="0">
            <a:noAutofit/>
          </a:bodyPr>
          <a:lstStyle/>
          <a:p>
            <a:pPr marL="0" marR="0" lvl="0" indent="0" algn="l" rtl="0">
              <a:lnSpc>
                <a:spcPct val="100000"/>
              </a:lnSpc>
              <a:spcBef>
                <a:spcPts val="0"/>
              </a:spcBef>
              <a:spcAft>
                <a:spcPts val="0"/>
              </a:spcAft>
              <a:buNone/>
            </a:pPr>
            <a:r>
              <a:rPr lang="en-US" sz="800" b="1" strike="noStrike">
                <a:solidFill>
                  <a:srgbClr val="000000"/>
                </a:solidFill>
                <a:latin typeface="Arial"/>
                <a:ea typeface="Arial"/>
                <a:cs typeface="Arial"/>
                <a:sym typeface="Arial"/>
              </a:rPr>
              <a:t>ENTITY</a:t>
            </a:r>
            <a:endParaRPr sz="800" b="0" strike="noStrike">
              <a:solidFill>
                <a:srgbClr val="000000"/>
              </a:solidFill>
              <a:latin typeface="Arial"/>
              <a:ea typeface="Arial"/>
              <a:cs typeface="Arial"/>
              <a:sym typeface="Arial"/>
            </a:endParaRPr>
          </a:p>
        </p:txBody>
      </p:sp>
      <p:sp>
        <p:nvSpPr>
          <p:cNvPr id="277" name="Google Shape;277;p3"/>
          <p:cNvSpPr/>
          <p:nvPr/>
        </p:nvSpPr>
        <p:spPr>
          <a:xfrm>
            <a:off x="3404160" y="1578600"/>
            <a:ext cx="1634700" cy="310200"/>
          </a:xfrm>
          <a:prstGeom prst="rect">
            <a:avLst/>
          </a:prstGeom>
          <a:solidFill>
            <a:srgbClr val="F9F9F9"/>
          </a:solidFill>
          <a:ln>
            <a:noFill/>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78" name="Google Shape;278;p3"/>
          <p:cNvSpPr/>
          <p:nvPr/>
        </p:nvSpPr>
        <p:spPr>
          <a:xfrm>
            <a:off x="3404160" y="1875240"/>
            <a:ext cx="1634700" cy="14100"/>
          </a:xfrm>
          <a:prstGeom prst="rect">
            <a:avLst/>
          </a:prstGeom>
          <a:solidFill>
            <a:srgbClr val="003366"/>
          </a:solidFill>
          <a:ln>
            <a:noFill/>
          </a:ln>
        </p:spPr>
        <p:txBody>
          <a:bodyPr spcFirstLastPara="1" wrap="square" lIns="90000" tIns="0" rIns="90000" bIns="0" anchor="t" anchorCtr="0">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79" name="Google Shape;279;p3"/>
          <p:cNvSpPr/>
          <p:nvPr/>
        </p:nvSpPr>
        <p:spPr>
          <a:xfrm>
            <a:off x="3404160" y="1612080"/>
            <a:ext cx="1634700" cy="244200"/>
          </a:xfrm>
          <a:prstGeom prst="rect">
            <a:avLst/>
          </a:prstGeom>
          <a:noFill/>
          <a:ln>
            <a:noFill/>
          </a:ln>
        </p:spPr>
        <p:txBody>
          <a:bodyPr spcFirstLastPara="1" wrap="square" lIns="102225" tIns="61550" rIns="102225" bIns="61550" anchor="ctr" anchorCtr="0">
            <a:noAutofit/>
          </a:bodyPr>
          <a:lstStyle/>
          <a:p>
            <a:pPr marL="0" marR="0" lvl="0" indent="0" algn="l" rtl="0">
              <a:lnSpc>
                <a:spcPct val="100000"/>
              </a:lnSpc>
              <a:spcBef>
                <a:spcPts val="0"/>
              </a:spcBef>
              <a:spcAft>
                <a:spcPts val="0"/>
              </a:spcAft>
              <a:buNone/>
            </a:pPr>
            <a:r>
              <a:rPr lang="en-US" sz="800" b="1" strike="noStrike">
                <a:solidFill>
                  <a:srgbClr val="000000"/>
                </a:solidFill>
                <a:latin typeface="Arial"/>
                <a:ea typeface="Arial"/>
                <a:cs typeface="Arial"/>
                <a:sym typeface="Arial"/>
              </a:rPr>
              <a:t>INFORMATION</a:t>
            </a:r>
            <a:endParaRPr sz="800" b="0" strike="noStrike">
              <a:solidFill>
                <a:srgbClr val="000000"/>
              </a:solidFill>
              <a:latin typeface="Arial"/>
              <a:ea typeface="Arial"/>
              <a:cs typeface="Arial"/>
              <a:sym typeface="Arial"/>
            </a:endParaRPr>
          </a:p>
        </p:txBody>
      </p:sp>
      <p:sp>
        <p:nvSpPr>
          <p:cNvPr id="280" name="Google Shape;280;p3"/>
          <p:cNvSpPr/>
          <p:nvPr/>
        </p:nvSpPr>
        <p:spPr>
          <a:xfrm>
            <a:off x="5039280" y="1578600"/>
            <a:ext cx="1868400" cy="310200"/>
          </a:xfrm>
          <a:prstGeom prst="rect">
            <a:avLst/>
          </a:prstGeom>
          <a:solidFill>
            <a:srgbClr val="F9F9F9"/>
          </a:solidFill>
          <a:ln>
            <a:noFill/>
          </a:ln>
        </p:spPr>
        <p:txBody>
          <a:bodyPr spcFirstLastPara="1" wrap="square" lIns="90000" tIns="45000" rIns="90000" bIns="45000" anchor="t" anchorCtr="0">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81" name="Google Shape;281;p3"/>
          <p:cNvSpPr/>
          <p:nvPr/>
        </p:nvSpPr>
        <p:spPr>
          <a:xfrm>
            <a:off x="5039280" y="1875240"/>
            <a:ext cx="1868400" cy="14100"/>
          </a:xfrm>
          <a:prstGeom prst="rect">
            <a:avLst/>
          </a:prstGeom>
          <a:solidFill>
            <a:srgbClr val="003366"/>
          </a:solidFill>
          <a:ln>
            <a:noFill/>
          </a:ln>
        </p:spPr>
        <p:txBody>
          <a:bodyPr spcFirstLastPara="1" wrap="square" lIns="90000" tIns="0" rIns="90000" bIns="0" anchor="t" anchorCtr="0">
            <a:noAutofit/>
          </a:bodyPr>
          <a:lstStyle/>
          <a:p>
            <a:pPr marL="0" marR="0" lvl="0" indent="0" algn="l" rtl="0">
              <a:spcBef>
                <a:spcPts val="0"/>
              </a:spcBef>
              <a:spcAft>
                <a:spcPts val="0"/>
              </a:spcAft>
              <a:buNone/>
            </a:pPr>
            <a:endParaRPr sz="1800" b="0" strike="noStrike">
              <a:solidFill>
                <a:srgbClr val="FFFFFF"/>
              </a:solidFill>
              <a:latin typeface="Arial"/>
              <a:ea typeface="Arial"/>
              <a:cs typeface="Arial"/>
              <a:sym typeface="Arial"/>
            </a:endParaRPr>
          </a:p>
        </p:txBody>
      </p:sp>
      <p:sp>
        <p:nvSpPr>
          <p:cNvPr id="282" name="Google Shape;282;p3"/>
          <p:cNvSpPr/>
          <p:nvPr/>
        </p:nvSpPr>
        <p:spPr>
          <a:xfrm>
            <a:off x="5039280" y="1612080"/>
            <a:ext cx="1868400" cy="244200"/>
          </a:xfrm>
          <a:prstGeom prst="rect">
            <a:avLst/>
          </a:prstGeom>
          <a:noFill/>
          <a:ln>
            <a:noFill/>
          </a:ln>
        </p:spPr>
        <p:txBody>
          <a:bodyPr spcFirstLastPara="1" wrap="square" lIns="102225" tIns="61550" rIns="102225" bIns="61550" anchor="ctr" anchorCtr="0">
            <a:noAutofit/>
          </a:bodyPr>
          <a:lstStyle/>
          <a:p>
            <a:pPr marL="0" marR="0" lvl="0" indent="0" algn="l" rtl="0">
              <a:lnSpc>
                <a:spcPct val="100000"/>
              </a:lnSpc>
              <a:spcBef>
                <a:spcPts val="0"/>
              </a:spcBef>
              <a:spcAft>
                <a:spcPts val="0"/>
              </a:spcAft>
              <a:buNone/>
            </a:pPr>
            <a:r>
              <a:rPr lang="en-US" sz="800" b="1" strike="noStrike">
                <a:solidFill>
                  <a:srgbClr val="000000"/>
                </a:solidFill>
                <a:latin typeface="Arial"/>
                <a:ea typeface="Arial"/>
                <a:cs typeface="Arial"/>
                <a:sym typeface="Arial"/>
              </a:rPr>
              <a:t>PURPOSE</a:t>
            </a:r>
            <a:endParaRPr sz="800" b="0" strike="noStrike">
              <a:solidFill>
                <a:srgbClr val="000000"/>
              </a:solidFill>
              <a:latin typeface="Arial"/>
              <a:ea typeface="Arial"/>
              <a:cs typeface="Arial"/>
              <a:sym typeface="Arial"/>
            </a:endParaRPr>
          </a:p>
        </p:txBody>
      </p:sp>
      <p:sp>
        <p:nvSpPr>
          <p:cNvPr id="283" name="Google Shape;283;p3"/>
          <p:cNvSpPr/>
          <p:nvPr/>
        </p:nvSpPr>
        <p:spPr>
          <a:xfrm>
            <a:off x="2335566" y="1937880"/>
            <a:ext cx="441300" cy="13560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800" b="1" strike="noStrike">
                <a:solidFill>
                  <a:srgbClr val="000000"/>
                </a:solidFill>
                <a:latin typeface="Times New Roman"/>
                <a:ea typeface="Times New Roman"/>
                <a:cs typeface="Times New Roman"/>
                <a:sym typeface="Times New Roman"/>
              </a:rPr>
              <a:t>Resources</a:t>
            </a:r>
            <a:endParaRPr sz="800" b="0" strike="noStrike">
              <a:solidFill>
                <a:srgbClr val="000000"/>
              </a:solidFill>
              <a:latin typeface="Arial"/>
              <a:ea typeface="Arial"/>
              <a:cs typeface="Arial"/>
              <a:sym typeface="Arial"/>
            </a:endParaRPr>
          </a:p>
        </p:txBody>
      </p:sp>
      <p:sp>
        <p:nvSpPr>
          <p:cNvPr id="284" name="Google Shape;284;p3"/>
          <p:cNvSpPr/>
          <p:nvPr/>
        </p:nvSpPr>
        <p:spPr>
          <a:xfrm>
            <a:off x="3404160" y="1882800"/>
            <a:ext cx="1634700" cy="493800"/>
          </a:xfrm>
          <a:prstGeom prst="rect">
            <a:avLst/>
          </a:prstGeom>
          <a:noFill/>
          <a:ln>
            <a:noFill/>
          </a:ln>
        </p:spPr>
        <p:txBody>
          <a:bodyPr spcFirstLastPara="1" wrap="square" lIns="102225" tIns="102225" rIns="102225" bIns="102225" anchor="ctr" anchorCtr="0">
            <a:noAutofit/>
          </a:bodyPr>
          <a:lstStyle/>
          <a:p>
            <a:pPr marL="0" marR="0" lvl="0" indent="0" algn="l" rtl="0">
              <a:lnSpc>
                <a:spcPct val="112000"/>
              </a:lnSpc>
              <a:spcBef>
                <a:spcPts val="0"/>
              </a:spcBef>
              <a:spcAft>
                <a:spcPts val="0"/>
              </a:spcAft>
              <a:buNone/>
            </a:pPr>
            <a:r>
              <a:rPr lang="en-US" sz="850" b="0" strike="noStrike">
                <a:solidFill>
                  <a:srgbClr val="000000"/>
                </a:solidFill>
                <a:latin typeface="Times New Roman"/>
                <a:ea typeface="Times New Roman"/>
                <a:cs typeface="Times New Roman"/>
                <a:sym typeface="Times New Roman"/>
              </a:rPr>
              <a:t>ID, Type, Capabilities, Base Location</a:t>
            </a:r>
            <a:endParaRPr sz="850" b="0" strike="noStrike">
              <a:solidFill>
                <a:srgbClr val="000000"/>
              </a:solidFill>
              <a:latin typeface="Arial"/>
              <a:ea typeface="Arial"/>
              <a:cs typeface="Arial"/>
              <a:sym typeface="Arial"/>
            </a:endParaRPr>
          </a:p>
        </p:txBody>
      </p:sp>
      <p:sp>
        <p:nvSpPr>
          <p:cNvPr id="285" name="Google Shape;285;p3"/>
          <p:cNvSpPr/>
          <p:nvPr/>
        </p:nvSpPr>
        <p:spPr>
          <a:xfrm>
            <a:off x="5039280" y="1882800"/>
            <a:ext cx="1868400" cy="493800"/>
          </a:xfrm>
          <a:prstGeom prst="rect">
            <a:avLst/>
          </a:prstGeom>
          <a:noFill/>
          <a:ln>
            <a:noFill/>
          </a:ln>
        </p:spPr>
        <p:txBody>
          <a:bodyPr spcFirstLastPara="1" wrap="square" lIns="102225" tIns="102225" rIns="102225" bIns="102225" anchor="ctr" anchorCtr="0">
            <a:noAutofit/>
          </a:bodyPr>
          <a:lstStyle/>
          <a:p>
            <a:pPr marL="0" marR="0" lvl="0" indent="0" algn="l" rtl="0">
              <a:lnSpc>
                <a:spcPct val="112000"/>
              </a:lnSpc>
              <a:spcBef>
                <a:spcPts val="0"/>
              </a:spcBef>
              <a:spcAft>
                <a:spcPts val="0"/>
              </a:spcAft>
              <a:buNone/>
            </a:pPr>
            <a:r>
              <a:rPr lang="en-US" sz="850" b="0" strike="noStrike">
                <a:solidFill>
                  <a:srgbClr val="000000"/>
                </a:solidFill>
                <a:latin typeface="Times New Roman"/>
                <a:ea typeface="Times New Roman"/>
                <a:cs typeface="Times New Roman"/>
                <a:sym typeface="Times New Roman"/>
              </a:rPr>
              <a:t>Master data for asset management and capability mapping.</a:t>
            </a:r>
            <a:endParaRPr sz="850" b="0" strike="noStrike">
              <a:solidFill>
                <a:srgbClr val="000000"/>
              </a:solidFill>
              <a:latin typeface="Arial"/>
              <a:ea typeface="Arial"/>
              <a:cs typeface="Arial"/>
              <a:sym typeface="Arial"/>
            </a:endParaRPr>
          </a:p>
        </p:txBody>
      </p:sp>
      <p:sp>
        <p:nvSpPr>
          <p:cNvPr id="286" name="Google Shape;286;p3"/>
          <p:cNvSpPr/>
          <p:nvPr/>
        </p:nvSpPr>
        <p:spPr>
          <a:xfrm>
            <a:off x="2337480" y="2565720"/>
            <a:ext cx="272400" cy="13560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800" b="1" strike="noStrike">
                <a:solidFill>
                  <a:srgbClr val="000000"/>
                </a:solidFill>
                <a:latin typeface="Times New Roman"/>
                <a:ea typeface="Times New Roman"/>
                <a:cs typeface="Times New Roman"/>
                <a:sym typeface="Times New Roman"/>
              </a:rPr>
              <a:t>Status</a:t>
            </a:r>
            <a:endParaRPr sz="800" b="0" strike="noStrike">
              <a:solidFill>
                <a:srgbClr val="000000"/>
              </a:solidFill>
              <a:latin typeface="Arial"/>
              <a:ea typeface="Arial"/>
              <a:cs typeface="Arial"/>
              <a:sym typeface="Arial"/>
            </a:endParaRPr>
          </a:p>
        </p:txBody>
      </p:sp>
      <p:sp>
        <p:nvSpPr>
          <p:cNvPr id="287" name="Google Shape;287;p3"/>
          <p:cNvSpPr/>
          <p:nvPr/>
        </p:nvSpPr>
        <p:spPr>
          <a:xfrm>
            <a:off x="3404160" y="2384280"/>
            <a:ext cx="1634700" cy="493800"/>
          </a:xfrm>
          <a:prstGeom prst="rect">
            <a:avLst/>
          </a:prstGeom>
          <a:noFill/>
          <a:ln>
            <a:noFill/>
          </a:ln>
        </p:spPr>
        <p:txBody>
          <a:bodyPr spcFirstLastPara="1" wrap="square" lIns="102225" tIns="102225" rIns="102225" bIns="102225" anchor="ctr" anchorCtr="0">
            <a:noAutofit/>
          </a:bodyPr>
          <a:lstStyle/>
          <a:p>
            <a:pPr marL="0" marR="0" lvl="0" indent="0" algn="l" rtl="0">
              <a:lnSpc>
                <a:spcPct val="112000"/>
              </a:lnSpc>
              <a:spcBef>
                <a:spcPts val="0"/>
              </a:spcBef>
              <a:spcAft>
                <a:spcPts val="0"/>
              </a:spcAft>
              <a:buNone/>
            </a:pPr>
            <a:r>
              <a:rPr lang="en-US" sz="850" b="0" strike="noStrike">
                <a:solidFill>
                  <a:srgbClr val="000000"/>
                </a:solidFill>
                <a:latin typeface="Times New Roman"/>
                <a:ea typeface="Times New Roman"/>
                <a:cs typeface="Times New Roman"/>
                <a:sym typeface="Times New Roman"/>
              </a:rPr>
              <a:t>Lat/Long, Availability, Timestamp</a:t>
            </a:r>
            <a:endParaRPr sz="850" b="0" strike="noStrike">
              <a:solidFill>
                <a:srgbClr val="000000"/>
              </a:solidFill>
              <a:latin typeface="Arial"/>
              <a:ea typeface="Arial"/>
              <a:cs typeface="Arial"/>
              <a:sym typeface="Arial"/>
            </a:endParaRPr>
          </a:p>
        </p:txBody>
      </p:sp>
      <p:sp>
        <p:nvSpPr>
          <p:cNvPr id="288" name="Google Shape;288;p3"/>
          <p:cNvSpPr/>
          <p:nvPr/>
        </p:nvSpPr>
        <p:spPr>
          <a:xfrm>
            <a:off x="5124960" y="2481120"/>
            <a:ext cx="1587000" cy="29040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850" b="0" strike="noStrike">
                <a:solidFill>
                  <a:srgbClr val="000000"/>
                </a:solidFill>
                <a:latin typeface="Times New Roman"/>
                <a:ea typeface="Times New Roman"/>
                <a:cs typeface="Times New Roman"/>
                <a:sym typeface="Times New Roman"/>
              </a:rPr>
              <a:t>Live operational tracking and GPS telemetry for dispatch.</a:t>
            </a:r>
            <a:endParaRPr sz="850" b="0" strike="noStrike">
              <a:solidFill>
                <a:srgbClr val="000000"/>
              </a:solidFill>
              <a:latin typeface="Arial"/>
              <a:ea typeface="Arial"/>
              <a:cs typeface="Arial"/>
              <a:sym typeface="Arial"/>
            </a:endParaRPr>
          </a:p>
        </p:txBody>
      </p:sp>
      <p:sp>
        <p:nvSpPr>
          <p:cNvPr id="289" name="Google Shape;289;p3"/>
          <p:cNvSpPr/>
          <p:nvPr/>
        </p:nvSpPr>
        <p:spPr>
          <a:xfrm>
            <a:off x="6210000" y="2637360"/>
            <a:ext cx="54300" cy="10200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600" b="1" strike="noStrike" baseline="30000">
                <a:solidFill>
                  <a:srgbClr val="003366"/>
                </a:solidFill>
                <a:latin typeface="Arial"/>
                <a:ea typeface="Arial"/>
                <a:cs typeface="Arial"/>
                <a:sym typeface="Arial"/>
              </a:rPr>
              <a:t>[4]</a:t>
            </a:r>
            <a:endParaRPr sz="600" b="0" strike="noStrike">
              <a:solidFill>
                <a:srgbClr val="000000"/>
              </a:solidFill>
              <a:latin typeface="Arial"/>
              <a:ea typeface="Arial"/>
              <a:cs typeface="Arial"/>
              <a:sym typeface="Arial"/>
            </a:endParaRPr>
          </a:p>
        </p:txBody>
      </p:sp>
      <p:sp>
        <p:nvSpPr>
          <p:cNvPr id="290" name="Google Shape;290;p3"/>
          <p:cNvSpPr/>
          <p:nvPr/>
        </p:nvSpPr>
        <p:spPr>
          <a:xfrm>
            <a:off x="2344680" y="3073680"/>
            <a:ext cx="391200" cy="13560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800" b="1" strike="noStrike">
                <a:solidFill>
                  <a:srgbClr val="000000"/>
                </a:solidFill>
                <a:latin typeface="Times New Roman"/>
                <a:ea typeface="Times New Roman"/>
                <a:cs typeface="Times New Roman"/>
                <a:sym typeface="Times New Roman"/>
              </a:rPr>
              <a:t>Requests</a:t>
            </a:r>
            <a:endParaRPr sz="800" b="0" strike="noStrike">
              <a:solidFill>
                <a:srgbClr val="000000"/>
              </a:solidFill>
              <a:latin typeface="Arial"/>
              <a:ea typeface="Arial"/>
              <a:cs typeface="Arial"/>
              <a:sym typeface="Arial"/>
            </a:endParaRPr>
          </a:p>
        </p:txBody>
      </p:sp>
      <p:sp>
        <p:nvSpPr>
          <p:cNvPr id="291" name="Google Shape;291;p3"/>
          <p:cNvSpPr/>
          <p:nvPr/>
        </p:nvSpPr>
        <p:spPr>
          <a:xfrm>
            <a:off x="3404160" y="2892240"/>
            <a:ext cx="1634700" cy="493800"/>
          </a:xfrm>
          <a:prstGeom prst="rect">
            <a:avLst/>
          </a:prstGeom>
          <a:noFill/>
          <a:ln>
            <a:noFill/>
          </a:ln>
        </p:spPr>
        <p:txBody>
          <a:bodyPr spcFirstLastPara="1" wrap="square" lIns="102225" tIns="102225" rIns="102225" bIns="102225" anchor="ctr" anchorCtr="0">
            <a:noAutofit/>
          </a:bodyPr>
          <a:lstStyle/>
          <a:p>
            <a:pPr marL="0" marR="0" lvl="0" indent="0" algn="l" rtl="0">
              <a:lnSpc>
                <a:spcPct val="112000"/>
              </a:lnSpc>
              <a:spcBef>
                <a:spcPts val="0"/>
              </a:spcBef>
              <a:spcAft>
                <a:spcPts val="0"/>
              </a:spcAft>
              <a:buNone/>
            </a:pPr>
            <a:r>
              <a:rPr lang="en-US" sz="850" b="0" strike="noStrike">
                <a:solidFill>
                  <a:srgbClr val="000000"/>
                </a:solidFill>
                <a:latin typeface="Times New Roman"/>
                <a:ea typeface="Times New Roman"/>
                <a:cs typeface="Times New Roman"/>
                <a:sym typeface="Times New Roman"/>
              </a:rPr>
              <a:t>Requester, Type, Location, Lifecycle</a:t>
            </a:r>
            <a:endParaRPr sz="850" b="0" strike="noStrike">
              <a:solidFill>
                <a:srgbClr val="000000"/>
              </a:solidFill>
              <a:latin typeface="Arial"/>
              <a:ea typeface="Arial"/>
              <a:cs typeface="Arial"/>
              <a:sym typeface="Arial"/>
            </a:endParaRPr>
          </a:p>
        </p:txBody>
      </p:sp>
      <p:sp>
        <p:nvSpPr>
          <p:cNvPr id="292" name="Google Shape;292;p3"/>
          <p:cNvSpPr/>
          <p:nvPr/>
        </p:nvSpPr>
        <p:spPr>
          <a:xfrm>
            <a:off x="5124960" y="2989080"/>
            <a:ext cx="1565400" cy="29040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850" b="0" strike="noStrike">
                <a:solidFill>
                  <a:srgbClr val="000000"/>
                </a:solidFill>
                <a:latin typeface="Times New Roman"/>
                <a:ea typeface="Times New Roman"/>
                <a:cs typeface="Times New Roman"/>
                <a:sym typeface="Times New Roman"/>
              </a:rPr>
              <a:t>Record of emergency demand and event history for review.</a:t>
            </a:r>
            <a:endParaRPr sz="850" b="0" strike="noStrike">
              <a:solidFill>
                <a:srgbClr val="000000"/>
              </a:solidFill>
              <a:latin typeface="Arial"/>
              <a:ea typeface="Arial"/>
              <a:cs typeface="Arial"/>
              <a:sym typeface="Arial"/>
            </a:endParaRPr>
          </a:p>
        </p:txBody>
      </p:sp>
      <p:sp>
        <p:nvSpPr>
          <p:cNvPr id="293" name="Google Shape;293;p3"/>
          <p:cNvSpPr/>
          <p:nvPr/>
        </p:nvSpPr>
        <p:spPr>
          <a:xfrm>
            <a:off x="6294600" y="3145680"/>
            <a:ext cx="54300" cy="102000"/>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None/>
            </a:pPr>
            <a:r>
              <a:rPr lang="en-US" sz="600" b="1" strike="noStrike" baseline="30000">
                <a:solidFill>
                  <a:srgbClr val="003366"/>
                </a:solidFill>
                <a:latin typeface="Arial"/>
                <a:ea typeface="Arial"/>
                <a:cs typeface="Arial"/>
                <a:sym typeface="Arial"/>
              </a:rPr>
              <a:t>[2]</a:t>
            </a:r>
            <a:endParaRPr sz="600" b="0" strike="noStrike">
              <a:solidFill>
                <a:srgbClr val="000000"/>
              </a:solidFill>
              <a:latin typeface="Arial"/>
              <a:ea typeface="Arial"/>
              <a:cs typeface="Arial"/>
              <a:sym typeface="Arial"/>
            </a:endParaRPr>
          </a:p>
        </p:txBody>
      </p:sp>
      <p:sp>
        <p:nvSpPr>
          <p:cNvPr id="294" name="Google Shape;294;p3"/>
          <p:cNvSpPr/>
          <p:nvPr/>
        </p:nvSpPr>
        <p:spPr>
          <a:xfrm>
            <a:off x="2199020" y="3408480"/>
            <a:ext cx="4671600" cy="138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900" b="1" strike="noStrike">
                <a:solidFill>
                  <a:srgbClr val="003366"/>
                </a:solidFill>
                <a:latin typeface="Arial"/>
                <a:ea typeface="Arial"/>
                <a:cs typeface="Arial"/>
                <a:sym typeface="Arial"/>
              </a:rPr>
              <a:t>RELIABILITY AND GOVERNANCE</a:t>
            </a:r>
            <a:endParaRPr sz="900" b="0" strike="noStrike">
              <a:solidFill>
                <a:srgbClr val="000000"/>
              </a:solidFill>
              <a:latin typeface="Arial"/>
              <a:ea typeface="Arial"/>
              <a:cs typeface="Arial"/>
              <a:sym typeface="Arial"/>
            </a:endParaRPr>
          </a:p>
        </p:txBody>
      </p:sp>
      <p:sp>
        <p:nvSpPr>
          <p:cNvPr id="295" name="Google Shape;295;p3"/>
          <p:cNvSpPr/>
          <p:nvPr/>
        </p:nvSpPr>
        <p:spPr>
          <a:xfrm>
            <a:off x="3071528" y="3671459"/>
            <a:ext cx="800700" cy="141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sz="700" b="1" strike="noStrike">
                <a:solidFill>
                  <a:srgbClr val="003366"/>
                </a:solidFill>
                <a:latin typeface="Arial"/>
                <a:ea typeface="Arial"/>
                <a:cs typeface="Arial"/>
                <a:sym typeface="Arial"/>
              </a:rPr>
              <a:t>TIMELINESS</a:t>
            </a:r>
            <a:endParaRPr sz="700" b="0" strike="noStrike">
              <a:solidFill>
                <a:srgbClr val="000000"/>
              </a:solidFill>
              <a:latin typeface="Arial"/>
              <a:ea typeface="Arial"/>
              <a:cs typeface="Arial"/>
              <a:sym typeface="Arial"/>
            </a:endParaRPr>
          </a:p>
        </p:txBody>
      </p:sp>
      <p:sp>
        <p:nvSpPr>
          <p:cNvPr id="296" name="Google Shape;296;p3"/>
          <p:cNvSpPr/>
          <p:nvPr/>
        </p:nvSpPr>
        <p:spPr>
          <a:xfrm>
            <a:off x="2096192" y="3741840"/>
            <a:ext cx="2556600" cy="852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sz="850" b="0" strike="noStrike" dirty="0">
                <a:solidFill>
                  <a:srgbClr val="000000"/>
                </a:solidFill>
                <a:latin typeface="Times New Roman"/>
                <a:ea typeface="Times New Roman"/>
                <a:cs typeface="Times New Roman"/>
                <a:sym typeface="Times New Roman"/>
              </a:rPr>
              <a:t>Minimizing the gap between supply and demand</a:t>
            </a:r>
            <a:endParaRPr sz="850" b="0" strike="noStrike" dirty="0">
              <a:solidFill>
                <a:srgbClr val="000000"/>
              </a:solidFill>
              <a:latin typeface="Arial"/>
              <a:ea typeface="Arial"/>
              <a:cs typeface="Arial"/>
              <a:sym typeface="Arial"/>
            </a:endParaRPr>
          </a:p>
        </p:txBody>
      </p:sp>
      <p:sp>
        <p:nvSpPr>
          <p:cNvPr id="297" name="Google Shape;297;p3"/>
          <p:cNvSpPr/>
          <p:nvPr/>
        </p:nvSpPr>
        <p:spPr>
          <a:xfrm>
            <a:off x="2096192" y="3866355"/>
            <a:ext cx="2250900" cy="852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sz="850" b="0" strike="noStrike" dirty="0">
                <a:solidFill>
                  <a:srgbClr val="000000"/>
                </a:solidFill>
                <a:latin typeface="Times New Roman"/>
                <a:ea typeface="Times New Roman"/>
                <a:cs typeface="Times New Roman"/>
                <a:sym typeface="Times New Roman"/>
              </a:rPr>
              <a:t>through mathematical optimization and</a:t>
            </a:r>
            <a:endParaRPr sz="850" b="0" strike="noStrike" dirty="0">
              <a:solidFill>
                <a:srgbClr val="000000"/>
              </a:solidFill>
              <a:latin typeface="Arial"/>
              <a:ea typeface="Arial"/>
              <a:cs typeface="Arial"/>
              <a:sym typeface="Arial"/>
            </a:endParaRPr>
          </a:p>
        </p:txBody>
      </p:sp>
      <p:sp>
        <p:nvSpPr>
          <p:cNvPr id="298" name="Google Shape;298;p3"/>
          <p:cNvSpPr/>
          <p:nvPr/>
        </p:nvSpPr>
        <p:spPr>
          <a:xfrm>
            <a:off x="2094952" y="3968504"/>
            <a:ext cx="1907700" cy="1020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sz="850" b="0" strike="noStrike" dirty="0">
                <a:solidFill>
                  <a:srgbClr val="000000"/>
                </a:solidFill>
                <a:latin typeface="Times New Roman"/>
                <a:ea typeface="Times New Roman"/>
                <a:cs typeface="Times New Roman"/>
                <a:sym typeface="Times New Roman"/>
              </a:rPr>
              <a:t>proximity matching.</a:t>
            </a:r>
            <a:endParaRPr sz="850" b="0" strike="noStrike" dirty="0">
              <a:solidFill>
                <a:srgbClr val="000000"/>
              </a:solidFill>
              <a:latin typeface="Arial"/>
              <a:ea typeface="Arial"/>
              <a:cs typeface="Arial"/>
              <a:sym typeface="Arial"/>
            </a:endParaRPr>
          </a:p>
        </p:txBody>
      </p:sp>
      <p:sp>
        <p:nvSpPr>
          <p:cNvPr id="299" name="Google Shape;299;p3"/>
          <p:cNvSpPr/>
          <p:nvPr/>
        </p:nvSpPr>
        <p:spPr>
          <a:xfrm>
            <a:off x="5433355" y="3675250"/>
            <a:ext cx="800700" cy="1281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sz="700" b="1" strike="noStrike">
                <a:solidFill>
                  <a:srgbClr val="003366"/>
                </a:solidFill>
                <a:latin typeface="Arial"/>
                <a:ea typeface="Arial"/>
                <a:cs typeface="Arial"/>
                <a:sym typeface="Arial"/>
              </a:rPr>
              <a:t>RESILIENCE</a:t>
            </a:r>
            <a:endParaRPr sz="700" b="0" strike="noStrike">
              <a:solidFill>
                <a:srgbClr val="000000"/>
              </a:solidFill>
              <a:latin typeface="Arial"/>
              <a:ea typeface="Arial"/>
              <a:cs typeface="Arial"/>
              <a:sym typeface="Arial"/>
            </a:endParaRPr>
          </a:p>
        </p:txBody>
      </p:sp>
      <p:sp>
        <p:nvSpPr>
          <p:cNvPr id="300" name="Google Shape;300;p3"/>
          <p:cNvSpPr/>
          <p:nvPr/>
        </p:nvSpPr>
        <p:spPr>
          <a:xfrm>
            <a:off x="4679360" y="3784855"/>
            <a:ext cx="1872600" cy="1551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sz="850" b="0" strike="noStrike" dirty="0">
                <a:solidFill>
                  <a:srgbClr val="000000"/>
                </a:solidFill>
                <a:latin typeface="Times New Roman"/>
                <a:ea typeface="Times New Roman"/>
                <a:cs typeface="Times New Roman"/>
                <a:sym typeface="Times New Roman"/>
              </a:rPr>
              <a:t>Using scalable cloud frameworks to handle</a:t>
            </a:r>
            <a:endParaRPr sz="850" b="0" strike="noStrike" dirty="0">
              <a:solidFill>
                <a:srgbClr val="000000"/>
              </a:solidFill>
              <a:latin typeface="Arial"/>
              <a:ea typeface="Arial"/>
              <a:cs typeface="Arial"/>
              <a:sym typeface="Arial"/>
            </a:endParaRPr>
          </a:p>
        </p:txBody>
      </p:sp>
      <p:sp>
        <p:nvSpPr>
          <p:cNvPr id="301" name="Google Shape;301;p3"/>
          <p:cNvSpPr/>
          <p:nvPr/>
        </p:nvSpPr>
        <p:spPr>
          <a:xfrm>
            <a:off x="4679360" y="3907710"/>
            <a:ext cx="2001900" cy="1551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sz="850" b="0" strike="noStrike">
                <a:solidFill>
                  <a:srgbClr val="000000"/>
                </a:solidFill>
                <a:latin typeface="Times New Roman"/>
                <a:ea typeface="Times New Roman"/>
                <a:cs typeface="Times New Roman"/>
                <a:sym typeface="Times New Roman"/>
              </a:rPr>
              <a:t>sudden demand disruptions and mass-casualty</a:t>
            </a:r>
            <a:endParaRPr sz="850" b="0" strike="noStrike">
              <a:solidFill>
                <a:srgbClr val="000000"/>
              </a:solidFill>
              <a:latin typeface="Arial"/>
              <a:ea typeface="Arial"/>
              <a:cs typeface="Arial"/>
              <a:sym typeface="Arial"/>
            </a:endParaRPr>
          </a:p>
        </p:txBody>
      </p:sp>
      <p:sp>
        <p:nvSpPr>
          <p:cNvPr id="302" name="Google Shape;302;p3"/>
          <p:cNvSpPr/>
          <p:nvPr/>
        </p:nvSpPr>
        <p:spPr>
          <a:xfrm>
            <a:off x="4671440" y="3992800"/>
            <a:ext cx="298500" cy="1551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sz="850" b="0" strike="noStrike">
                <a:solidFill>
                  <a:srgbClr val="000000"/>
                </a:solidFill>
                <a:latin typeface="Times New Roman"/>
                <a:ea typeface="Times New Roman"/>
                <a:cs typeface="Times New Roman"/>
                <a:sym typeface="Times New Roman"/>
              </a:rPr>
              <a:t>spikes.</a:t>
            </a:r>
            <a:endParaRPr sz="850" b="0" strike="noStrike">
              <a:solidFill>
                <a:srgbClr val="000000"/>
              </a:solidFill>
              <a:latin typeface="Arial"/>
              <a:ea typeface="Arial"/>
              <a:cs typeface="Arial"/>
              <a:sym typeface="Arial"/>
            </a:endParaRPr>
          </a:p>
        </p:txBody>
      </p:sp>
      <p:sp>
        <p:nvSpPr>
          <p:cNvPr id="303" name="Google Shape;303;p3"/>
          <p:cNvSpPr/>
          <p:nvPr/>
        </p:nvSpPr>
        <p:spPr>
          <a:xfrm>
            <a:off x="2970000" y="4234500"/>
            <a:ext cx="883500" cy="1281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sz="700" b="1" strike="noStrike">
                <a:solidFill>
                  <a:srgbClr val="003366"/>
                </a:solidFill>
                <a:latin typeface="Arial"/>
                <a:ea typeface="Arial"/>
                <a:cs typeface="Arial"/>
                <a:sym typeface="Arial"/>
              </a:rPr>
              <a:t>ACCURACY</a:t>
            </a:r>
            <a:endParaRPr sz="700" b="0" strike="noStrike">
              <a:solidFill>
                <a:srgbClr val="000000"/>
              </a:solidFill>
              <a:latin typeface="Arial"/>
              <a:ea typeface="Arial"/>
              <a:cs typeface="Arial"/>
              <a:sym typeface="Arial"/>
            </a:endParaRPr>
          </a:p>
        </p:txBody>
      </p:sp>
      <p:sp>
        <p:nvSpPr>
          <p:cNvPr id="304" name="Google Shape;304;p3"/>
          <p:cNvSpPr/>
          <p:nvPr/>
        </p:nvSpPr>
        <p:spPr>
          <a:xfrm>
            <a:off x="2094952" y="4335364"/>
            <a:ext cx="1991400" cy="1551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sz="850" b="0" strike="noStrike" dirty="0">
                <a:solidFill>
                  <a:srgbClr val="000000"/>
                </a:solidFill>
                <a:latin typeface="Times New Roman"/>
                <a:ea typeface="Times New Roman"/>
                <a:cs typeface="Times New Roman"/>
                <a:sym typeface="Times New Roman"/>
              </a:rPr>
              <a:t>Ensuring timely, accurate information reaches</a:t>
            </a:r>
            <a:endParaRPr sz="850" b="0" strike="noStrike" dirty="0">
              <a:solidFill>
                <a:srgbClr val="000000"/>
              </a:solidFill>
              <a:latin typeface="Arial"/>
              <a:ea typeface="Arial"/>
              <a:cs typeface="Arial"/>
              <a:sym typeface="Arial"/>
            </a:endParaRPr>
          </a:p>
        </p:txBody>
      </p:sp>
      <p:sp>
        <p:nvSpPr>
          <p:cNvPr id="305" name="Google Shape;305;p3"/>
          <p:cNvSpPr/>
          <p:nvPr/>
        </p:nvSpPr>
        <p:spPr>
          <a:xfrm>
            <a:off x="2088990" y="4441679"/>
            <a:ext cx="1709700" cy="183301"/>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sz="850" b="0" strike="noStrike" dirty="0">
                <a:solidFill>
                  <a:srgbClr val="000000"/>
                </a:solidFill>
                <a:latin typeface="Times New Roman"/>
                <a:ea typeface="Times New Roman"/>
                <a:cs typeface="Times New Roman"/>
                <a:sym typeface="Times New Roman"/>
              </a:rPr>
              <a:t>first responders and receiving facilities.</a:t>
            </a:r>
            <a:endParaRPr sz="850" b="0" strike="noStrike" dirty="0">
              <a:solidFill>
                <a:srgbClr val="000000"/>
              </a:solidFill>
              <a:latin typeface="Arial"/>
              <a:ea typeface="Arial"/>
              <a:cs typeface="Arial"/>
              <a:sym typeface="Arial"/>
            </a:endParaRPr>
          </a:p>
        </p:txBody>
      </p:sp>
      <p:sp>
        <p:nvSpPr>
          <p:cNvPr id="306" name="Google Shape;306;p3"/>
          <p:cNvSpPr/>
          <p:nvPr/>
        </p:nvSpPr>
        <p:spPr>
          <a:xfrm>
            <a:off x="5220727" y="4234500"/>
            <a:ext cx="955200" cy="1281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sz="700" b="1" strike="noStrike">
                <a:solidFill>
                  <a:srgbClr val="003366"/>
                </a:solidFill>
                <a:latin typeface="Arial"/>
                <a:ea typeface="Arial"/>
                <a:cs typeface="Arial"/>
                <a:sym typeface="Arial"/>
              </a:rPr>
              <a:t>COORDINATION</a:t>
            </a:r>
            <a:endParaRPr sz="700" b="0" strike="noStrike">
              <a:solidFill>
                <a:srgbClr val="000000"/>
              </a:solidFill>
              <a:latin typeface="Arial"/>
              <a:ea typeface="Arial"/>
              <a:cs typeface="Arial"/>
              <a:sym typeface="Arial"/>
            </a:endParaRPr>
          </a:p>
        </p:txBody>
      </p:sp>
      <p:sp>
        <p:nvSpPr>
          <p:cNvPr id="307" name="Google Shape;307;p3"/>
          <p:cNvSpPr/>
          <p:nvPr/>
        </p:nvSpPr>
        <p:spPr>
          <a:xfrm>
            <a:off x="4688280" y="4378230"/>
            <a:ext cx="2035800" cy="1551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sz="850" b="0" strike="noStrike">
                <a:solidFill>
                  <a:srgbClr val="000000"/>
                </a:solidFill>
                <a:latin typeface="Times New Roman"/>
                <a:ea typeface="Times New Roman"/>
                <a:cs typeface="Times New Roman"/>
                <a:sym typeface="Times New Roman"/>
              </a:rPr>
              <a:t>Aligning key roles and responsibilities through</a:t>
            </a:r>
            <a:endParaRPr sz="850" b="0" strike="noStrike">
              <a:solidFill>
                <a:srgbClr val="000000"/>
              </a:solidFill>
              <a:latin typeface="Arial"/>
              <a:ea typeface="Arial"/>
              <a:cs typeface="Arial"/>
              <a:sym typeface="Arial"/>
            </a:endParaRPr>
          </a:p>
        </p:txBody>
      </p:sp>
      <p:sp>
        <p:nvSpPr>
          <p:cNvPr id="308" name="Google Shape;308;p3"/>
          <p:cNvSpPr/>
          <p:nvPr/>
        </p:nvSpPr>
        <p:spPr>
          <a:xfrm>
            <a:off x="4679360" y="4525350"/>
            <a:ext cx="1907700" cy="155100"/>
          </a:xfrm>
          <a:prstGeom prst="rect">
            <a:avLst/>
          </a:prstGeom>
          <a:noFill/>
          <a:ln>
            <a:no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sz="850" b="0" strike="noStrike">
                <a:solidFill>
                  <a:srgbClr val="000000"/>
                </a:solidFill>
                <a:latin typeface="Times New Roman"/>
                <a:ea typeface="Times New Roman"/>
                <a:cs typeface="Times New Roman"/>
                <a:sym typeface="Times New Roman"/>
              </a:rPr>
              <a:t>flexible, standardized response frameworks.</a:t>
            </a:r>
            <a:endParaRPr sz="850" b="0" strike="noStrike">
              <a:solidFill>
                <a:srgbClr val="000000"/>
              </a:solidFill>
              <a:latin typeface="Arial"/>
              <a:ea typeface="Arial"/>
              <a:cs typeface="Arial"/>
              <a:sym typeface="Arial"/>
            </a:endParaRPr>
          </a:p>
        </p:txBody>
      </p:sp>
      <p:sp>
        <p:nvSpPr>
          <p:cNvPr id="309" name="Google Shape;309;p3"/>
          <p:cNvSpPr/>
          <p:nvPr/>
        </p:nvSpPr>
        <p:spPr>
          <a:xfrm>
            <a:off x="2235960" y="7508160"/>
            <a:ext cx="4671600" cy="183300"/>
          </a:xfrm>
          <a:prstGeom prst="rect">
            <a:avLst/>
          </a:prstGeom>
          <a:noFill/>
          <a:ln>
            <a:noFill/>
          </a:ln>
        </p:spPr>
        <p:txBody>
          <a:bodyPr spcFirstLastPara="1" wrap="square" lIns="0" tIns="97200" rIns="0" bIns="0" anchor="t" anchorCtr="0">
            <a:noAutofit/>
          </a:bodyPr>
          <a:lstStyle/>
          <a:p>
            <a:pPr marL="0" marR="0" lvl="0" indent="0" algn="r" rtl="0">
              <a:lnSpc>
                <a:spcPct val="100000"/>
              </a:lnSpc>
              <a:spcBef>
                <a:spcPts val="0"/>
              </a:spcBef>
              <a:spcAft>
                <a:spcPts val="0"/>
              </a:spcAft>
              <a:buNone/>
            </a:pPr>
            <a:r>
              <a:rPr lang="en-US" sz="600" b="0" strike="noStrike">
                <a:solidFill>
                  <a:srgbClr val="666666"/>
                </a:solidFill>
                <a:latin typeface="Arial"/>
                <a:ea typeface="Arial"/>
                <a:cs typeface="Arial"/>
                <a:sym typeface="Arial"/>
              </a:rPr>
              <a:t>Emergency Resource Allocation System | 8</a:t>
            </a:r>
            <a:endParaRPr sz="600" b="0"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355</Words>
  <Application>Microsoft Office PowerPoint</Application>
  <PresentationFormat>On-screen Show (16:9)</PresentationFormat>
  <Paragraphs>48</Paragraphs>
  <Slides>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Arial</vt:lpstr>
      <vt:lpstr>Calibri</vt:lpstr>
      <vt:lpstr>Symbol</vt:lpstr>
      <vt:lpstr>Times New Roman</vt:lpstr>
      <vt:lpstr>Wingdings</vt:lpstr>
      <vt:lpstr>Office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Sanjay Ravi</cp:lastModifiedBy>
  <cp:revision>1</cp:revision>
  <dcterms:modified xsi:type="dcterms:W3CDTF">2026-09-10T09:56:26Z</dcterms:modified>
</cp:coreProperties>
</file>